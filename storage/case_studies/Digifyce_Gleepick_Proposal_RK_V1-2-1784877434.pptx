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7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4.5999999999999996</c:v>
                </c:pt>
                <c:pt idx="1">
                  <c:v>6.1</c:v>
                </c:pt>
                <c:pt idx="2">
                  <c:v>8.1999999999999993</c:v>
                </c:pt>
                <c:pt idx="3">
                  <c:v>11.5</c:v>
                </c:pt>
                <c:pt idx="4">
                  <c:v>15.2</c:v>
                </c:pt>
                <c:pt idx="5">
                  <c:v>19.5</c:v>
                </c:pt>
                <c:pt idx="6">
                  <c:v>24</c:v>
                </c:pt>
                <c:pt idx="7">
                  <c:v>28.5</c:v>
                </c:pt>
                <c:pt idx="8">
                  <c:v>33</c:v>
                </c:pt>
                <c:pt idx="9">
                  <c:v>37.5</c:v>
                </c:pt>
                <c:pt idx="10">
                  <c:v>41.5</c:v>
                </c:pt>
                <c:pt idx="1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8-D147-A027-EE239EE434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Costs (₹L)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10.5</c:v>
                </c:pt>
                <c:pt idx="1">
                  <c:v>11.3</c:v>
                </c:pt>
                <c:pt idx="2">
                  <c:v>12.2</c:v>
                </c:pt>
                <c:pt idx="3">
                  <c:v>14</c:v>
                </c:pt>
                <c:pt idx="4">
                  <c:v>14.5</c:v>
                </c:pt>
                <c:pt idx="5">
                  <c:v>14.5</c:v>
                </c:pt>
                <c:pt idx="6">
                  <c:v>16</c:v>
                </c:pt>
                <c:pt idx="7">
                  <c:v>17</c:v>
                </c:pt>
                <c:pt idx="8">
                  <c:v>18</c:v>
                </c:pt>
                <c:pt idx="9">
                  <c:v>19</c:v>
                </c:pt>
                <c:pt idx="10">
                  <c:v>20</c:v>
                </c:pt>
                <c:pt idx="1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F8-D147-A027-EE239EE43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 Installs (Users)</c:v>
                </c:pt>
              </c:strCache>
            </c:strRef>
          </c:tx>
          <c:spPr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2500</c:v>
                </c:pt>
                <c:pt idx="2">
                  <c:v>5000</c:v>
                </c:pt>
                <c:pt idx="3">
                  <c:v>9000</c:v>
                </c:pt>
                <c:pt idx="4">
                  <c:v>15000</c:v>
                </c:pt>
                <c:pt idx="5">
                  <c:v>25000</c:v>
                </c:pt>
                <c:pt idx="6">
                  <c:v>36000</c:v>
                </c:pt>
                <c:pt idx="7">
                  <c:v>48000</c:v>
                </c:pt>
                <c:pt idx="8">
                  <c:v>62000</c:v>
                </c:pt>
                <c:pt idx="9">
                  <c:v>76000</c:v>
                </c:pt>
                <c:pt idx="10">
                  <c:v>88000</c:v>
                </c:pt>
                <c:pt idx="11">
                  <c:v>100000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877-3841-81A0-4CA80CBF9D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Vendors (Cumulative)</c:v>
                </c:pt>
              </c:strCache>
            </c:strRef>
          </c:tx>
          <c:spPr>
            <a:ln w="31750" cap="flat">
              <a:solidFill>
                <a:srgbClr val="F4C4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C430"/>
              </a:solidFill>
              <a:ln w="9525" cap="flat">
                <a:solidFill>
                  <a:srgbClr val="F4C43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130</c:v>
                </c:pt>
                <c:pt idx="2">
                  <c:v>170</c:v>
                </c:pt>
                <c:pt idx="3">
                  <c:v>220</c:v>
                </c:pt>
                <c:pt idx="4">
                  <c:v>280</c:v>
                </c:pt>
                <c:pt idx="5">
                  <c:v>350</c:v>
                </c:pt>
                <c:pt idx="6">
                  <c:v>430</c:v>
                </c:pt>
                <c:pt idx="7">
                  <c:v>520</c:v>
                </c:pt>
                <c:pt idx="8">
                  <c:v>620</c:v>
                </c:pt>
                <c:pt idx="9">
                  <c:v>730</c:v>
                </c:pt>
                <c:pt idx="10">
                  <c:v>820</c:v>
                </c:pt>
                <c:pt idx="11">
                  <c:v>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877-3841-81A0-4CA80CBF9D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10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9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2347"/>
          </a:solidFill>
          <a:ln w="12700">
            <a:solidFill>
              <a:srgbClr val="0D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0116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06040" y="3200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×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Growth Partnership Proposal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7145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One-Year Revenue &amp; Profitability Roadmap</a:t>
            </a:r>
            <a:endParaRPr lang="en-US" sz="2000" dirty="0">
              <a:latin typeface="Franklin Gothic Medium" panose="020B06030201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For India's First Subscription-First Marketplace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3200400" cy="0"/>
          </a:xfrm>
          <a:prstGeom prst="line">
            <a:avLst/>
          </a:prstGeom>
          <a:noFill/>
          <a:ln w="19050">
            <a:solidFill>
              <a:srgbClr val="F4C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971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Prepared by: </a:t>
            </a: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Digifyce Global Pvt. Ltd.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32918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Presented to: </a:t>
            </a: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Board of Directors, Gleepick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June 2026  |  Confidential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7512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26%</a:t>
            </a:r>
            <a:endParaRPr lang="en-US" sz="26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CAGR</a:t>
            </a: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7512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India E-Commerce</a:t>
            </a:r>
            <a:endParaRPr lang="en-US" sz="9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Growth Rate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675120" y="2423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$325 Billion</a:t>
            </a:r>
            <a:endParaRPr lang="en-US" sz="22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By 2030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7512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India Market</a:t>
            </a:r>
            <a:endParaRPr lang="en-US" sz="9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Opportunity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7512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Zero</a:t>
            </a:r>
            <a:endParaRPr lang="en-US" sz="14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Commission</a:t>
            </a:r>
            <a:endParaRPr lang="en-US" sz="14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Model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9536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Franklin Gothic Medium" panose="020B0603020102020204" pitchFamily="34" charset="0"/>
              </a:rPr>
              <a:t>1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F015A0-B7E8-DF46-88B9-695A460AF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1" y="414594"/>
            <a:ext cx="2011679" cy="679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6C48FEA-FE8B-7C4C-A487-30658C030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37" y="563010"/>
            <a:ext cx="1570809" cy="49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PRICING STRATEGY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Recommended Subscription Pricing Model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795282"/>
              </p:ext>
            </p:extLst>
          </p:nvPr>
        </p:nvGraphicFramePr>
        <p:xfrm>
          <a:off x="365760" y="1097280"/>
          <a:ext cx="841248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TIER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SKU LIMIT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ORDERS / DAY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MONTHLY PRICE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vs. AMAZON FEES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Free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5 SKUs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5 / day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Franklin Gothic Medium" panose="020B0603020102020204" pitchFamily="34" charset="0"/>
                        </a:rPr>
                        <a:t>₹0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Trial — 0% fee vs. 15-40% elsewhere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Starter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Up to 50 SKUs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Up to 30 / day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₹2,999 / mo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Recovered in ~2 Amazon orders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Growth ★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Up to 200 SKUs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Up to 100 / day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₹6,999 / mo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1 day's Amazon fees for active seller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Pro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Up to 1,000 SKUs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Unlimited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₹14,999 / mo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Break-even at 30 orders vs. Amazon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Enterprise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Unlimited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Unlimited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₹24,999+ / mo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Custom SLA &amp; dedicated support</a:t>
                      </a:r>
                      <a:endParaRPr lang="en-US" sz="11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93008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6350">
            <a:solidFill>
              <a:srgbClr val="D0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💡 Why Subscription Wins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5488" y="38770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Amazon/Flipkart charge 15–40% commission per sale. A vendor doing 50 orders/day at ₹500 AOV pays ₹3,750–15,000 daily in commission. Gleepick's ₹6,999/month pays itself back in less than 2 days of saved fees.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3493008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6350">
            <a:solidFill>
              <a:srgbClr val="D0E3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🔒 Free Tier as Funnel, Not Forever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10128" y="38770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5 SKUs / 5 orders per day creates just enough pain to force upgrade. At 10 SKUs / 10 orders (original plan), vendors can run a real business free forever. Tighter limits = 2× faster paid conversion.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35040" y="3493008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6350">
            <a:solidFill>
              <a:srgbClr val="D0E3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📈 Growth Tier is the Engine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44768" y="38770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At 60% of vendors on Growth/Pro, Gleepick reaches break-even MRR of ₹13–15L by Month 5. The ★ Growth tier at ₹6,999 is the sweet spot — affordable for SMEs, profitable for Gleepick.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25543" y="4950822"/>
            <a:ext cx="627017" cy="1926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3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B060C02A-DB81-844D-AD5E-271B40C9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FINANCIAL PROJECTIONS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12-Month Revenue &amp; Profitability Trajectory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65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6596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₹19.5L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566916"/>
            <a:ext cx="1965960" cy="294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MRR Month 6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1965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196596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  <a:latin typeface="Franklin Gothic Medium" panose="020B0603020102020204" pitchFamily="34" charset="0"/>
              </a:rPr>
              <a:t>₹46L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68880" y="1566916"/>
            <a:ext cx="1965960" cy="294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MRR Month 12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078992"/>
            <a:ext cx="1965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88720"/>
            <a:ext cx="196596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Month 5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1566916"/>
            <a:ext cx="1965960" cy="294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Break-Even Point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75120" y="1078992"/>
            <a:ext cx="19659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188720"/>
            <a:ext cx="1965960" cy="4626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₹2.1Cr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1566916"/>
            <a:ext cx="1965960" cy="294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ARR by Year End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644519041"/>
              </p:ext>
            </p:extLst>
          </p:nvPr>
        </p:nvGraphicFramePr>
        <p:xfrm>
          <a:off x="365760" y="201168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2788920" y="2057400"/>
            <a:ext cx="0" cy="2468880"/>
          </a:xfrm>
          <a:prstGeom prst="line">
            <a:avLst/>
          </a:prstGeom>
          <a:noFill/>
          <a:ln w="19050">
            <a:solidFill>
              <a:srgbClr val="F4C43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254889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Break-Even</a:t>
            </a:r>
            <a:endParaRPr lang="en-US" sz="85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↑ Month 5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85216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Key Milestones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806440" y="242316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4F7FB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4414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M1–M2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510528" y="244144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100 vendors, 2,500 users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952014" y="2441448"/>
            <a:ext cx="753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₹4.6–6.1L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806440" y="283464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33872" y="285292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M3–M4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510528" y="285292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170–220 vendors, 9K users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52014" y="2852928"/>
            <a:ext cx="753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₹8.2–11.5L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806440" y="324612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4F7FB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326440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M5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10528" y="326440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250 vendors — BREAK EVEN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046720" y="32644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₹15.2L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806440" y="365760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EAF9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36758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M6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510528" y="367588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350 vendors, 25K users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046720" y="367588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7D32"/>
                </a:solidFill>
                <a:latin typeface="Franklin Gothic Medium" panose="020B0603020102020204" pitchFamily="34" charset="0"/>
              </a:rPr>
              <a:t>₹19.5L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806440" y="406908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4F7FB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33872" y="408736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M9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10528" y="408736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600 vendors, 60K users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046720" y="40873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₹33L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806440" y="448056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33872" y="44988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M12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510528" y="449884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900 vendors, 1L+ users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046720" y="449884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₹46L MRR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*Assumes revised pricing model + 3% monthly vendor growth rate + ₹2–3.5L/mo marketing investment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4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28F70DC3-B687-924E-8A31-42B5B0F1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GROWTH TARGETS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App Installs, Vendor Onboarding &amp; Marketing Investment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95316190"/>
              </p:ext>
            </p:extLst>
          </p:nvPr>
        </p:nvGraphicFramePr>
        <p:xfrm>
          <a:off x="274320" y="10515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5156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87568" y="1088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Cost Per App Install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35240" y="107899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₹40–80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87568" y="138074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Meta + Google App Campaigns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577840" y="1719072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87568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Cost Per Vendor Acquired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35240" y="174650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₹3,000–5,000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87568" y="204825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Sales + Digital + Events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577840" y="2386584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87568" y="2423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Monthly Marketing Budget (M1–3)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35240" y="2414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C0"/>
                </a:solidFill>
                <a:latin typeface="Franklin Gothic Medium" panose="020B0603020102020204" pitchFamily="34" charset="0"/>
              </a:rPr>
              <a:t>₹2–2.5L/mo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87568" y="27157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User acquisition focus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77840" y="3054096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87568" y="3090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Monthly Marketing Budget (M4–6)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35240" y="308152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6BC0"/>
                </a:solidFill>
                <a:latin typeface="Franklin Gothic Medium" panose="020B0603020102020204" pitchFamily="34" charset="0"/>
              </a:rPr>
              <a:t>₹2.5–3.5L/mo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687568" y="33832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Scale + vendor push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77840" y="3721608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87568" y="375818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Monthly Marketing Budget (M7–12)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635240" y="37490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Franklin Gothic Medium" panose="020B0603020102020204" pitchFamily="34" charset="0"/>
              </a:rPr>
              <a:t>₹3.5–5L/mo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687568" y="405079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National expansion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577840" y="438912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687568" y="44256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Total 12-Month Marketing Spend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635240" y="44165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3935"/>
                </a:solidFill>
                <a:latin typeface="Franklin Gothic Medium" panose="020B0603020102020204" pitchFamily="34" charset="0"/>
              </a:rPr>
              <a:t>₹35–40L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687568" y="47183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To reach 1L users + 900 vendors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74320" y="377647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9F2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822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07A6E"/>
                </a:solidFill>
                <a:latin typeface="Franklin Gothic Medium" panose="020B0603020102020204" pitchFamily="34" charset="0"/>
              </a:rPr>
              <a:t>Benchmark: Red Taxi achieved app installs at ₹3.74/install in Coimbatore.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07A6E"/>
                </a:solidFill>
                <a:latin typeface="Franklin Gothic Medium" panose="020B0603020102020204" pitchFamily="34" charset="0"/>
              </a:rPr>
              <a:t>Digifyce targets ₹40–70 CPI for Gleepick with hyper-local targeting in Tamil Nadu &amp; Karnataka first.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74320" y="4432554"/>
            <a:ext cx="4199709" cy="41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Note: </a:t>
            </a:r>
          </a:p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Vendor numbers are cumulative active paid subscribers. </a:t>
            </a:r>
          </a:p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User numbers are cumulative app installs. Monthly active user rate maintained at 55–65%.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522208" y="4965519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5 / 13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B135E7CA-553D-2C49-9ECF-1494D70C5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COST ARCHITECTURE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Fixed Costs, Marketing &amp; AI-First Investment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834640" cy="3767328"/>
          </a:xfrm>
          <a:prstGeom prst="roundRect">
            <a:avLst>
              <a:gd name="adj" fmla="val 3871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⚙️  Fixed Operating Costs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Team (10 people)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75688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₹6,55,000/mo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AWS / GCP Infrastructure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75688" y="1975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₹60,000/mo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CDN + Storage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75688" y="22860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Payment Gateway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75688" y="259689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₹12,000/mo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SaaS Tools (CRM, Analytics)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75688" y="29077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Legal + Compliance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75688" y="32186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Office / Co-working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75688" y="352958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₹30,000/mo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Giveaway Pool (Vendor-funded)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75688" y="38404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1513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TOTAL FIXED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75688" y="41513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₹8,50,000/mo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64408" y="1115568"/>
            <a:ext cx="2834640" cy="3767328"/>
          </a:xfrm>
          <a:prstGeom prst="roundRect">
            <a:avLst>
              <a:gd name="adj" fmla="val 3871"/>
            </a:avLst>
          </a:prstGeom>
          <a:solidFill>
            <a:srgbClr val="003D4C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207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📣  Marketing Investment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01568" y="1664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Performance Ads (Meta/Google)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0056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₹1,00,000/mo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01568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Influencer Campaigns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0056" y="1975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₹50,000/mo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01568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Content Production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0056" y="22860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₹30,000/mo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01568" y="2596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WhatsApp / Email Automation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0056" y="259689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01568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Events &amp; Webinars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0056" y="29077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01568" y="3218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Agency Retainer (Digifyce)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0056" y="32186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₹1.75–3.5L/mo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401568" y="35295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TOTAL MARKETING (M1-3)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0056" y="352958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₹2,00,000/mo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401568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TOTAL MARKETING (M7-12)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20056" y="38404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₹5,00,000/mo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401568" y="41513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12-MONTH TOTAL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20056" y="41513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₹35–40L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08776" y="1115568"/>
            <a:ext cx="2834640" cy="3767328"/>
          </a:xfrm>
          <a:prstGeom prst="roundRect">
            <a:avLst>
              <a:gd name="adj" fmla="val 3871"/>
            </a:avLst>
          </a:prstGeom>
          <a:solidFill>
            <a:srgbClr val="003328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1207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🧠  AI-First Edge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45936" y="1664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AI Personalisation Engine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964424" y="1664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45936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Smart Upsell Algorithm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964424" y="1975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₹15,000/mo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345936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Fraud Detection (orders)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964424" y="22860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₹8,000/mo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345936" y="2596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Chatbot / WhatsApp Bot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964424" y="259689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₹12,000/mo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45936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Predictive Analytics Dashboard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964424" y="29077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₹18,000/mo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45936" y="3218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A/B Testing Framework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964424" y="32186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₹10,000/mo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345936" y="35295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AI TOTAL MONTHLY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64424" y="352958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₹83,000/mo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345936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ROI: Avg AOV uplift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964424" y="38404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+22–35%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345936" y="41513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Cost as % of Revenue (M12)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64424" y="41513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~2%</a:t>
            </a:r>
            <a:endParaRPr lang="en-US" sz="700" dirty="0">
              <a:latin typeface="Franklin Gothic Medium" panose="020B06030201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20040" y="4636008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00A896">
              <a:alpha val="20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663440"/>
            <a:ext cx="7666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Amazon spent $1.3B on ML/AI in 2023 alone. Gleepick doesn't need that — it needs AI that matters: personalisation, upsell triggers, and churn prediction. At ₹83K/month, this is the highest ROI cost line in the entire P&amp;L.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080"/>
                </a:solidFill>
                <a:latin typeface="Franklin Gothic Medium" panose="020B0603020102020204" pitchFamily="34" charset="0"/>
              </a:rPr>
              <a:t>6 / 13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B645FCF3-C35F-1547-8901-1E5CDF94F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SUMMARY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7 Things The Board Must Know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01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Subscription Model is Correct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Commission models kill vendor margin. Gleepick's flat-fee subscription model is the single biggest differentiator in the Indian marketplace landscape today.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402336" cy="40233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34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0" y="1152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You Need ₹35–45L in Runway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0" y="1444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At current pricing, you burn ₹5.93L/month at launch. With revised pricing that drops to ₹3.7L/month. Secure this capital before going live.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03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2157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Break-Even Is Month 5, Not Year 2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245059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With 280 vendors at 60% on paid tiers, MRR crosses ₹15L and covers all fixed + marketing costs. This is achievable, not optimistic.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08483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240280"/>
            <a:ext cx="402336" cy="40233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04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21579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Revised Pricing Saves ₹7L in Capital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03520" y="245059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Moving from ₹4,499 to ₹6,999 on Growth and ₹9,999 to ₹14,999 on Pro immediately adds ₹3.2L/month in MRR from the same vendor base.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46120"/>
            <a:ext cx="402336" cy="402336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05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31638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AI Is Not Optional — It's the Moat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345643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Personalised rankings, smart upsells, and WhatsApp-first vendor support at ₹83K/month will deliver 22–35% higher AOV and cut churn by 30%.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309067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246120"/>
            <a:ext cx="402336" cy="402336"/>
          </a:xfrm>
          <a:prstGeom prst="ellipse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246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06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1638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Giveaway Model Must Be Vendor-Funded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03520" y="345643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Build mandatory giveaway contribution (₹500–2,000/month) into paid tiers. Gleepick curates; vendors fund. This makes retention a zero-cost growth engine.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23160" y="4096512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A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4251960"/>
            <a:ext cx="402336" cy="40233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4251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07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017520" y="4169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First 30 Vendors = Launch Success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017520" y="44622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Do NOT launch publicly until 30 pre-committed paying vendors are signed. City-first (Coimbatore, Tirupur, Surat) with real order flow before national expansion.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7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492B90A4-4D72-B24E-B9CB-640C343F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PLAN OF ACTION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Digifyce Marketing POA for Gleepick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057400" cy="3822192"/>
          </a:xfrm>
          <a:prstGeom prst="roundRect">
            <a:avLst>
              <a:gd name="adj" fmla="val 4444"/>
            </a:avLst>
          </a:prstGeom>
          <a:solidFill>
            <a:srgbClr val="1D4E6C"/>
          </a:solidFill>
          <a:ln w="6350">
            <a:solidFill>
              <a:srgbClr val="334466"/>
            </a:solidFill>
            <a:prstDash val="solid"/>
          </a:ln>
        </p:spPr>
        <p:txBody>
          <a:bodyPr/>
          <a:lstStyle/>
          <a:p>
            <a:r>
              <a:rPr lang="en-US" dirty="0" err="1">
                <a:latin typeface="Franklin Gothic Medium" panose="020B0603020102020204" pitchFamily="34" charset="0"/>
              </a:rPr>
              <a:t>å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4300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Q1 (M1–M3)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36245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Foundation &amp; City Launch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Pre-launch buzz: 30 paid vendors signed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Coimbatore / Tirupur hyper-local push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App launch on Meta + Google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Micro-influencers (50K–500K) — 10 creators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20 videos + 40 creatives/month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Webinars: Vendor onboarding 2×/month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Target: 5K app installs, 130 vendors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Budget: ₹6–7.5L total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23160" y="1115568"/>
            <a:ext cx="2057400" cy="3822192"/>
          </a:xfrm>
          <a:prstGeom prst="roundRect">
            <a:avLst>
              <a:gd name="adj" fmla="val 4444"/>
            </a:avLst>
          </a:prstGeom>
          <a:solidFill>
            <a:srgbClr val="0D3D2A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1115568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14300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Q2 (M4–M6)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14600" y="136245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Scale &amp; Break-Even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32888" y="1627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Expand to 3 cities (Chennai, Bangalore, Kochi)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32888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Macro influencers (500K–2M) — 5 creators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32888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User UGC campaign: #GleepickFinds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32888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Google Performance Max + Shopping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32888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WhatsApp broadcast to 50K+ contacts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32888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30 videos + 60 creatives/month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32888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Target: 25K installs, 350 vendors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532888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Budget: ₹8–10L total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90288" y="1115568"/>
            <a:ext cx="2057400" cy="3822192"/>
          </a:xfrm>
          <a:prstGeom prst="roundRect">
            <a:avLst>
              <a:gd name="adj" fmla="val 4444"/>
            </a:avLst>
          </a:prstGeom>
          <a:solidFill>
            <a:srgbClr val="3D1A00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0288" y="1115568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14300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Q3 (M7–M9)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81728" y="136245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Expansion &amp; Trust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00016" y="1627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South India saturation push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00016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Celebrity-level influencer (1 campaign)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00016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Hotstar / YouTube Pre-roll ads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00016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Founder content series — trust building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00016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CRM automation: Churn prevention flows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00016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Quarterly giveaway mega-event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00016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Target: 62K installs, 620 vendors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00016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Budget: ₹10–12L total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757416" y="1115568"/>
            <a:ext cx="2057400" cy="3822192"/>
          </a:xfrm>
          <a:prstGeom prst="roundRect">
            <a:avLst>
              <a:gd name="adj" fmla="val 4444"/>
            </a:avLst>
          </a:prstGeom>
          <a:solidFill>
            <a:srgbClr val="1A0033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57416" y="1115568"/>
            <a:ext cx="2057400" cy="438912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114300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Q4 (M10–M12)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48856" y="136245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National &amp; Profitability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867144" y="1627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Pan-India: Maharashtra, Gujarat, Delhi NCR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67144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Prime Video + OTT brand placements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67144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Programmatic + Display re-targeting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67144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B2B: Vendor acquisition via trade shows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67144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AI-driven personalised email &amp; push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67144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Gleepick Grand Giveaway (festive season)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67144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Target: 1L+ installs, 900 vendors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67144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Budget: ₹12–15L total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56032" y="4681728"/>
            <a:ext cx="8631936" cy="329184"/>
          </a:xfrm>
          <a:prstGeom prst="roundRect">
            <a:avLst>
              <a:gd name="adj" fmla="val 16667"/>
            </a:avLst>
          </a:prstGeom>
          <a:solidFill>
            <a:srgbClr val="00A896">
              <a:alpha val="20000"/>
            </a:srgbClr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7183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Total 12-Month Budget: ₹35–45 Lakhs  |  Expected Output: 1L+ App Installs  |  900+ Paying Vendors  |  ₹46L MRR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Franklin Gothic Medium" panose="020B0603020102020204" pitchFamily="34" charset="0"/>
              </a:rPr>
              <a:t>8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A6D5F9DB-E2AB-8A4F-8B3D-081DBB6B6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WHY US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Why Digifyce Is The Right Partner for Gleepick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4F8FF"/>
          </a:solidFill>
          <a:ln w="10160">
            <a:solidFill>
              <a:srgbClr val="D8E8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3418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We Bring Your First 20–30 Vendors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60934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Digifyce has an active B2B network of 200+ SME brand relationships across Tamil Nadu and South India. We commit to personally onboarding Gleepick's first 20–30 paying vendors with zero additional marketing spend. This alone saves ₹60,000–₹2.4L in acquisition cost.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4F8FF"/>
          </a:solidFill>
          <a:ln w="10160">
            <a:solidFill>
              <a:srgbClr val="D8E8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92040" y="13418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Proven App Install Performance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9472" y="160934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Our Red Taxi campaign in Coimbatore delivered 63,796 app downloads at ₹3.74 CPI — versus the industry standard of ₹20. For Gleepick, we target sub-₹60 CPI at launch, scaling to 1 Lakh users within 12 months through multi-channel attribution strategy.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4F8FF"/>
          </a:solidFill>
          <a:ln w="10160">
            <a:solidFill>
              <a:srgbClr val="D8E8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32644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Data-Driven, Not Gut-Driven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352958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Every decision — content type, ad channel, influencer tier, vendor messaging — is backed by real performance data. We use heatmaps, Firebase analytics, Meta Pixel, and Google Analytics to optimise weekly, not monthly.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999232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4F8FF"/>
          </a:solidFill>
          <a:ln w="10160">
            <a:solidFill>
              <a:srgbClr val="D8E8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32552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Consulting + Execution Under One Roof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9472" y="3529584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Most agencies either think or do. Digifyce does both. From architecture consulting and strategic hiring frameworks to day-to-day ad management and influencer coordination — you have one accountable partner for all growth levers.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9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3F144AFC-5668-5447-9149-EBA459D1A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9811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VENDOR STRATEGY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1841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Vendor Onboarding — 4-Phase, Category-First Approach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7677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9117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1 — Q1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374877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Foundation Categories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737360" y="917677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63397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👕 Fashion (Men &amp; Women)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8800" y="1219429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👶 Baby Essentials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28800" y="1475461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💄 Beauty &amp; Personal Care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0" y="917677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990829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High order frequency, strong repeat purchase, digital-native vendor base. Tamil Nadu fashion &amp; beauty SMEs are underserved by current platforms.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917677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1009117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Target: 100 → 130 vendors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4032" y="1374877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₹2–2.5L marketing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1905229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96669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2 — Q2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" y="2362429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Demand Categories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737360" y="1905229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950949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🏠 Home &amp; Kitchen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28800" y="2206981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📚 Books &amp; Stationery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2463013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👟 Shoes &amp; Footwear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0" y="1905229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978381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Home category surged 40% post-COVID. Tier-2 vendors in furniture &amp; kitchen accessories lack a commission-free platform. Books — strong South India affinity.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40880" y="1905229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1996669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Target: 130 → 350 vendors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14032" y="2362429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₹2.5–3.5L marketing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2892781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84221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3 — Q3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" y="3349981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High-Value Categories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37360" y="2892781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2938501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💻 Electronics &amp; Computers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828800" y="3194533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⚽ Sports &amp; Fitness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828800" y="3450565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🐾 Pets &amp; Pet Care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0" y="2892781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965933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Electronics = high AOV (₹5,000+ average), strong margin for Gleepick. Sports &amp; Fitness growing at 18% CAGR. Pet care is India's fastest growing e-com segment.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040880" y="2892781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2984221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Target: 350 → 620 vendors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14032" y="3349981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₹3.5–4L marketing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880333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971773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4 — Q4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4320" y="4337533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Scale &amp; Niche Categories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737360" y="3880333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0" y="3926053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🔧 Hardware &amp; Tools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828800" y="4182085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🚗 Automobiles &amp; Accessories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828800" y="4438117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Franklin Gothic Medium" panose="020B0603020102020204" pitchFamily="34" charset="0"/>
              </a:rPr>
              <a:t>🛋️ Furniture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657600" y="3880333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953485"/>
            <a:ext cx="3090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Furniture &amp; Hardware — large AOV, zero commission model most attractive here. Automobile accessories are fragmented, zero-platform category — first-mover advantage.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040880" y="3880333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14032" y="3971773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Target: 620 → 900 vendors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114032" y="4337533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₹4–5L marketing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4320" y="4822165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65760" y="4841433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Category sequencing strategy inspired by Amazon India's 2013–2016 playbook: Electronics &amp; Fashion first, then Hardware &amp; Automotive once trust is established.</a:t>
            </a:r>
          </a:p>
        </p:txBody>
      </p:sp>
      <p:sp>
        <p:nvSpPr>
          <p:cNvPr id="55" name="Text 53"/>
          <p:cNvSpPr/>
          <p:nvPr/>
        </p:nvSpPr>
        <p:spPr>
          <a:xfrm>
            <a:off x="8425543" y="4886172"/>
            <a:ext cx="627017" cy="1430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10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56" name="Image 0" descr="preencoded.png">
            <a:extLst>
              <a:ext uri="{FF2B5EF4-FFF2-40B4-BE49-F238E27FC236}">
                <a16:creationId xmlns:a16="http://schemas.microsoft.com/office/drawing/2014/main" id="{12C37EB4-ECC6-E845-9251-CFEA73A1D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VENDOR ACQUISITION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Vendor Marketing Mix &amp; Quarterly Budget Plan</a:t>
            </a:r>
            <a:endParaRPr lang="en-US" sz="2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Content &amp; Reach Strategy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996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🎥 Founder-led Trust Content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" y="17099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CEO/founder videos: why we built Gleepick, vendor success stories — drives authenticity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756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📲 Micro-Influencers (10K–500K)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50 creators in Tamil Nadu SME space — Textile, Fashion, Homewear sellers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2615184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51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🎓 UGC + Vendor Testimonials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2862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Real vendor revenue stories: 'I saved ₹40,000 in Amazon fees this month'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" y="3191256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278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📺 Webinars &amp; Online Events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34381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2×/month: 'Sell on Gleepick for Free' webinar → qualify → onboard pipeline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8039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💌 WhatsApp + Email Nurture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" y="40142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CRM sequences: Lead → Trial → Paid conversion funnel (7-touch sequence)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4343400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1A2F5E"/>
          </a:solidFill>
          <a:ln w="6350">
            <a:solidFill>
              <a:srgbClr val="2A4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3799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🎯 LinkedIn B2B Targeting</a:t>
            </a:r>
            <a:endParaRPr lang="en-US" sz="95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" y="4590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Target: SME founders, boutique owners, manufacturer reps in South India</a:t>
            </a:r>
          </a:p>
        </p:txBody>
      </p:sp>
      <p:sp>
        <p:nvSpPr>
          <p:cNvPr id="23" name="Text 21"/>
          <p:cNvSpPr/>
          <p:nvPr/>
        </p:nvSpPr>
        <p:spPr>
          <a:xfrm>
            <a:off x="3977640" y="11155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Channels &amp; Quarterly Budget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77640" y="14447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14447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Meta Ads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84648" y="14447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4447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Google Search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91656" y="14447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14447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WhatsApp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98664" y="144475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8664" y="14447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LinkedIn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977640" y="18105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18105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YouTube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84648" y="18105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18105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Email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91656" y="18105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8105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Webinar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598664" y="1810512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98664" y="181051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Events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2267712"/>
          <a:ext cx="4846320" cy="1508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Vendor 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Est. Return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Q1 (M1–M3)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₹6–7.5L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100 → 130 vendors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₹8–12L MRR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Q2 (M4–M6)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₹8–10L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 → 350 vendors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₹15–19.5L MRR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Q3 (M7–M9)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₹10–12L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350 → 620 vendors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₹24–33L MRR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Q4 (M10–M12)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₹12–15L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 → 900 vendors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₹37–46L MRR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977640" y="385876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Monthly deliverables: 20–40 creatives &amp; videos, CRM automation flows, 2 webinars, WhatsApp campaigns targeting 10,000+ SME contacts/month.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977640" y="4279392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003D2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96512" y="4315968"/>
            <a:ext cx="4553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Spider-Web Funnel: Every touch point (webinar → lead → WhatsApp → demo → trial → paid) is tracked via CRM. Digifyce targets 15–20% lead-to-vendor conversion.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403662" y="4956048"/>
            <a:ext cx="67600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Franklin Gothic Medium" panose="020B0603020102020204" pitchFamily="34" charset="0"/>
              </a:rPr>
              <a:t>11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21910519-D6A2-BE41-B6A6-02F0AB1FC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USER ACQUISITION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Consumer App Marketing Mix &amp; Quarterly Budget Plan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2F7FF"/>
          </a:solidFill>
          <a:ln w="6350">
            <a:solidFill>
              <a:srgbClr val="D8E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61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High-End Commercial Ads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34874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Brand-identity-first commercials for YouTube, Hotstar &amp; Instagram Reels. South Indian households — Tamil/Kannada language ads convert 3× better than English-only.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" y="2066544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2F7FF"/>
          </a:solidFill>
          <a:ln w="6350">
            <a:solidFill>
              <a:srgbClr val="D8E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436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Influencer Tiers: Micro → Celebrity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33629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Micro (50K): 30 creators for authentic reviews. Macro (500K–2M): 8 creators for scale. 1 celebrity anchor per quarter for trust. Total: ₹80K–₹1.5L/month in influencer spends.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" y="3054096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2F7FF"/>
          </a:solidFill>
          <a:ln w="6350">
            <a:solidFill>
              <a:srgbClr val="D8E8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12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Giveaway-Led Engagement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323844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Weekly giveaways create reason to return. App push notification open rates average 7.8% with giveaway-themed copy vs 3.2% standard. Gleepick's giveaway model is its organic retention engine.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92608" y="404164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2F7FF"/>
          </a:solidFill>
          <a:ln w="6350">
            <a:solidFill>
              <a:srgbClr val="D8E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187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Heatmaps &amp; Behaviour Analytics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311396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Hotjar / Clarity heatmaps + Firebase event tracking identify drop-off points in the purchase funnel. Monthly behaviour reports drive content &amp; UX decisions for Gleepick's product team.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10789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Franklin Gothic Medium" panose="020B0603020102020204" pitchFamily="34" charset="0"/>
              </a:rPr>
              <a:t>Channels &amp; Quarterly Budget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89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Meta Ads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87568" y="138988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389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Google UAC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11696" y="138988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1389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YouTube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35824" y="138988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1389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Hotstar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1755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556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Prime Video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87568" y="1755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17556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WhatsApp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11696" y="1755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17556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Email / Push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735824" y="175564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0D1B3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17556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Snapchat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09424"/>
              </p:ext>
            </p:extLst>
          </p:nvPr>
        </p:nvGraphicFramePr>
        <p:xfrm>
          <a:off x="4663440" y="2194560"/>
          <a:ext cx="430911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Quarter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Budget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User Target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</a:rPr>
                        <a:t>CPI Target</a:t>
                      </a:r>
                      <a:endParaRPr lang="en-US" sz="9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Q1 (M1–M3)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₹4–5L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5,000 installs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₹60–80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Q2 (M4–M6)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₹5–7L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25,000 installs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₹50–65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Q3 (M7–M9)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₹7–9L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62,000 installs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₹45–55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Q4 (M10–M12)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₹9–12L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Franklin Gothic Medium" panose="020B0603020102020204" pitchFamily="34" charset="0"/>
                        </a:rPr>
                        <a:t>1,00,000 installs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Franklin Gothic Medium" panose="020B0603020102020204" pitchFamily="34" charset="0"/>
                        </a:rPr>
                        <a:t>₹40–50</a:t>
                      </a:r>
                      <a:endParaRPr lang="en-US" sz="1000" dirty="0">
                        <a:latin typeface="Franklin Gothic Medium" panose="020B06030201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4663440" y="3749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D5475"/>
                </a:solidFill>
                <a:latin typeface="Franklin Gothic Medium" panose="020B0603020102020204" pitchFamily="34" charset="0"/>
              </a:rPr>
              <a:t>Monthly deliverables: 50–60 creatives &amp; videos, heatmap reports, push notification copy, giveaway campaign creatives, influencer briefs &amp; coordination.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663440" y="4206240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EAF9F2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73168" y="424281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007A6E"/>
                </a:solidFill>
                <a:latin typeface="Franklin Gothic Medium" panose="020B0603020102020204" pitchFamily="34" charset="0"/>
              </a:rPr>
              <a:t>🎯 Retention KPI: Active user rate maintained at 55–65% through giveaways, personalised push notifications, and loyalty tier mechanics. Industry benchmark for marketplace apps: 32–40%. Gleepick targets 20% above benchmark.</a:t>
            </a:r>
            <a:endParaRPr lang="en-US" sz="820" dirty="0">
              <a:latin typeface="Franklin Gothic Medium" panose="020B06030201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294914" y="4846319"/>
            <a:ext cx="757646" cy="223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12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C48D070F-7752-7643-AB2D-12D5D01A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PROOF POINTS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Case Studies: What Digifyce Has Already Delivered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60520" cy="3767328"/>
          </a:xfrm>
          <a:prstGeom prst="roundRect">
            <a:avLst>
              <a:gd name="adj" fmla="val 3641"/>
            </a:avLst>
          </a:prstGeom>
          <a:solidFill>
            <a:srgbClr val="1A2F5E"/>
          </a:solidFill>
          <a:ln w="10160">
            <a:solidFill>
              <a:srgbClr val="2A4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4160520" cy="457200"/>
          </a:xfrm>
          <a:prstGeom prst="roundRect">
            <a:avLst>
              <a:gd name="adj" fmla="val 3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 Red Taxi — App Install Campaign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81279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Taxi service, 100Cr+ turnover, Tier-2 India, 1,500 cabs across 5 cities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211455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Challenge: App built for Android &amp; iOS. Direct call bookings performed well but app bookings were far below expectation. Needed scale fast.</a:t>
            </a:r>
          </a:p>
        </p:txBody>
      </p:sp>
      <p:sp>
        <p:nvSpPr>
          <p:cNvPr id="9" name="Text 7"/>
          <p:cNvSpPr/>
          <p:nvPr/>
        </p:nvSpPr>
        <p:spPr>
          <a:xfrm>
            <a:off x="384048" y="262661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Solution: Facebook App Install Ads + Google UAC + Firebase SDK integration + offer-based creative strategy (₹150 off first 3 rides).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31386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4.4M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34129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Reach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77440" y="31386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63,796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77440" y="34129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App Downloads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66903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₹3.74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394335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Cost Per Install*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77440" y="366903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47%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77440" y="394335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Conv. Rate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3192" y="4389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*Industry benchmark: ₹20/install. Digifyce delivered at ₹3.74 — 81% below industry standard.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4160520" cy="3767328"/>
          </a:xfrm>
          <a:prstGeom prst="roundRect">
            <a:avLst>
              <a:gd name="adj" fmla="val 3641"/>
            </a:avLst>
          </a:prstGeom>
          <a:solidFill>
            <a:srgbClr val="1A2F3A"/>
          </a:solidFill>
          <a:ln w="10160">
            <a:solidFill>
              <a:srgbClr val="2A5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078992"/>
            <a:ext cx="4160520" cy="457200"/>
          </a:xfrm>
          <a:prstGeom prst="roundRect">
            <a:avLst>
              <a:gd name="adj" fmla="val 3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Suguna Foods — Consumer App Launch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18888" y="181279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C430"/>
                </a:solidFill>
                <a:latin typeface="Franklin Gothic Medium" panose="020B0603020102020204" pitchFamily="34" charset="0"/>
              </a:rPr>
              <a:t>India's largest chicken brand. Online ordering app for direct consumer delivery.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18888" y="211455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Challenge: Zero brand presence on direct-to-consumer digital. App existed but had negligible downloads. Needed cost-efficient scale in South India.</a:t>
            </a:r>
          </a:p>
        </p:txBody>
      </p:sp>
      <p:sp>
        <p:nvSpPr>
          <p:cNvPr id="24" name="Text 22"/>
          <p:cNvSpPr/>
          <p:nvPr/>
        </p:nvSpPr>
        <p:spPr>
          <a:xfrm>
            <a:off x="4818888" y="262661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Solution: Hyperlocal audience targeting + recipe-based creative strategy + regional language ads + Google UAC + Meta App Install campaigns.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18888" y="31386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₹10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18888" y="34129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Cost Per Install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12280" y="313867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35%+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2280" y="341299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Active User Rate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18888" y="366903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5 Cities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18888" y="394335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Launch Markets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12280" y="366903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  <a:latin typeface="Franklin Gothic Medium" panose="020B0603020102020204" pitchFamily="34" charset="0"/>
              </a:rPr>
              <a:t>2.5× ROI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12280" y="394335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Franklin Gothic Medium" panose="020B0603020102020204" pitchFamily="34" charset="0"/>
              </a:rPr>
              <a:t>on Ad Spend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18888" y="43845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A896"/>
                </a:solidFill>
                <a:latin typeface="Franklin Gothic Medium" panose="020B0603020102020204" pitchFamily="34" charset="0"/>
              </a:rPr>
              <a:t>Both campaigns ran from Coimbatore, Tamil Nadu — the same base where Gleepick will launch first.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76557" y="4846320"/>
            <a:ext cx="676003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Franklin Gothic Medium" panose="020B0603020102020204" pitchFamily="34" charset="0"/>
              </a:rPr>
              <a:t>13 / 13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87691816-6882-9643-86A2-73F991B5F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87452"/>
            <a:ext cx="1570809" cy="499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2652</Words>
  <Application>Microsoft Macintosh PowerPoint</Application>
  <PresentationFormat>On-screen Show (16:9)</PresentationFormat>
  <Paragraphs>424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Digifyce × Gleepick — Growth Partnership Proposal</dc:title>
  <dc:subject>PptxGenJS Presentation</dc:subject>
  <dc:creator>PptxGenJS</dc:creator>
  <cp:lastModifiedBy>Ragavendra Kumar</cp:lastModifiedBy>
  <cp:revision>7</cp:revision>
  <dcterms:created xsi:type="dcterms:W3CDTF">2026-06-25T11:35:48Z</dcterms:created>
  <dcterms:modified xsi:type="dcterms:W3CDTF">2026-06-26T14:31:01Z</dcterms:modified>
</cp:coreProperties>
</file>