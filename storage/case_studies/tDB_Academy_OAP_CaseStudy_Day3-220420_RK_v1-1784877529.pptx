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diagrams/drawing4.xml" ContentType="application/vnd.ms-office.drawingml.diagramDrawing+xml"/>
  <Default Extension="jpg" ContentType="image/jpeg"/>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tiff" ContentType="image/tiff"/>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508" r:id="rId2"/>
    <p:sldId id="511" r:id="rId3"/>
    <p:sldId id="512" r:id="rId4"/>
    <p:sldId id="263" r:id="rId5"/>
    <p:sldId id="1280" r:id="rId6"/>
    <p:sldId id="1282" r:id="rId7"/>
    <p:sldId id="1283" r:id="rId8"/>
    <p:sldId id="1284" r:id="rId9"/>
    <p:sldId id="1285" r:id="rId10"/>
    <p:sldId id="1286" r:id="rId11"/>
    <p:sldId id="1287" r:id="rId12"/>
    <p:sldId id="1288" r:id="rId13"/>
    <p:sldId id="1295" r:id="rId14"/>
    <p:sldId id="1290" r:id="rId15"/>
    <p:sldId id="1291" r:id="rId16"/>
    <p:sldId id="1294" r:id="rId17"/>
    <p:sldId id="1293" r:id="rId18"/>
    <p:sldId id="1296" r:id="rId19"/>
    <p:sldId id="1297" r:id="rId20"/>
    <p:sldId id="1298" r:id="rId21"/>
    <p:sldId id="1299" r:id="rId22"/>
    <p:sldId id="1300" r:id="rId23"/>
    <p:sldId id="1301" r:id="rId24"/>
    <p:sldId id="1302" r:id="rId25"/>
    <p:sldId id="1303" r:id="rId26"/>
    <p:sldId id="1304" r:id="rId27"/>
    <p:sldId id="1305" r:id="rId28"/>
    <p:sldId id="1306" r:id="rId29"/>
    <p:sldId id="1307" r:id="rId30"/>
    <p:sldId id="1308" r:id="rId31"/>
    <p:sldId id="1311" r:id="rId32"/>
    <p:sldId id="1312" r:id="rId33"/>
    <p:sldId id="1313" r:id="rId34"/>
    <p:sldId id="1314" r:id="rId35"/>
    <p:sldId id="1315" r:id="rId36"/>
    <p:sldId id="1316" r:id="rId37"/>
    <p:sldId id="1317" r:id="rId38"/>
    <p:sldId id="1321" r:id="rId39"/>
    <p:sldId id="1322" r:id="rId40"/>
    <p:sldId id="1323" r:id="rId41"/>
    <p:sldId id="1318" r:id="rId42"/>
    <p:sldId id="1319" r:id="rId43"/>
    <p:sldId id="1320" r:id="rId44"/>
    <p:sldId id="537"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2C496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811" autoAdjust="0"/>
    <p:restoredTop sz="88840"/>
  </p:normalViewPr>
  <p:slideViewPr>
    <p:cSldViewPr snapToGrid="0" snapToObjects="1">
      <p:cViewPr>
        <p:scale>
          <a:sx n="75" d="100"/>
          <a:sy n="75" d="100"/>
        </p:scale>
        <p:origin x="-1374" y="-21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iagrams/_rels/drawing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1.png"/><Relationship Id="rId1" Type="http://schemas.openxmlformats.org/officeDocument/2006/relationships/image" Target="../media/image11.jpg"/><Relationship Id="rId5" Type="http://schemas.openxmlformats.org/officeDocument/2006/relationships/image" Target="../media/image15.jpg"/><Relationship Id="rId4" Type="http://schemas.openxmlformats.org/officeDocument/2006/relationships/image" Target="../media/image14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71.png"/><Relationship Id="rId1" Type="http://schemas.openxmlformats.org/officeDocument/2006/relationships/image" Target="../media/image161.png"/><Relationship Id="rId5" Type="http://schemas.openxmlformats.org/officeDocument/2006/relationships/image" Target="../media/image20.png"/><Relationship Id="rId4" Type="http://schemas.openxmlformats.org/officeDocument/2006/relationships/image" Target="../media/image19.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31.png"/><Relationship Id="rId7" Type="http://schemas.openxmlformats.org/officeDocument/2006/relationships/image" Target="../media/image271.png"/><Relationship Id="rId2" Type="http://schemas.openxmlformats.org/officeDocument/2006/relationships/image" Target="../media/image22.png"/><Relationship Id="rId1" Type="http://schemas.openxmlformats.org/officeDocument/2006/relationships/image" Target="../media/image21.png"/><Relationship Id="rId6" Type="http://schemas.openxmlformats.org/officeDocument/2006/relationships/image" Target="../media/image261.png"/><Relationship Id="rId5" Type="http://schemas.openxmlformats.org/officeDocument/2006/relationships/image" Target="../media/image251.png"/><Relationship Id="rId4" Type="http://schemas.openxmlformats.org/officeDocument/2006/relationships/image" Target="../media/image241.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61.png"/><Relationship Id="rId1" Type="http://schemas.openxmlformats.org/officeDocument/2006/relationships/image" Target="../media/image29.png"/><Relationship Id="rId4" Type="http://schemas.openxmlformats.org/officeDocument/2006/relationships/image" Target="../media/image31.jpeg"/></Relationships>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BE761-6396-B64B-B7AE-2E25E482D8F1}">
      <dsp:nvSpPr>
        <dsp:cNvPr id="0" name=""/>
        <dsp:cNvSpPr/>
      </dsp:nvSpPr>
      <dsp:spPr>
        <a:xfrm rot="10800000">
          <a:off x="561524" y="1498"/>
          <a:ext cx="1623065" cy="610830"/>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359" tIns="49530" rIns="92456" bIns="49530" numCol="1" spcCol="1270" anchor="ctr" anchorCtr="0">
          <a:noAutofit/>
        </a:bodyPr>
        <a:lstStyle/>
        <a:p>
          <a:pPr marL="0" lvl="0" indent="0" algn="ctr" defTabSz="577850">
            <a:lnSpc>
              <a:spcPct val="90000"/>
            </a:lnSpc>
            <a:spcBef>
              <a:spcPct val="0"/>
            </a:spcBef>
            <a:spcAft>
              <a:spcPct val="35000"/>
            </a:spcAft>
            <a:buNone/>
          </a:pPr>
          <a:r>
            <a:rPr lang="en-US" sz="1300" kern="1200" dirty="0"/>
            <a:t>Graphics</a:t>
          </a:r>
        </a:p>
      </dsp:txBody>
      <dsp:txXfrm rot="10800000">
        <a:off x="714231" y="1498"/>
        <a:ext cx="1470358" cy="610830"/>
      </dsp:txXfrm>
    </dsp:sp>
    <dsp:sp modelId="{A6671B04-A4A8-8A4D-AED2-851A3382582F}">
      <dsp:nvSpPr>
        <dsp:cNvPr id="0" name=""/>
        <dsp:cNvSpPr/>
      </dsp:nvSpPr>
      <dsp:spPr>
        <a:xfrm>
          <a:off x="256109" y="1498"/>
          <a:ext cx="610830" cy="61083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46000" r="-4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4E06DA-9741-E84A-BEE3-B2D374E0C571}">
      <dsp:nvSpPr>
        <dsp:cNvPr id="0" name=""/>
        <dsp:cNvSpPr/>
      </dsp:nvSpPr>
      <dsp:spPr>
        <a:xfrm rot="10800000">
          <a:off x="561524" y="794666"/>
          <a:ext cx="1623065" cy="610830"/>
        </a:xfrm>
        <a:prstGeom prst="homePlat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359" tIns="49530" rIns="92456" bIns="49530" numCol="1" spcCol="1270" anchor="ctr" anchorCtr="0">
          <a:noAutofit/>
        </a:bodyPr>
        <a:lstStyle/>
        <a:p>
          <a:pPr marL="0" lvl="0" indent="0" algn="ctr" defTabSz="577850">
            <a:lnSpc>
              <a:spcPct val="90000"/>
            </a:lnSpc>
            <a:spcBef>
              <a:spcPct val="0"/>
            </a:spcBef>
            <a:spcAft>
              <a:spcPct val="35000"/>
            </a:spcAft>
            <a:buNone/>
          </a:pPr>
          <a:r>
            <a:rPr lang="en-US" sz="1300" kern="1200" dirty="0"/>
            <a:t>Email Templates	</a:t>
          </a:r>
        </a:p>
      </dsp:txBody>
      <dsp:txXfrm rot="10800000">
        <a:off x="714231" y="794666"/>
        <a:ext cx="1470358" cy="610830"/>
      </dsp:txXfrm>
    </dsp:sp>
    <dsp:sp modelId="{358FDF92-5514-9A4D-91AE-2433A73B4A14}">
      <dsp:nvSpPr>
        <dsp:cNvPr id="0" name=""/>
        <dsp:cNvSpPr/>
      </dsp:nvSpPr>
      <dsp:spPr>
        <a:xfrm>
          <a:off x="256109" y="794666"/>
          <a:ext cx="610830" cy="610830"/>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48000" r="-4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3F2050-EAE5-B047-BAEB-5624B7C31CC9}">
      <dsp:nvSpPr>
        <dsp:cNvPr id="0" name=""/>
        <dsp:cNvSpPr/>
      </dsp:nvSpPr>
      <dsp:spPr>
        <a:xfrm rot="10800000">
          <a:off x="561524" y="1587834"/>
          <a:ext cx="1623065" cy="610830"/>
        </a:xfrm>
        <a:prstGeom prst="homePlat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359" tIns="49530" rIns="92456" bIns="49530" numCol="1" spcCol="1270" anchor="ctr" anchorCtr="0">
          <a:noAutofit/>
        </a:bodyPr>
        <a:lstStyle/>
        <a:p>
          <a:pPr marL="0" lvl="0" indent="0" algn="ctr" defTabSz="577850">
            <a:lnSpc>
              <a:spcPct val="90000"/>
            </a:lnSpc>
            <a:spcBef>
              <a:spcPct val="0"/>
            </a:spcBef>
            <a:spcAft>
              <a:spcPct val="35000"/>
            </a:spcAft>
            <a:buNone/>
          </a:pPr>
          <a:r>
            <a:rPr lang="en-US" sz="1300" kern="1200" dirty="0"/>
            <a:t>Video Production</a:t>
          </a:r>
        </a:p>
      </dsp:txBody>
      <dsp:txXfrm rot="10800000">
        <a:off x="714231" y="1587834"/>
        <a:ext cx="1470358" cy="610830"/>
      </dsp:txXfrm>
    </dsp:sp>
    <dsp:sp modelId="{4EE4D808-09E4-EF49-80D2-4BA53AC61DBC}">
      <dsp:nvSpPr>
        <dsp:cNvPr id="0" name=""/>
        <dsp:cNvSpPr/>
      </dsp:nvSpPr>
      <dsp:spPr>
        <a:xfrm>
          <a:off x="256109" y="1587834"/>
          <a:ext cx="610830" cy="610830"/>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5000" r="-1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392426F-9868-D747-9083-D2A3FCDC201B}">
      <dsp:nvSpPr>
        <dsp:cNvPr id="0" name=""/>
        <dsp:cNvSpPr/>
      </dsp:nvSpPr>
      <dsp:spPr>
        <a:xfrm rot="10800000">
          <a:off x="561524" y="2381002"/>
          <a:ext cx="1623065" cy="610830"/>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359" tIns="49530" rIns="92456" bIns="49530" numCol="1" spcCol="1270" anchor="ctr" anchorCtr="0">
          <a:noAutofit/>
        </a:bodyPr>
        <a:lstStyle/>
        <a:p>
          <a:pPr marL="0" lvl="0" indent="0" algn="ctr" defTabSz="577850">
            <a:lnSpc>
              <a:spcPct val="90000"/>
            </a:lnSpc>
            <a:spcBef>
              <a:spcPct val="0"/>
            </a:spcBef>
            <a:spcAft>
              <a:spcPct val="35000"/>
            </a:spcAft>
            <a:buNone/>
          </a:pPr>
          <a:r>
            <a:rPr lang="en-US" sz="1300" kern="1200" dirty="0"/>
            <a:t>Brochures</a:t>
          </a:r>
        </a:p>
      </dsp:txBody>
      <dsp:txXfrm rot="10800000">
        <a:off x="714231" y="2381002"/>
        <a:ext cx="1470358" cy="610830"/>
      </dsp:txXfrm>
    </dsp:sp>
    <dsp:sp modelId="{EE87CFC4-C9E3-B549-9FCF-3AAFA2552E8E}">
      <dsp:nvSpPr>
        <dsp:cNvPr id="0" name=""/>
        <dsp:cNvSpPr/>
      </dsp:nvSpPr>
      <dsp:spPr>
        <a:xfrm>
          <a:off x="256109" y="2381002"/>
          <a:ext cx="610830" cy="610830"/>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31000" r="-3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F39473-A94B-DA47-BA30-064974C7E7F4}">
      <dsp:nvSpPr>
        <dsp:cNvPr id="0" name=""/>
        <dsp:cNvSpPr/>
      </dsp:nvSpPr>
      <dsp:spPr>
        <a:xfrm rot="10800000">
          <a:off x="561524" y="3174170"/>
          <a:ext cx="1623065" cy="610830"/>
        </a:xfrm>
        <a:prstGeom prst="homePlat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9359" tIns="49530" rIns="92456" bIns="49530" numCol="1" spcCol="1270" anchor="ctr" anchorCtr="0">
          <a:noAutofit/>
        </a:bodyPr>
        <a:lstStyle/>
        <a:p>
          <a:pPr marL="0" lvl="0" indent="0" algn="ctr" defTabSz="577850">
            <a:lnSpc>
              <a:spcPct val="90000"/>
            </a:lnSpc>
            <a:spcBef>
              <a:spcPct val="0"/>
            </a:spcBef>
            <a:spcAft>
              <a:spcPct val="35000"/>
            </a:spcAft>
            <a:buNone/>
          </a:pPr>
          <a:r>
            <a:rPr lang="en-US" sz="1300" kern="1200" dirty="0"/>
            <a:t>Infographics</a:t>
          </a:r>
        </a:p>
      </dsp:txBody>
      <dsp:txXfrm rot="10800000">
        <a:off x="714231" y="3174170"/>
        <a:ext cx="1470358" cy="610830"/>
      </dsp:txXfrm>
    </dsp:sp>
    <dsp:sp modelId="{7AB10B9F-E63D-C843-A386-FF3E992E91F6}">
      <dsp:nvSpPr>
        <dsp:cNvPr id="0" name=""/>
        <dsp:cNvSpPr/>
      </dsp:nvSpPr>
      <dsp:spPr>
        <a:xfrm>
          <a:off x="256109" y="3174170"/>
          <a:ext cx="610830" cy="610830"/>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29000" r="-2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BE761-6396-B64B-B7AE-2E25E482D8F1}">
      <dsp:nvSpPr>
        <dsp:cNvPr id="0" name=""/>
        <dsp:cNvSpPr/>
      </dsp:nvSpPr>
      <dsp:spPr>
        <a:xfrm rot="10800000">
          <a:off x="579301" y="802"/>
          <a:ext cx="1691891" cy="612595"/>
        </a:xfrm>
        <a:prstGeom prst="homePlat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137"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Landing Pages</a:t>
          </a:r>
        </a:p>
      </dsp:txBody>
      <dsp:txXfrm rot="10800000">
        <a:off x="732450" y="802"/>
        <a:ext cx="1538742" cy="612595"/>
      </dsp:txXfrm>
    </dsp:sp>
    <dsp:sp modelId="{A6671B04-A4A8-8A4D-AED2-851A3382582F}">
      <dsp:nvSpPr>
        <dsp:cNvPr id="0" name=""/>
        <dsp:cNvSpPr/>
      </dsp:nvSpPr>
      <dsp:spPr>
        <a:xfrm>
          <a:off x="273004" y="802"/>
          <a:ext cx="612595" cy="61259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2000" r="-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4E06DA-9741-E84A-BEE3-B2D374E0C571}">
      <dsp:nvSpPr>
        <dsp:cNvPr id="0" name=""/>
        <dsp:cNvSpPr/>
      </dsp:nvSpPr>
      <dsp:spPr>
        <a:xfrm rot="10800000">
          <a:off x="579301" y="796262"/>
          <a:ext cx="1691891" cy="612595"/>
        </a:xfrm>
        <a:prstGeom prst="homePlate">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137"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Google AdWords</a:t>
          </a:r>
        </a:p>
      </dsp:txBody>
      <dsp:txXfrm rot="10800000">
        <a:off x="732450" y="796262"/>
        <a:ext cx="1538742" cy="612595"/>
      </dsp:txXfrm>
    </dsp:sp>
    <dsp:sp modelId="{358FDF92-5514-9A4D-91AE-2433A73B4A14}">
      <dsp:nvSpPr>
        <dsp:cNvPr id="0" name=""/>
        <dsp:cNvSpPr/>
      </dsp:nvSpPr>
      <dsp:spPr>
        <a:xfrm>
          <a:off x="273004" y="796262"/>
          <a:ext cx="612595" cy="61259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67000" r="-6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CC7DC7-F08F-1D49-A36E-5C70AF75F255}">
      <dsp:nvSpPr>
        <dsp:cNvPr id="0" name=""/>
        <dsp:cNvSpPr/>
      </dsp:nvSpPr>
      <dsp:spPr>
        <a:xfrm rot="10800000">
          <a:off x="579301" y="1591721"/>
          <a:ext cx="1691891" cy="612595"/>
        </a:xfrm>
        <a:prstGeom prst="homePlate">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137"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SEO (Text, Image)</a:t>
          </a:r>
        </a:p>
      </dsp:txBody>
      <dsp:txXfrm rot="10800000">
        <a:off x="732450" y="1591721"/>
        <a:ext cx="1538742" cy="612595"/>
      </dsp:txXfrm>
    </dsp:sp>
    <dsp:sp modelId="{BF51FDEF-698B-DE40-985D-79789E09CC07}">
      <dsp:nvSpPr>
        <dsp:cNvPr id="0" name=""/>
        <dsp:cNvSpPr/>
      </dsp:nvSpPr>
      <dsp:spPr>
        <a:xfrm>
          <a:off x="273004" y="1591721"/>
          <a:ext cx="612595" cy="612595"/>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180FE9-A5FE-8B46-A4A7-D14DDEF94301}">
      <dsp:nvSpPr>
        <dsp:cNvPr id="0" name=""/>
        <dsp:cNvSpPr/>
      </dsp:nvSpPr>
      <dsp:spPr>
        <a:xfrm rot="10800000">
          <a:off x="579301" y="2387180"/>
          <a:ext cx="1691891" cy="612595"/>
        </a:xfrm>
        <a:prstGeom prst="homePlate">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137"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Website Content</a:t>
          </a:r>
        </a:p>
      </dsp:txBody>
      <dsp:txXfrm rot="10800000">
        <a:off x="732450" y="2387180"/>
        <a:ext cx="1538742" cy="612595"/>
      </dsp:txXfrm>
    </dsp:sp>
    <dsp:sp modelId="{158C1DC5-C869-6D40-8B95-4DADD068BB25}">
      <dsp:nvSpPr>
        <dsp:cNvPr id="0" name=""/>
        <dsp:cNvSpPr/>
      </dsp:nvSpPr>
      <dsp:spPr>
        <a:xfrm>
          <a:off x="273004" y="2387180"/>
          <a:ext cx="612595" cy="612595"/>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36000" r="-36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F99836-B9CD-FB40-955B-D598D1D93FB2}">
      <dsp:nvSpPr>
        <dsp:cNvPr id="0" name=""/>
        <dsp:cNvSpPr/>
      </dsp:nvSpPr>
      <dsp:spPr>
        <a:xfrm rot="10800000">
          <a:off x="579301" y="3182640"/>
          <a:ext cx="1691891" cy="612595"/>
        </a:xfrm>
        <a:prstGeom prst="homePlate">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0137"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Blogs</a:t>
          </a:r>
        </a:p>
      </dsp:txBody>
      <dsp:txXfrm rot="10800000">
        <a:off x="732450" y="3182640"/>
        <a:ext cx="1538742" cy="612595"/>
      </dsp:txXfrm>
    </dsp:sp>
    <dsp:sp modelId="{03FBD9A3-B602-4240-A80D-44C9925E03B3}">
      <dsp:nvSpPr>
        <dsp:cNvPr id="0" name=""/>
        <dsp:cNvSpPr/>
      </dsp:nvSpPr>
      <dsp:spPr>
        <a:xfrm>
          <a:off x="273004" y="3182640"/>
          <a:ext cx="612595" cy="612595"/>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BE761-6396-B64B-B7AE-2E25E482D8F1}">
      <dsp:nvSpPr>
        <dsp:cNvPr id="0" name=""/>
        <dsp:cNvSpPr/>
      </dsp:nvSpPr>
      <dsp:spPr>
        <a:xfrm rot="10800000">
          <a:off x="497008" y="95"/>
          <a:ext cx="1602977" cy="373002"/>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Facebook</a:t>
          </a:r>
        </a:p>
      </dsp:txBody>
      <dsp:txXfrm rot="10800000">
        <a:off x="590258" y="95"/>
        <a:ext cx="1509727" cy="373002"/>
      </dsp:txXfrm>
    </dsp:sp>
    <dsp:sp modelId="{A6671B04-A4A8-8A4D-AED2-851A3382582F}">
      <dsp:nvSpPr>
        <dsp:cNvPr id="0" name=""/>
        <dsp:cNvSpPr/>
      </dsp:nvSpPr>
      <dsp:spPr>
        <a:xfrm>
          <a:off x="310506" y="95"/>
          <a:ext cx="373002" cy="373002"/>
        </a:xfrm>
        <a:prstGeom prst="ellipse">
          <a:avLst/>
        </a:prstGeom>
        <a:blipFill>
          <a:blip xmlns:r="http://schemas.openxmlformats.org/officeDocument/2006/relationships" r:embed="rId1"/>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4E06DA-9741-E84A-BEE3-B2D374E0C571}">
      <dsp:nvSpPr>
        <dsp:cNvPr id="0" name=""/>
        <dsp:cNvSpPr/>
      </dsp:nvSpPr>
      <dsp:spPr>
        <a:xfrm rot="10800000">
          <a:off x="497008" y="484441"/>
          <a:ext cx="1602977" cy="373002"/>
        </a:xfrm>
        <a:prstGeom prst="homePlate">
          <a:avLst/>
        </a:prstGeom>
        <a:solidFill>
          <a:schemeClr val="accent2">
            <a:hueOff val="-207909"/>
            <a:satOff val="-11990"/>
            <a:lumOff val="12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LinkedIn	</a:t>
          </a:r>
        </a:p>
      </dsp:txBody>
      <dsp:txXfrm rot="10800000">
        <a:off x="590258" y="484441"/>
        <a:ext cx="1509727" cy="373002"/>
      </dsp:txXfrm>
    </dsp:sp>
    <dsp:sp modelId="{358FDF92-5514-9A4D-91AE-2433A73B4A14}">
      <dsp:nvSpPr>
        <dsp:cNvPr id="0" name=""/>
        <dsp:cNvSpPr/>
      </dsp:nvSpPr>
      <dsp:spPr>
        <a:xfrm>
          <a:off x="310506" y="484441"/>
          <a:ext cx="373002" cy="373002"/>
        </a:xfrm>
        <a:prstGeom prst="ellipse">
          <a:avLst/>
        </a:prstGeom>
        <a:blipFill>
          <a:blip xmlns:r="http://schemas.openxmlformats.org/officeDocument/2006/relationships" r:embed="rId2"/>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B36413A-5292-1746-BAC0-FC86A620E27F}">
      <dsp:nvSpPr>
        <dsp:cNvPr id="0" name=""/>
        <dsp:cNvSpPr/>
      </dsp:nvSpPr>
      <dsp:spPr>
        <a:xfrm rot="10800000">
          <a:off x="497008" y="968788"/>
          <a:ext cx="1602977" cy="373002"/>
        </a:xfrm>
        <a:prstGeom prst="homePlate">
          <a:avLst/>
        </a:prstGeom>
        <a:solidFill>
          <a:schemeClr val="accent2">
            <a:hueOff val="-415818"/>
            <a:satOff val="-23979"/>
            <a:lumOff val="24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Twitter</a:t>
          </a:r>
        </a:p>
      </dsp:txBody>
      <dsp:txXfrm rot="10800000">
        <a:off x="590258" y="968788"/>
        <a:ext cx="1509727" cy="373002"/>
      </dsp:txXfrm>
    </dsp:sp>
    <dsp:sp modelId="{009A07E8-5F0E-D246-B06D-FFF7B31F6CD8}">
      <dsp:nvSpPr>
        <dsp:cNvPr id="0" name=""/>
        <dsp:cNvSpPr/>
      </dsp:nvSpPr>
      <dsp:spPr>
        <a:xfrm>
          <a:off x="310506" y="968788"/>
          <a:ext cx="373002" cy="373002"/>
        </a:xfrm>
        <a:prstGeom prst="ellipse">
          <a:avLst/>
        </a:prstGeom>
        <a:blipFill>
          <a:blip xmlns:r="http://schemas.openxmlformats.org/officeDocument/2006/relationships" r:embed="rId3"/>
          <a:srcRect/>
          <a:stretch>
            <a:fillRect l="-12000" r="-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CC7DC7-F08F-1D49-A36E-5C70AF75F255}">
      <dsp:nvSpPr>
        <dsp:cNvPr id="0" name=""/>
        <dsp:cNvSpPr/>
      </dsp:nvSpPr>
      <dsp:spPr>
        <a:xfrm rot="10800000">
          <a:off x="497008" y="1453134"/>
          <a:ext cx="1602977" cy="373002"/>
        </a:xfrm>
        <a:prstGeom prst="homePlate">
          <a:avLst/>
        </a:prstGeom>
        <a:solidFill>
          <a:schemeClr val="accent2">
            <a:hueOff val="-623727"/>
            <a:satOff val="-35969"/>
            <a:lumOff val="36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Pinterest</a:t>
          </a:r>
        </a:p>
      </dsp:txBody>
      <dsp:txXfrm rot="10800000">
        <a:off x="590258" y="1453134"/>
        <a:ext cx="1509727" cy="373002"/>
      </dsp:txXfrm>
    </dsp:sp>
    <dsp:sp modelId="{BF51FDEF-698B-DE40-985D-79789E09CC07}">
      <dsp:nvSpPr>
        <dsp:cNvPr id="0" name=""/>
        <dsp:cNvSpPr/>
      </dsp:nvSpPr>
      <dsp:spPr>
        <a:xfrm>
          <a:off x="310506" y="1453134"/>
          <a:ext cx="373002" cy="373002"/>
        </a:xfrm>
        <a:prstGeom prst="ellipse">
          <a:avLst/>
        </a:prstGeom>
        <a:blipFill>
          <a:blip xmlns:r="http://schemas.openxmlformats.org/officeDocument/2006/relationships" r:embed="rId4"/>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180FE9-A5FE-8B46-A4A7-D14DDEF94301}">
      <dsp:nvSpPr>
        <dsp:cNvPr id="0" name=""/>
        <dsp:cNvSpPr/>
      </dsp:nvSpPr>
      <dsp:spPr>
        <a:xfrm rot="10800000">
          <a:off x="497008" y="1937481"/>
          <a:ext cx="1602977" cy="373002"/>
        </a:xfrm>
        <a:prstGeom prst="homePlate">
          <a:avLst/>
        </a:prstGeom>
        <a:solidFill>
          <a:schemeClr val="accent2">
            <a:hueOff val="-831636"/>
            <a:satOff val="-47959"/>
            <a:lumOff val="49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Instagram</a:t>
          </a:r>
        </a:p>
      </dsp:txBody>
      <dsp:txXfrm rot="10800000">
        <a:off x="590258" y="1937481"/>
        <a:ext cx="1509727" cy="373002"/>
      </dsp:txXfrm>
    </dsp:sp>
    <dsp:sp modelId="{158C1DC5-C869-6D40-8B95-4DADD068BB25}">
      <dsp:nvSpPr>
        <dsp:cNvPr id="0" name=""/>
        <dsp:cNvSpPr/>
      </dsp:nvSpPr>
      <dsp:spPr>
        <a:xfrm>
          <a:off x="310506" y="1937481"/>
          <a:ext cx="373002" cy="373002"/>
        </a:xfrm>
        <a:prstGeom prst="ellipse">
          <a:avLst/>
        </a:prstGeom>
        <a:blipFill>
          <a:blip xmlns:r="http://schemas.openxmlformats.org/officeDocument/2006/relationships" r:embed="rId5"/>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F99836-B9CD-FB40-955B-D598D1D93FB2}">
      <dsp:nvSpPr>
        <dsp:cNvPr id="0" name=""/>
        <dsp:cNvSpPr/>
      </dsp:nvSpPr>
      <dsp:spPr>
        <a:xfrm rot="10800000">
          <a:off x="497008" y="2421827"/>
          <a:ext cx="1602977" cy="373002"/>
        </a:xfrm>
        <a:prstGeom prst="homePlate">
          <a:avLst/>
        </a:prstGeom>
        <a:solidFill>
          <a:schemeClr val="accent2">
            <a:hueOff val="-1039545"/>
            <a:satOff val="-59949"/>
            <a:lumOff val="61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WhatsApp</a:t>
          </a:r>
        </a:p>
      </dsp:txBody>
      <dsp:txXfrm rot="10800000">
        <a:off x="590258" y="2421827"/>
        <a:ext cx="1509727" cy="373002"/>
      </dsp:txXfrm>
    </dsp:sp>
    <dsp:sp modelId="{03FBD9A3-B602-4240-A80D-44C9925E03B3}">
      <dsp:nvSpPr>
        <dsp:cNvPr id="0" name=""/>
        <dsp:cNvSpPr/>
      </dsp:nvSpPr>
      <dsp:spPr>
        <a:xfrm>
          <a:off x="310506" y="2421827"/>
          <a:ext cx="373002" cy="373002"/>
        </a:xfrm>
        <a:prstGeom prst="ellipse">
          <a:avLst/>
        </a:prstGeom>
        <a:blipFill>
          <a:blip xmlns:r="http://schemas.openxmlformats.org/officeDocument/2006/relationships" r:embed="rId6"/>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9C6C85-5174-C841-81D2-BEEA00D353C8}">
      <dsp:nvSpPr>
        <dsp:cNvPr id="0" name=""/>
        <dsp:cNvSpPr/>
      </dsp:nvSpPr>
      <dsp:spPr>
        <a:xfrm rot="10800000">
          <a:off x="497008" y="2906173"/>
          <a:ext cx="1602977" cy="373002"/>
        </a:xfrm>
        <a:prstGeom prst="homePlate">
          <a:avLst/>
        </a:prstGeom>
        <a:solidFill>
          <a:schemeClr val="accent2">
            <a:hueOff val="-1247454"/>
            <a:satOff val="-71938"/>
            <a:lumOff val="73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WeChat</a:t>
          </a:r>
        </a:p>
      </dsp:txBody>
      <dsp:txXfrm rot="10800000">
        <a:off x="590258" y="2906173"/>
        <a:ext cx="1509727" cy="373002"/>
      </dsp:txXfrm>
    </dsp:sp>
    <dsp:sp modelId="{F80C991F-C3DA-F044-92C3-72146FA57B17}">
      <dsp:nvSpPr>
        <dsp:cNvPr id="0" name=""/>
        <dsp:cNvSpPr/>
      </dsp:nvSpPr>
      <dsp:spPr>
        <a:xfrm>
          <a:off x="310506" y="2906173"/>
          <a:ext cx="373002" cy="373002"/>
        </a:xfrm>
        <a:prstGeom prst="ellipse">
          <a:avLst/>
        </a:prstGeom>
        <a:blipFill>
          <a:blip xmlns:r="http://schemas.openxmlformats.org/officeDocument/2006/relationships" r:embed="rId7"/>
          <a:srcRect/>
          <a:stretch>
            <a:fillRect l="-9000" r="-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3F2050-EAE5-B047-BAEB-5624B7C31CC9}">
      <dsp:nvSpPr>
        <dsp:cNvPr id="0" name=""/>
        <dsp:cNvSpPr/>
      </dsp:nvSpPr>
      <dsp:spPr>
        <a:xfrm rot="10800000">
          <a:off x="497008" y="3390520"/>
          <a:ext cx="1602977" cy="373002"/>
        </a:xfrm>
        <a:prstGeom prst="homePlat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4484"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a:t>Telegram</a:t>
          </a:r>
        </a:p>
      </dsp:txBody>
      <dsp:txXfrm rot="10800000">
        <a:off x="590258" y="3390520"/>
        <a:ext cx="1509727" cy="373002"/>
      </dsp:txXfrm>
    </dsp:sp>
    <dsp:sp modelId="{4EE4D808-09E4-EF49-80D2-4BA53AC61DBC}">
      <dsp:nvSpPr>
        <dsp:cNvPr id="0" name=""/>
        <dsp:cNvSpPr/>
      </dsp:nvSpPr>
      <dsp:spPr>
        <a:xfrm>
          <a:off x="310506" y="3390520"/>
          <a:ext cx="373002" cy="373002"/>
        </a:xfrm>
        <a:prstGeom prst="ellipse">
          <a:avLst/>
        </a:prstGeom>
        <a:blipFill>
          <a:blip xmlns:r="http://schemas.openxmlformats.org/officeDocument/2006/relationships" r:embed="rId8"/>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9C6C85-5174-C841-81D2-BEEA00D353C8}">
      <dsp:nvSpPr>
        <dsp:cNvPr id="0" name=""/>
        <dsp:cNvSpPr/>
      </dsp:nvSpPr>
      <dsp:spPr>
        <a:xfrm rot="10800000">
          <a:off x="604128" y="885"/>
          <a:ext cx="1629217" cy="775048"/>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775"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kern="1200" dirty="0"/>
            <a:t>Website, Social Media, paid Search</a:t>
          </a:r>
        </a:p>
      </dsp:txBody>
      <dsp:txXfrm rot="10800000">
        <a:off x="797890" y="885"/>
        <a:ext cx="1435455" cy="775048"/>
      </dsp:txXfrm>
    </dsp:sp>
    <dsp:sp modelId="{F80C991F-C3DA-F044-92C3-72146FA57B17}">
      <dsp:nvSpPr>
        <dsp:cNvPr id="0" name=""/>
        <dsp:cNvSpPr/>
      </dsp:nvSpPr>
      <dsp:spPr>
        <a:xfrm>
          <a:off x="216604" y="885"/>
          <a:ext cx="775048" cy="775048"/>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3F2050-EAE5-B047-BAEB-5624B7C31CC9}">
      <dsp:nvSpPr>
        <dsp:cNvPr id="0" name=""/>
        <dsp:cNvSpPr/>
      </dsp:nvSpPr>
      <dsp:spPr>
        <a:xfrm rot="10800000">
          <a:off x="604128" y="1007291"/>
          <a:ext cx="1629217" cy="775048"/>
        </a:xfrm>
        <a:prstGeom prst="homePlate">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775"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kern="1200" dirty="0"/>
            <a:t>Landing Pages</a:t>
          </a:r>
        </a:p>
      </dsp:txBody>
      <dsp:txXfrm rot="10800000">
        <a:off x="797890" y="1007291"/>
        <a:ext cx="1435455" cy="775048"/>
      </dsp:txXfrm>
    </dsp:sp>
    <dsp:sp modelId="{4EE4D808-09E4-EF49-80D2-4BA53AC61DBC}">
      <dsp:nvSpPr>
        <dsp:cNvPr id="0" name=""/>
        <dsp:cNvSpPr/>
      </dsp:nvSpPr>
      <dsp:spPr>
        <a:xfrm>
          <a:off x="216604" y="1007291"/>
          <a:ext cx="775048" cy="775048"/>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2000" r="-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A8FE1D-BBDB-EB4A-8D00-47208BD1BB8A}">
      <dsp:nvSpPr>
        <dsp:cNvPr id="0" name=""/>
        <dsp:cNvSpPr/>
      </dsp:nvSpPr>
      <dsp:spPr>
        <a:xfrm rot="10800000">
          <a:off x="604128" y="2013697"/>
          <a:ext cx="1629217" cy="775048"/>
        </a:xfrm>
        <a:prstGeom prst="homePlate">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775"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kern="1200" dirty="0"/>
            <a:t>Social CRM for Lead capture</a:t>
          </a:r>
        </a:p>
      </dsp:txBody>
      <dsp:txXfrm rot="10800000">
        <a:off x="797890" y="2013697"/>
        <a:ext cx="1435455" cy="775048"/>
      </dsp:txXfrm>
    </dsp:sp>
    <dsp:sp modelId="{56FC551B-C0DB-9848-A48D-21101FDC94BB}">
      <dsp:nvSpPr>
        <dsp:cNvPr id="0" name=""/>
        <dsp:cNvSpPr/>
      </dsp:nvSpPr>
      <dsp:spPr>
        <a:xfrm>
          <a:off x="216604" y="2013697"/>
          <a:ext cx="775048" cy="775048"/>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2000" r="-1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0B2D4D-6DA7-764E-945A-65212AD8A8E7}">
      <dsp:nvSpPr>
        <dsp:cNvPr id="0" name=""/>
        <dsp:cNvSpPr/>
      </dsp:nvSpPr>
      <dsp:spPr>
        <a:xfrm rot="10800000">
          <a:off x="604128" y="3020103"/>
          <a:ext cx="1629217" cy="775048"/>
        </a:xfrm>
        <a:prstGeom prst="homePlat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775" tIns="45720" rIns="85344" bIns="45720" numCol="1" spcCol="1270" anchor="ctr" anchorCtr="0">
          <a:noAutofit/>
        </a:bodyPr>
        <a:lstStyle/>
        <a:p>
          <a:pPr marL="0" lvl="0" indent="0" algn="ctr" defTabSz="533400">
            <a:lnSpc>
              <a:spcPct val="90000"/>
            </a:lnSpc>
            <a:spcBef>
              <a:spcPct val="0"/>
            </a:spcBef>
            <a:spcAft>
              <a:spcPct val="35000"/>
            </a:spcAft>
            <a:buNone/>
          </a:pPr>
          <a:r>
            <a:rPr lang="en-US" sz="1200" kern="1200" dirty="0"/>
            <a:t>Marketing Automation for continuous engagement</a:t>
          </a:r>
        </a:p>
      </dsp:txBody>
      <dsp:txXfrm rot="10800000">
        <a:off x="797890" y="3020103"/>
        <a:ext cx="1435455" cy="775048"/>
      </dsp:txXfrm>
    </dsp:sp>
    <dsp:sp modelId="{844B0AF7-2288-EE4D-AA63-DCA487788BC5}">
      <dsp:nvSpPr>
        <dsp:cNvPr id="0" name=""/>
        <dsp:cNvSpPr/>
      </dsp:nvSpPr>
      <dsp:spPr>
        <a:xfrm>
          <a:off x="216604" y="3020103"/>
          <a:ext cx="775048" cy="775048"/>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90EC8C-4E44-4348-A564-9A916DC47556}" type="datetimeFigureOut">
              <a:rPr lang="en-US" smtClean="0"/>
              <a:pPr/>
              <a:t>3/17/2021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51060-80FD-6542-8C03-6446C232C44B}" type="slidenum">
              <a:rPr lang="en-US" smtClean="0"/>
              <a:pPr/>
              <a:t>‹#›</a:t>
            </a:fld>
            <a:endParaRPr lang="en-US"/>
          </a:p>
        </p:txBody>
      </p:sp>
    </p:spTree>
    <p:extLst>
      <p:ext uri="{BB962C8B-B14F-4D97-AF65-F5344CB8AC3E}">
        <p14:creationId xmlns:p14="http://schemas.microsoft.com/office/powerpoint/2010/main" xmlns="" val="2071693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to</a:t>
            </a:r>
            <a:r>
              <a:rPr lang="en-US" baseline="0" dirty="0"/>
              <a:t> get things started.</a:t>
            </a:r>
            <a:endParaRPr lang="en-US" dirty="0"/>
          </a:p>
        </p:txBody>
      </p:sp>
      <p:sp>
        <p:nvSpPr>
          <p:cNvPr id="4" name="Slide Number Placeholder 3"/>
          <p:cNvSpPr>
            <a:spLocks noGrp="1"/>
          </p:cNvSpPr>
          <p:nvPr>
            <p:ph type="sldNum" sz="quarter" idx="10"/>
          </p:nvPr>
        </p:nvSpPr>
        <p:spPr/>
        <p:txBody>
          <a:bodyPr/>
          <a:lstStyle/>
          <a:p>
            <a:fld id="{81BBA7EB-4E28-5743-A02A-CFEC01F871E5}" type="slidenum">
              <a:rPr lang="en-US" smtClean="0"/>
              <a:pPr/>
              <a:t>1</a:t>
            </a:fld>
            <a:endParaRPr lang="en-US" dirty="0"/>
          </a:p>
        </p:txBody>
      </p:sp>
    </p:spTree>
    <p:extLst>
      <p:ext uri="{BB962C8B-B14F-4D97-AF65-F5344CB8AC3E}">
        <p14:creationId xmlns:p14="http://schemas.microsoft.com/office/powerpoint/2010/main" xmlns="" val="1441624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CA381A-232C-B948-BBFE-63204142A2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4E2143C7-C5BB-544F-9C8A-5880AF96B3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ECF062C1-13E8-C646-8AD5-B93A28B523C2}"/>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5" name="Footer Placeholder 4">
            <a:extLst>
              <a:ext uri="{FF2B5EF4-FFF2-40B4-BE49-F238E27FC236}">
                <a16:creationId xmlns:a16="http://schemas.microsoft.com/office/drawing/2014/main" xmlns="" id="{B93C83C6-4B42-F942-8478-BBD68495C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A187243-E438-334F-9F9F-27FE649D15BA}"/>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2334148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908D0-2E51-AA4A-89EF-8170A3DDD9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CEDD416-841A-6B45-A9E7-A95A15B6AF9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8FF0967-1AC3-C245-9230-E87B5DC3D7EF}"/>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5" name="Footer Placeholder 4">
            <a:extLst>
              <a:ext uri="{FF2B5EF4-FFF2-40B4-BE49-F238E27FC236}">
                <a16:creationId xmlns:a16="http://schemas.microsoft.com/office/drawing/2014/main" xmlns="" id="{2E500074-E97D-2046-8606-A658F5E2C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EF68B99-4E31-E54E-8CB2-306E451DC59C}"/>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2679546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2B6A02-6BDD-6F49-87F2-CEA80A99BC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DCF5ABB2-73ED-6644-9980-5865E35411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9560B05C-332E-2F4D-9415-77E569C80ABD}"/>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5" name="Footer Placeholder 4">
            <a:extLst>
              <a:ext uri="{FF2B5EF4-FFF2-40B4-BE49-F238E27FC236}">
                <a16:creationId xmlns:a16="http://schemas.microsoft.com/office/drawing/2014/main" xmlns="" id="{F327C669-F55F-974A-8B42-CD99805EC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E58F47C-D431-CB41-BFA7-71EF4007A72B}"/>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2083066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D0DB76-DF69-0344-9530-DD161BC90B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3ADF9DF-CA61-E941-94AF-0CD3758E1E5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E9F4329-696C-AD40-B7E8-5BA11ED35C7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AEA37173-4B58-D34E-B0F4-EF401192B324}"/>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6" name="Footer Placeholder 5">
            <a:extLst>
              <a:ext uri="{FF2B5EF4-FFF2-40B4-BE49-F238E27FC236}">
                <a16:creationId xmlns:a16="http://schemas.microsoft.com/office/drawing/2014/main" xmlns="" id="{D4BF7123-3ACB-854D-BAB5-73E4F05A7B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412792F-4F1B-D940-9DE3-05F75009F863}"/>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3277447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90C795-3666-D74C-A42A-25F6676C2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BC54783-6F60-5F40-90C9-543189BC37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9AD47561-EC8D-1E40-9857-A1F40329C09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28DF281B-DA29-6748-A8FF-2A186F7E00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D5E690A6-3381-BD44-A300-EC370062271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CD93014E-F90C-1C4C-8990-09D1742A3015}"/>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8" name="Footer Placeholder 7">
            <a:extLst>
              <a:ext uri="{FF2B5EF4-FFF2-40B4-BE49-F238E27FC236}">
                <a16:creationId xmlns:a16="http://schemas.microsoft.com/office/drawing/2014/main" xmlns="" id="{27981C0B-496C-3D4A-8E56-9E028928A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D57A9D5-427B-0A48-A404-CB1A9881CAD2}"/>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1747947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293B38-D9B6-BB40-8867-FB57D23504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B2F52C0C-783A-F44B-B855-8DECE2D926CD}"/>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4" name="Footer Placeholder 3">
            <a:extLst>
              <a:ext uri="{FF2B5EF4-FFF2-40B4-BE49-F238E27FC236}">
                <a16:creationId xmlns:a16="http://schemas.microsoft.com/office/drawing/2014/main" xmlns="" id="{A51323C9-4783-A74B-BC10-1D5A16D4AC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F6149D22-DD67-FB40-9B06-E2B55A877D68}"/>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3602699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CE4CD9F-A450-A745-B632-49BDAA0CB759}"/>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3" name="Footer Placeholder 2">
            <a:extLst>
              <a:ext uri="{FF2B5EF4-FFF2-40B4-BE49-F238E27FC236}">
                <a16:creationId xmlns:a16="http://schemas.microsoft.com/office/drawing/2014/main" xmlns="" id="{31959B61-2B5A-954E-BC88-A28083BCC9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26AA9CC0-4FF7-7345-90A3-2AF6A2259738}"/>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2436771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3F3793-57B3-CA4A-A2B6-C08012A89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2AA35DEF-791F-E941-BED6-5C18991D39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808D2228-B6EE-A444-8410-11629C19C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9CDF8399-76CD-5440-98C7-D6B98AB8AC38}"/>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6" name="Footer Placeholder 5">
            <a:extLst>
              <a:ext uri="{FF2B5EF4-FFF2-40B4-BE49-F238E27FC236}">
                <a16:creationId xmlns:a16="http://schemas.microsoft.com/office/drawing/2014/main" xmlns="" id="{1E737B3B-EC3F-E549-86F3-9E657E19E2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9401AC8-C4EC-D94D-98F8-93DFD75EECE0}"/>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1784860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011EA2-1E99-1E42-8434-6D6A089279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71F9C188-6E06-124F-8176-8107CF244D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441108FA-DED5-9743-996F-4C2F820759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4A1D1B43-7CB3-7B4C-8E31-09E362D0DEA4}"/>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6" name="Footer Placeholder 5">
            <a:extLst>
              <a:ext uri="{FF2B5EF4-FFF2-40B4-BE49-F238E27FC236}">
                <a16:creationId xmlns:a16="http://schemas.microsoft.com/office/drawing/2014/main" xmlns="" id="{3A67C71F-8841-F84C-85E2-5A35B89F3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1342E4F-0992-DF48-8AEB-154094BBEC32}"/>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4243957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51B599-45EE-D84B-B3F3-C391BECBD0C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71159E54-F3E1-C04C-B3E5-E43E585017B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FF8CC87-4826-7145-BFB4-2D6C35519F42}"/>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5" name="Footer Placeholder 4">
            <a:extLst>
              <a:ext uri="{FF2B5EF4-FFF2-40B4-BE49-F238E27FC236}">
                <a16:creationId xmlns:a16="http://schemas.microsoft.com/office/drawing/2014/main" xmlns="" id="{D396053C-798B-4D4A-9DAF-597AA42F8C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3987EEF-3256-1940-AF7D-5DCBC5254148}"/>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448653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92A9D2D-4B6D-0143-B140-4DB6853C04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E1B1F7F4-4FE9-BD4B-BE16-0B1EC717450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13E430D-0184-4046-BC77-204E4159EB85}"/>
              </a:ext>
            </a:extLst>
          </p:cNvPr>
          <p:cNvSpPr>
            <a:spLocks noGrp="1"/>
          </p:cNvSpPr>
          <p:nvPr>
            <p:ph type="dt" sz="half" idx="10"/>
          </p:nvPr>
        </p:nvSpPr>
        <p:spPr/>
        <p:txBody>
          <a:bodyPr/>
          <a:lstStyle/>
          <a:p>
            <a:fld id="{7AE74252-DCC4-6A4D-A312-81B5FC16B608}" type="datetimeFigureOut">
              <a:rPr lang="en-US" smtClean="0"/>
              <a:pPr/>
              <a:t>3/17/2021</a:t>
            </a:fld>
            <a:endParaRPr lang="en-US"/>
          </a:p>
        </p:txBody>
      </p:sp>
      <p:sp>
        <p:nvSpPr>
          <p:cNvPr id="5" name="Footer Placeholder 4">
            <a:extLst>
              <a:ext uri="{FF2B5EF4-FFF2-40B4-BE49-F238E27FC236}">
                <a16:creationId xmlns:a16="http://schemas.microsoft.com/office/drawing/2014/main" xmlns="" id="{E0066BF8-6C6F-CA4A-B5FF-EA6D9071DC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2EC22F8-78DB-BB45-8941-E435ADEF84B1}"/>
              </a:ext>
            </a:extLst>
          </p:cNvPr>
          <p:cNvSpPr>
            <a:spLocks noGrp="1"/>
          </p:cNvSpPr>
          <p:nvPr>
            <p:ph type="sldNum" sz="quarter" idx="12"/>
          </p:nvPr>
        </p:nvSpPr>
        <p:spPr/>
        <p:txBody>
          <a:body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3737891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ection Header">
    <p:bg>
      <p:bgPr>
        <a:blipFill rotWithShape="1">
          <a:blip r:embed="rId2" cstate="email">
            <a:extLst>
              <a:ext uri="{28A0092B-C50C-407E-A947-70E740481C1C}">
                <a14:useLocalDpi xmlns:a14="http://schemas.microsoft.com/office/drawing/2010/main" xmlns=""/>
              </a:ext>
            </a:extLst>
          </a:blip>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1" hasCustomPrompt="1"/>
          </p:nvPr>
        </p:nvSpPr>
        <p:spPr>
          <a:xfrm>
            <a:off x="1507067" y="2774071"/>
            <a:ext cx="1380067" cy="1163638"/>
          </a:xfrm>
        </p:spPr>
        <p:txBody>
          <a:bodyPr anchor="ctr">
            <a:noAutofit/>
          </a:bodyPr>
          <a:lstStyle>
            <a:lvl1pPr marL="0" indent="0">
              <a:buNone/>
              <a:defRPr sz="9800" b="0" i="0">
                <a:solidFill>
                  <a:schemeClr val="bg1"/>
                </a:solidFill>
                <a:latin typeface="+mj-lt"/>
              </a:defRPr>
            </a:lvl1pPr>
          </a:lstStyle>
          <a:p>
            <a:pPr lvl="0"/>
            <a:r>
              <a:rPr lang="en-US" dirty="0"/>
              <a:t>1</a:t>
            </a:r>
          </a:p>
        </p:txBody>
      </p:sp>
      <p:sp>
        <p:nvSpPr>
          <p:cNvPr id="13" name="Text Placeholder 12"/>
          <p:cNvSpPr>
            <a:spLocks noGrp="1"/>
          </p:cNvSpPr>
          <p:nvPr>
            <p:ph type="body" sz="quarter" idx="14" hasCustomPrompt="1"/>
          </p:nvPr>
        </p:nvSpPr>
        <p:spPr>
          <a:xfrm>
            <a:off x="2887134" y="2774071"/>
            <a:ext cx="8699500" cy="1163638"/>
          </a:xfrm>
        </p:spPr>
        <p:txBody>
          <a:bodyPr anchor="ctr">
            <a:noAutofit/>
          </a:bodyPr>
          <a:lstStyle>
            <a:lvl1pPr marL="0" indent="0">
              <a:buNone/>
              <a:defRPr sz="4000" b="0" i="0">
                <a:solidFill>
                  <a:srgbClr val="FFFFFF"/>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ONE EXTENDED TITLE</a:t>
            </a:r>
          </a:p>
        </p:txBody>
      </p:sp>
    </p:spTree>
    <p:extLst>
      <p:ext uri="{BB962C8B-B14F-4D97-AF65-F5344CB8AC3E}">
        <p14:creationId xmlns:p14="http://schemas.microsoft.com/office/powerpoint/2010/main" xmlns="" val="2888757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blipFill rotWithShape="1">
          <a:blip r:embed="rId2" cstate="email">
            <a:extLst>
              <a:ext uri="{28A0092B-C50C-407E-A947-70E740481C1C}">
                <a14:useLocalDpi xmlns:a14="http://schemas.microsoft.com/office/drawing/2010/main" xmlns=""/>
              </a:ext>
            </a:extLst>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30699945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mpty Light">
    <p:bg>
      <p:bgPr>
        <a:blipFill rotWithShape="1">
          <a:blip r:embed="rId2" cstate="email">
            <a:extLst>
              <a:ext uri="{28A0092B-C50C-407E-A947-70E740481C1C}">
                <a14:useLocalDpi xmlns:a14="http://schemas.microsoft.com/office/drawing/2010/main" xmlns=""/>
              </a:ext>
            </a:extLst>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06170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4113FEB-D8DF-444C-8F30-AF7429F889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87468B7-7D49-194F-801D-A3ABD44233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B61BCBA-5F50-BE4F-99B0-3E085255EA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E74252-DCC4-6A4D-A312-81B5FC16B608}" type="datetimeFigureOut">
              <a:rPr lang="en-US" smtClean="0"/>
              <a:pPr/>
              <a:t>3/17/2021</a:t>
            </a:fld>
            <a:endParaRPr lang="en-US"/>
          </a:p>
        </p:txBody>
      </p:sp>
      <p:sp>
        <p:nvSpPr>
          <p:cNvPr id="5" name="Footer Placeholder 4">
            <a:extLst>
              <a:ext uri="{FF2B5EF4-FFF2-40B4-BE49-F238E27FC236}">
                <a16:creationId xmlns:a16="http://schemas.microsoft.com/office/drawing/2014/main" xmlns="" id="{75393454-D5DB-1B40-BABF-436AECA310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4F48AACA-218E-0F4E-921D-8718B35E63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B8F0AB-0568-B74A-93C6-72A53A9367A1}" type="slidenum">
              <a:rPr lang="en-US" smtClean="0"/>
              <a:pPr/>
              <a:t>‹#›</a:t>
            </a:fld>
            <a:endParaRPr lang="en-US"/>
          </a:p>
        </p:txBody>
      </p:sp>
    </p:spTree>
    <p:extLst>
      <p:ext uri="{BB962C8B-B14F-4D97-AF65-F5344CB8AC3E}">
        <p14:creationId xmlns:p14="http://schemas.microsoft.com/office/powerpoint/2010/main" xmlns="" val="2349958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1" Type="http://schemas.microsoft.com/office/2007/relationships/diagramDrawing" Target="../diagrams/drawing4.xml"/><Relationship Id="rId2" Type="http://schemas.openxmlformats.org/officeDocument/2006/relationships/image" Target="../media/image6.jpeg"/><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8" Type="http://schemas.openxmlformats.org/officeDocument/2006/relationships/image" Target="../media/image20.tiff"/><Relationship Id="rId3" Type="http://schemas.openxmlformats.org/officeDocument/2006/relationships/image" Target="../media/image7.png"/><Relationship Id="rId7" Type="http://schemas.openxmlformats.org/officeDocument/2006/relationships/image" Target="../media/image19.tiff"/><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8.tiff"/><Relationship Id="rId11" Type="http://schemas.openxmlformats.org/officeDocument/2006/relationships/image" Target="../media/image23.png"/><Relationship Id="rId5" Type="http://schemas.openxmlformats.org/officeDocument/2006/relationships/image" Target="../media/image17.tiff"/><Relationship Id="rId10" Type="http://schemas.openxmlformats.org/officeDocument/2006/relationships/image" Target="../media/image22.jpeg"/><Relationship Id="rId4" Type="http://schemas.openxmlformats.org/officeDocument/2006/relationships/image" Target="../media/image9.png"/><Relationship Id="rId9" Type="http://schemas.openxmlformats.org/officeDocument/2006/relationships/image" Target="../media/image21.tiff"/></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1"/>
          <p:cNvSpPr txBox="1">
            <a:spLocks/>
          </p:cNvSpPr>
          <p:nvPr/>
        </p:nvSpPr>
        <p:spPr>
          <a:xfrm>
            <a:off x="219023" y="1619417"/>
            <a:ext cx="10744200" cy="1263483"/>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4000" dirty="0" smtClean="0">
                <a:solidFill>
                  <a:schemeClr val="bg1"/>
                </a:solidFill>
                <a:latin typeface="Franklin Gothic Medium" charset="0"/>
                <a:ea typeface="Franklin Gothic Medium" charset="0"/>
                <a:cs typeface="Franklin Gothic Medium" charset="0"/>
              </a:rPr>
              <a:t>HELPING ORGANIZATIONS </a:t>
            </a:r>
          </a:p>
          <a:p>
            <a:pPr marL="0" indent="0">
              <a:buNone/>
            </a:pPr>
            <a:r>
              <a:rPr lang="en-US" sz="4000" dirty="0" smtClean="0">
                <a:solidFill>
                  <a:schemeClr val="bg1"/>
                </a:solidFill>
                <a:latin typeface="Franklin Gothic Medium" charset="0"/>
                <a:ea typeface="Franklin Gothic Medium" charset="0"/>
                <a:cs typeface="Franklin Gothic Medium" charset="0"/>
              </a:rPr>
              <a:t>GROW WITH DIGITAL</a:t>
            </a:r>
            <a:endParaRPr lang="en-US" sz="4000" dirty="0">
              <a:solidFill>
                <a:schemeClr val="bg1"/>
              </a:solidFill>
              <a:latin typeface="Franklin Gothic Medium" charset="0"/>
              <a:ea typeface="Franklin Gothic Medium" charset="0"/>
              <a:cs typeface="Franklin Gothic Medium" charset="0"/>
            </a:endParaRPr>
          </a:p>
        </p:txBody>
      </p:sp>
      <p:sp>
        <p:nvSpPr>
          <p:cNvPr id="10" name="Text Placeholder 5"/>
          <p:cNvSpPr txBox="1">
            <a:spLocks/>
          </p:cNvSpPr>
          <p:nvPr/>
        </p:nvSpPr>
        <p:spPr>
          <a:xfrm>
            <a:off x="219023" y="3200400"/>
            <a:ext cx="9040858" cy="841027"/>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b="1" dirty="0" smtClean="0">
                <a:solidFill>
                  <a:schemeClr val="accent2"/>
                </a:solidFill>
                <a:latin typeface="Franklin Gothic Book" pitchFamily="34" charset="0"/>
              </a:rPr>
              <a:t>CASE STUDY ON E-COMMERCE PROJECT</a:t>
            </a:r>
            <a:endParaRPr lang="en-US" sz="2400" b="1" dirty="0">
              <a:solidFill>
                <a:schemeClr val="bg1"/>
              </a:solidFill>
              <a:latin typeface="Franklin Gothic Book" pitchFamily="34" charset="0"/>
              <a:ea typeface="Franklin Gothic Book" charset="0"/>
              <a:cs typeface="Franklin Gothic Book" charset="0"/>
            </a:endParaRPr>
          </a:p>
        </p:txBody>
      </p:sp>
      <p:pic>
        <p:nvPicPr>
          <p:cNvPr id="7" name="Picture 6" descr="A close up of a logo&#10;&#10;Description automatically generated">
            <a:extLst>
              <a:ext uri="{FF2B5EF4-FFF2-40B4-BE49-F238E27FC236}">
                <a16:creationId xmlns:a16="http://schemas.microsoft.com/office/drawing/2014/main" xmlns="" id="{F3F578C8-2861-1044-BF25-2A44E73AECE1}"/>
              </a:ext>
            </a:extLst>
          </p:cNvPr>
          <p:cNvPicPr>
            <a:picLocks noChangeAspect="1"/>
          </p:cNvPicPr>
          <p:nvPr/>
        </p:nvPicPr>
        <p:blipFill rotWithShape="1">
          <a:blip r:embed="rId3">
            <a:duotone>
              <a:prstClr val="black"/>
              <a:schemeClr val="tx2">
                <a:tint val="45000"/>
                <a:satMod val="400000"/>
              </a:schemeClr>
            </a:duotone>
            <a:alphaModFix amt="25000"/>
            <a:extLst/>
          </a:blip>
          <a:srcRect l="4444" r="48859" b="1"/>
          <a:stretch/>
        </p:blipFill>
        <p:spPr>
          <a:xfrm>
            <a:off x="8115214" y="0"/>
            <a:ext cx="4076786" cy="4753631"/>
          </a:xfrm>
          <a:prstGeom prst="rect">
            <a:avLst/>
          </a:prstGeom>
        </p:spPr>
      </p:pic>
      <p:pic>
        <p:nvPicPr>
          <p:cNvPr id="8" name="Picture 7" descr="A close up of a logo&#10;&#10;Description automatically generated">
            <a:extLst>
              <a:ext uri="{FF2B5EF4-FFF2-40B4-BE49-F238E27FC236}">
                <a16:creationId xmlns:a16="http://schemas.microsoft.com/office/drawing/2014/main" xmlns="" id="{F3F578C8-2861-1044-BF25-2A44E73AECE1}"/>
              </a:ext>
            </a:extLst>
          </p:cNvPr>
          <p:cNvPicPr>
            <a:picLocks noChangeAspect="1"/>
          </p:cNvPicPr>
          <p:nvPr/>
        </p:nvPicPr>
        <p:blipFill rotWithShape="1">
          <a:blip r:embed="rId3">
            <a:duotone>
              <a:prstClr val="black"/>
              <a:schemeClr val="tx2">
                <a:tint val="45000"/>
                <a:satMod val="400000"/>
              </a:schemeClr>
            </a:duotone>
            <a:alphaModFix amt="25000"/>
            <a:extLst/>
          </a:blip>
          <a:srcRect l="52691" t="27020" r="1" b="29382"/>
          <a:stretch/>
        </p:blipFill>
        <p:spPr>
          <a:xfrm>
            <a:off x="8115214" y="4746302"/>
            <a:ext cx="4076786" cy="2111698"/>
          </a:xfrm>
          <a:prstGeom prst="rect">
            <a:avLst/>
          </a:prstGeom>
        </p:spPr>
      </p:pic>
      <p:sp>
        <p:nvSpPr>
          <p:cNvPr id="4" name="TextBox 3">
            <a:extLst>
              <a:ext uri="{FF2B5EF4-FFF2-40B4-BE49-F238E27FC236}">
                <a16:creationId xmlns:a16="http://schemas.microsoft.com/office/drawing/2014/main" xmlns="" id="{FEA0A845-623E-D249-961B-691423D41C90}"/>
              </a:ext>
            </a:extLst>
          </p:cNvPr>
          <p:cNvSpPr txBox="1"/>
          <p:nvPr/>
        </p:nvSpPr>
        <p:spPr>
          <a:xfrm>
            <a:off x="219023" y="5947991"/>
            <a:ext cx="2725361" cy="523220"/>
          </a:xfrm>
          <a:prstGeom prst="rect">
            <a:avLst/>
          </a:prstGeom>
          <a:noFill/>
        </p:spPr>
        <p:txBody>
          <a:bodyPr wrap="none" rtlCol="0">
            <a:spAutoFit/>
          </a:bodyPr>
          <a:lstStyle/>
          <a:p>
            <a:r>
              <a:rPr lang="en-US" sz="2800" b="1" dirty="0" smtClean="0">
                <a:solidFill>
                  <a:schemeClr val="bg1">
                    <a:lumMod val="95000"/>
                  </a:schemeClr>
                </a:solidFill>
                <a:latin typeface="Franklin Gothic Book" panose="020B0503020102020204" pitchFamily="34" charset="0"/>
              </a:rPr>
              <a:t>17</a:t>
            </a:r>
            <a:r>
              <a:rPr lang="en-US" sz="2800" b="1" dirty="0" smtClean="0">
                <a:solidFill>
                  <a:schemeClr val="bg1">
                    <a:lumMod val="95000"/>
                  </a:schemeClr>
                </a:solidFill>
                <a:latin typeface="Franklin Gothic Book" panose="020B0503020102020204" pitchFamily="34" charset="0"/>
              </a:rPr>
              <a:t>-MARCH-2021</a:t>
            </a:r>
            <a:endParaRPr lang="en-US" sz="2800" b="1" dirty="0">
              <a:solidFill>
                <a:schemeClr val="bg1">
                  <a:lumMod val="95000"/>
                </a:schemeClr>
              </a:solidFill>
              <a:latin typeface="Franklin Gothic Book" panose="020B0503020102020204" pitchFamily="34" charset="0"/>
            </a:endParaRPr>
          </a:p>
        </p:txBody>
      </p:sp>
    </p:spTree>
    <p:extLst>
      <p:ext uri="{BB962C8B-B14F-4D97-AF65-F5344CB8AC3E}">
        <p14:creationId xmlns:p14="http://schemas.microsoft.com/office/powerpoint/2010/main" xmlns="" val="7881906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7B7C97A7-F73A-C74E-8D92-5BFA01C23187}"/>
              </a:ext>
            </a:extLst>
          </p:cNvPr>
          <p:cNvPicPr>
            <a:picLocks noChangeAspect="1"/>
          </p:cNvPicPr>
          <p:nvPr/>
        </p:nvPicPr>
        <p:blipFill>
          <a:blip r:embed="rId2"/>
          <a:stretch>
            <a:fillRect/>
          </a:stretch>
        </p:blipFill>
        <p:spPr>
          <a:xfrm>
            <a:off x="9639280" y="6437913"/>
            <a:ext cx="2552700" cy="431800"/>
          </a:xfrm>
          <a:prstGeom prst="rect">
            <a:avLst/>
          </a:prstGeom>
        </p:spPr>
      </p:pic>
      <p:sp>
        <p:nvSpPr>
          <p:cNvPr id="9" name="Rectangle 8"/>
          <p:cNvSpPr/>
          <p:nvPr/>
        </p:nvSpPr>
        <p:spPr>
          <a:xfrm>
            <a:off x="87084" y="116118"/>
            <a:ext cx="12003314" cy="627439"/>
          </a:xfrm>
          <a:prstGeom prst="rect">
            <a:avLst/>
          </a:prstGeom>
          <a:solidFill>
            <a:srgbClr val="4040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smtClean="0">
                <a:latin typeface="Franklin Gothic Book" pitchFamily="34" charset="0"/>
              </a:rPr>
              <a:t>TECHNOLOGY &amp; MARKETING METHODOLOGIES APPLIED FOR THE BUSINESS</a:t>
            </a:r>
            <a:endParaRPr lang="en-IN" sz="2800" b="1" dirty="0">
              <a:latin typeface="Franklin Gothic Book" pitchFamily="34" charset="0"/>
            </a:endParaRPr>
          </a:p>
        </p:txBody>
      </p:sp>
      <p:sp>
        <p:nvSpPr>
          <p:cNvPr id="12" name="Frame 11"/>
          <p:cNvSpPr/>
          <p:nvPr/>
        </p:nvSpPr>
        <p:spPr>
          <a:xfrm>
            <a:off x="589973" y="867857"/>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13" name="Rectangle 12"/>
          <p:cNvSpPr/>
          <p:nvPr/>
        </p:nvSpPr>
        <p:spPr>
          <a:xfrm>
            <a:off x="928951" y="987287"/>
            <a:ext cx="2419252" cy="70788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E-COMMERCE DEVELOPMENT</a:t>
            </a:r>
            <a:endParaRPr kumimoji="0" lang="en-IN" sz="2000" b="1" i="0" u="none" strike="noStrike" kern="0" cap="none" spc="0" normalizeH="0" baseline="0" noProof="0" dirty="0">
              <a:ln>
                <a:noFill/>
              </a:ln>
              <a:effectLst/>
              <a:uLnTx/>
              <a:uFillTx/>
              <a:latin typeface="Franklin Gothic Book" pitchFamily="34" charset="0"/>
            </a:endParaRPr>
          </a:p>
        </p:txBody>
      </p:sp>
      <p:sp>
        <p:nvSpPr>
          <p:cNvPr id="14" name="Frame 13"/>
          <p:cNvSpPr/>
          <p:nvPr/>
        </p:nvSpPr>
        <p:spPr>
          <a:xfrm>
            <a:off x="4392716" y="867857"/>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15" name="Rectangle 14"/>
          <p:cNvSpPr/>
          <p:nvPr/>
        </p:nvSpPr>
        <p:spPr>
          <a:xfrm>
            <a:off x="4731694" y="1180763"/>
            <a:ext cx="2799164"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kern="0" dirty="0" smtClean="0">
                <a:latin typeface="Franklin Gothic Book" pitchFamily="34" charset="0"/>
              </a:rPr>
              <a:t>LOGISTICS SETUPS</a:t>
            </a:r>
            <a:endParaRPr kumimoji="0" lang="en-IN" sz="2000" b="1" i="0" u="none" strike="noStrike" kern="0" cap="none" spc="0" normalizeH="0" baseline="0" noProof="0" dirty="0">
              <a:ln>
                <a:noFill/>
              </a:ln>
              <a:effectLst/>
              <a:uLnTx/>
              <a:uFillTx/>
              <a:latin typeface="Franklin Gothic Book" pitchFamily="34" charset="0"/>
            </a:endParaRPr>
          </a:p>
        </p:txBody>
      </p:sp>
      <p:sp>
        <p:nvSpPr>
          <p:cNvPr id="16" name="Frame 15"/>
          <p:cNvSpPr/>
          <p:nvPr/>
        </p:nvSpPr>
        <p:spPr>
          <a:xfrm>
            <a:off x="8166430" y="867857"/>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17" name="Rectangle 16"/>
          <p:cNvSpPr/>
          <p:nvPr/>
        </p:nvSpPr>
        <p:spPr>
          <a:xfrm>
            <a:off x="8505408" y="1180763"/>
            <a:ext cx="2744662"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VIDEO</a:t>
            </a:r>
            <a:r>
              <a:rPr kumimoji="0" lang="en-US" sz="2000" b="1" i="0" u="none" strike="noStrike" kern="0" cap="none" spc="0" normalizeH="0" noProof="0" dirty="0" smtClean="0">
                <a:ln>
                  <a:noFill/>
                </a:ln>
                <a:effectLst/>
                <a:uLnTx/>
                <a:uFillTx/>
                <a:latin typeface="Franklin Gothic Book" pitchFamily="34" charset="0"/>
              </a:rPr>
              <a:t> VIEWS</a:t>
            </a:r>
            <a:endParaRPr kumimoji="0" lang="en-IN" sz="2000" b="1" i="0" u="none" strike="noStrike" kern="0" cap="none" spc="0" normalizeH="0" baseline="0" noProof="0" dirty="0">
              <a:ln>
                <a:noFill/>
              </a:ln>
              <a:effectLst/>
              <a:uLnTx/>
              <a:uFillTx/>
              <a:latin typeface="Franklin Gothic Book" pitchFamily="34" charset="0"/>
            </a:endParaRPr>
          </a:p>
        </p:txBody>
      </p:sp>
      <p:sp>
        <p:nvSpPr>
          <p:cNvPr id="18" name="Frame 17"/>
          <p:cNvSpPr/>
          <p:nvPr/>
        </p:nvSpPr>
        <p:spPr>
          <a:xfrm>
            <a:off x="589973" y="3139121"/>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19" name="Rectangle 18"/>
          <p:cNvSpPr/>
          <p:nvPr/>
        </p:nvSpPr>
        <p:spPr>
          <a:xfrm>
            <a:off x="928950" y="3452027"/>
            <a:ext cx="2599695"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BRAND</a:t>
            </a:r>
            <a:r>
              <a:rPr kumimoji="0" lang="en-US" sz="2000" b="1" i="0" u="none" strike="noStrike" kern="0" cap="none" spc="0" normalizeH="0" noProof="0" dirty="0" smtClean="0">
                <a:ln>
                  <a:noFill/>
                </a:ln>
                <a:effectLst/>
                <a:uLnTx/>
                <a:uFillTx/>
                <a:latin typeface="Franklin Gothic Book" pitchFamily="34" charset="0"/>
              </a:rPr>
              <a:t> RELAUNCH</a:t>
            </a:r>
            <a:endParaRPr kumimoji="0" lang="en-IN" sz="2000" b="1" i="0" u="none" strike="noStrike" kern="0" cap="none" spc="0" normalizeH="0" baseline="0" noProof="0" dirty="0">
              <a:ln>
                <a:noFill/>
              </a:ln>
              <a:effectLst/>
              <a:uLnTx/>
              <a:uFillTx/>
              <a:latin typeface="Franklin Gothic Book" pitchFamily="34" charset="0"/>
            </a:endParaRPr>
          </a:p>
        </p:txBody>
      </p:sp>
      <p:sp>
        <p:nvSpPr>
          <p:cNvPr id="20" name="Frame 19"/>
          <p:cNvSpPr/>
          <p:nvPr/>
        </p:nvSpPr>
        <p:spPr>
          <a:xfrm>
            <a:off x="4392716" y="3139121"/>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29" name="Rectangle 28"/>
          <p:cNvSpPr/>
          <p:nvPr/>
        </p:nvSpPr>
        <p:spPr>
          <a:xfrm>
            <a:off x="4731693" y="3440863"/>
            <a:ext cx="3017013"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kern="0" dirty="0" smtClean="0">
                <a:latin typeface="Franklin Gothic Book" pitchFamily="34" charset="0"/>
              </a:rPr>
              <a:t>ENQUIRY GENERATION</a:t>
            </a:r>
            <a:endParaRPr kumimoji="0" lang="en-IN" sz="2000" b="1" i="0" u="none" strike="noStrike" kern="0" cap="none" spc="0" normalizeH="0" baseline="0" noProof="0" dirty="0">
              <a:ln>
                <a:noFill/>
              </a:ln>
              <a:effectLst/>
              <a:uLnTx/>
              <a:uFillTx/>
              <a:latin typeface="Franklin Gothic Book" pitchFamily="34" charset="0"/>
            </a:endParaRPr>
          </a:p>
        </p:txBody>
      </p:sp>
      <p:sp>
        <p:nvSpPr>
          <p:cNvPr id="30" name="Frame 29"/>
          <p:cNvSpPr/>
          <p:nvPr/>
        </p:nvSpPr>
        <p:spPr>
          <a:xfrm>
            <a:off x="8166430" y="3139121"/>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31" name="Rectangle 30"/>
          <p:cNvSpPr/>
          <p:nvPr/>
        </p:nvSpPr>
        <p:spPr>
          <a:xfrm>
            <a:off x="8505408" y="3452027"/>
            <a:ext cx="2744662"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ONLINE UNIVERSITY</a:t>
            </a:r>
            <a:endParaRPr kumimoji="0" lang="en-IN" sz="2000" b="1" i="0" u="none" strike="noStrike" kern="0" cap="none" spc="0" normalizeH="0" baseline="0" noProof="0" dirty="0">
              <a:ln>
                <a:noFill/>
              </a:ln>
              <a:effectLst/>
              <a:uLnTx/>
              <a:uFillTx/>
              <a:latin typeface="Franklin Gothic Book" pitchFamily="34" charset="0"/>
            </a:endParaRPr>
          </a:p>
        </p:txBody>
      </p:sp>
      <p:sp>
        <p:nvSpPr>
          <p:cNvPr id="32" name="Frame 31"/>
          <p:cNvSpPr/>
          <p:nvPr/>
        </p:nvSpPr>
        <p:spPr>
          <a:xfrm>
            <a:off x="589973" y="1996841"/>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33" name="Rectangle 32"/>
          <p:cNvSpPr/>
          <p:nvPr/>
        </p:nvSpPr>
        <p:spPr>
          <a:xfrm>
            <a:off x="788275" y="2286301"/>
            <a:ext cx="3463765"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OCCASIONAL MARKETING </a:t>
            </a:r>
            <a:endParaRPr kumimoji="0" lang="en-IN" sz="2000" b="1" i="0" u="none" strike="noStrike" kern="0" cap="none" spc="0" normalizeH="0" baseline="0" noProof="0" dirty="0">
              <a:ln>
                <a:noFill/>
              </a:ln>
              <a:effectLst/>
              <a:uLnTx/>
              <a:uFillTx/>
              <a:latin typeface="Franklin Gothic Book" pitchFamily="34" charset="0"/>
            </a:endParaRPr>
          </a:p>
        </p:txBody>
      </p:sp>
      <p:sp>
        <p:nvSpPr>
          <p:cNvPr id="34" name="Frame 33"/>
          <p:cNvSpPr/>
          <p:nvPr/>
        </p:nvSpPr>
        <p:spPr>
          <a:xfrm>
            <a:off x="4392716" y="1996841"/>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35" name="Rectangle 34"/>
          <p:cNvSpPr/>
          <p:nvPr/>
        </p:nvSpPr>
        <p:spPr>
          <a:xfrm>
            <a:off x="4731694" y="2180794"/>
            <a:ext cx="2137124" cy="707886"/>
          </a:xfrm>
          <a:prstGeom prst="rect">
            <a:avLst/>
          </a:prstGeom>
        </p:spPr>
        <p:txBody>
          <a:bodyPr wrap="square">
            <a:spAutoFit/>
          </a:bodyPr>
          <a:lstStyle/>
          <a:p>
            <a:pPr lvl="0">
              <a:defRPr/>
            </a:pPr>
            <a:r>
              <a:rPr lang="en-US" sz="2000" b="1" kern="0" dirty="0" smtClean="0">
                <a:latin typeface="Franklin Gothic Book" pitchFamily="34" charset="0"/>
              </a:rPr>
              <a:t>REAL ESTATE CONVERSION</a:t>
            </a:r>
            <a:endParaRPr kumimoji="0" lang="en-IN" sz="2000" b="1" i="0" u="none" strike="noStrike" kern="0" cap="none" spc="0" normalizeH="0" baseline="0" noProof="0" dirty="0">
              <a:ln>
                <a:noFill/>
              </a:ln>
              <a:effectLst/>
              <a:uLnTx/>
              <a:uFillTx/>
              <a:latin typeface="Franklin Gothic Book" pitchFamily="34" charset="0"/>
            </a:endParaRPr>
          </a:p>
        </p:txBody>
      </p:sp>
      <p:sp>
        <p:nvSpPr>
          <p:cNvPr id="36" name="Frame 35"/>
          <p:cNvSpPr/>
          <p:nvPr/>
        </p:nvSpPr>
        <p:spPr>
          <a:xfrm>
            <a:off x="8166430" y="1996841"/>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37" name="Rectangle 36"/>
          <p:cNvSpPr/>
          <p:nvPr/>
        </p:nvSpPr>
        <p:spPr>
          <a:xfrm>
            <a:off x="8505408" y="2309747"/>
            <a:ext cx="2124299"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kern="0" dirty="0" smtClean="0">
                <a:latin typeface="Franklin Gothic Book" pitchFamily="34" charset="0"/>
              </a:rPr>
              <a:t>E-COM SALES</a:t>
            </a:r>
            <a:endParaRPr kumimoji="0" lang="en-IN" sz="2000" b="1" i="0" u="none" strike="noStrike" kern="0" cap="none" spc="0" normalizeH="0" baseline="0" noProof="0" dirty="0">
              <a:ln>
                <a:noFill/>
              </a:ln>
              <a:effectLst/>
              <a:uLnTx/>
              <a:uFillTx/>
              <a:latin typeface="Franklin Gothic Book" pitchFamily="34" charset="0"/>
            </a:endParaRPr>
          </a:p>
        </p:txBody>
      </p:sp>
      <p:sp>
        <p:nvSpPr>
          <p:cNvPr id="38" name="Frame 37"/>
          <p:cNvSpPr/>
          <p:nvPr/>
        </p:nvSpPr>
        <p:spPr>
          <a:xfrm>
            <a:off x="589973" y="4282505"/>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39" name="Rectangle 38"/>
          <p:cNvSpPr/>
          <p:nvPr/>
        </p:nvSpPr>
        <p:spPr>
          <a:xfrm>
            <a:off x="917227" y="4583688"/>
            <a:ext cx="3017013"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kern="0" dirty="0" smtClean="0">
                <a:latin typeface="Franklin Gothic Book" pitchFamily="34" charset="0"/>
              </a:rPr>
              <a:t>LAUNCH &amp; ACTIVATION</a:t>
            </a:r>
            <a:endParaRPr kumimoji="0" lang="en-IN" sz="2000" b="1" i="0" u="none" strike="noStrike" kern="0" cap="none" spc="0" normalizeH="0" baseline="0" noProof="0" dirty="0">
              <a:ln>
                <a:noFill/>
              </a:ln>
              <a:effectLst/>
              <a:uLnTx/>
              <a:uFillTx/>
              <a:latin typeface="Franklin Gothic Book" pitchFamily="34" charset="0"/>
            </a:endParaRPr>
          </a:p>
        </p:txBody>
      </p:sp>
      <p:sp>
        <p:nvSpPr>
          <p:cNvPr id="40" name="Frame 39"/>
          <p:cNvSpPr/>
          <p:nvPr/>
        </p:nvSpPr>
        <p:spPr>
          <a:xfrm>
            <a:off x="4392716" y="4282505"/>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a:ln>
                <a:noFill/>
              </a:ln>
              <a:effectLst/>
              <a:uLnTx/>
              <a:uFillTx/>
              <a:latin typeface="Franklin Gothic Book" pitchFamily="34" charset="0"/>
            </a:endParaRPr>
          </a:p>
        </p:txBody>
      </p:sp>
      <p:sp>
        <p:nvSpPr>
          <p:cNvPr id="41" name="Frame 40"/>
          <p:cNvSpPr/>
          <p:nvPr/>
        </p:nvSpPr>
        <p:spPr>
          <a:xfrm>
            <a:off x="8166430" y="4282505"/>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42" name="Rectangle 41"/>
          <p:cNvSpPr/>
          <p:nvPr/>
        </p:nvSpPr>
        <p:spPr>
          <a:xfrm>
            <a:off x="8505408" y="4595411"/>
            <a:ext cx="2744662"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kern="0" dirty="0" smtClean="0">
                <a:latin typeface="Franklin Gothic Book" pitchFamily="34" charset="0"/>
              </a:rPr>
              <a:t>CAUSE MARKETING</a:t>
            </a:r>
            <a:endParaRPr kumimoji="0" lang="en-IN" sz="2000" b="1" i="0" u="none" strike="noStrike" kern="0" cap="none" spc="0" normalizeH="0" baseline="0" noProof="0" dirty="0">
              <a:ln>
                <a:noFill/>
              </a:ln>
              <a:effectLst/>
              <a:uLnTx/>
              <a:uFillTx/>
              <a:latin typeface="Franklin Gothic Book" pitchFamily="34" charset="0"/>
            </a:endParaRPr>
          </a:p>
        </p:txBody>
      </p:sp>
      <p:sp>
        <p:nvSpPr>
          <p:cNvPr id="43" name="Rectangle 42"/>
          <p:cNvSpPr/>
          <p:nvPr/>
        </p:nvSpPr>
        <p:spPr>
          <a:xfrm>
            <a:off x="4731694" y="4595411"/>
            <a:ext cx="2799164"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COVID-19 DASHBOARD</a:t>
            </a:r>
            <a:endParaRPr kumimoji="0" lang="en-IN" sz="2000" b="1" i="0" u="none" strike="noStrike" kern="0" cap="none" spc="0" normalizeH="0" baseline="0" noProof="0" dirty="0">
              <a:ln>
                <a:noFill/>
              </a:ln>
              <a:effectLst/>
              <a:uLnTx/>
              <a:uFillTx/>
              <a:latin typeface="Franklin Gothic Book" pitchFamily="34" charset="0"/>
            </a:endParaRPr>
          </a:p>
        </p:txBody>
      </p:sp>
      <p:sp>
        <p:nvSpPr>
          <p:cNvPr id="44" name="Frame 43"/>
          <p:cNvSpPr/>
          <p:nvPr/>
        </p:nvSpPr>
        <p:spPr>
          <a:xfrm>
            <a:off x="4392716" y="5434617"/>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45" name="Rectangle 44"/>
          <p:cNvSpPr/>
          <p:nvPr/>
        </p:nvSpPr>
        <p:spPr>
          <a:xfrm>
            <a:off x="4719970" y="5735800"/>
            <a:ext cx="3017013"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B2B</a:t>
            </a:r>
            <a:r>
              <a:rPr kumimoji="0" lang="en-US" sz="2000" b="1" i="0" u="none" strike="noStrike" kern="0" cap="none" spc="0" normalizeH="0" noProof="0" dirty="0" smtClean="0">
                <a:ln>
                  <a:noFill/>
                </a:ln>
                <a:effectLst/>
                <a:uLnTx/>
                <a:uFillTx/>
                <a:latin typeface="Franklin Gothic Book" pitchFamily="34" charset="0"/>
              </a:rPr>
              <a:t> LEAD GENERATION</a:t>
            </a:r>
            <a:endParaRPr kumimoji="0" lang="en-IN" sz="2000" b="1" i="0" u="none" strike="noStrike" kern="0" cap="none" spc="0" normalizeH="0" baseline="0" noProof="0" dirty="0">
              <a:ln>
                <a:noFill/>
              </a:ln>
              <a:effectLst/>
              <a:uLnTx/>
              <a:uFillTx/>
              <a:latin typeface="Franklin Gothic Book" pitchFamily="34" charset="0"/>
            </a:endParaRPr>
          </a:p>
        </p:txBody>
      </p:sp>
      <p:sp>
        <p:nvSpPr>
          <p:cNvPr id="47" name="Frame 46"/>
          <p:cNvSpPr/>
          <p:nvPr/>
        </p:nvSpPr>
        <p:spPr>
          <a:xfrm>
            <a:off x="578249" y="5434617"/>
            <a:ext cx="3355991" cy="1003296"/>
          </a:xfrm>
          <a:prstGeom prst="frame">
            <a:avLst/>
          </a:prstGeom>
          <a:solidFill>
            <a:srgbClr val="F79646">
              <a:lumMod val="75000"/>
            </a:srgbClr>
          </a:solidFill>
          <a:ln w="25400" cap="flat" cmpd="sng" algn="ctr">
            <a:solidFill>
              <a:sysClr val="window" lastClr="FFFFFF">
                <a:lumMod val="50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effectLst/>
              <a:uLnTx/>
              <a:uFillTx/>
              <a:latin typeface="Franklin Gothic Book" pitchFamily="34" charset="0"/>
            </a:endParaRPr>
          </a:p>
        </p:txBody>
      </p:sp>
      <p:sp>
        <p:nvSpPr>
          <p:cNvPr id="48" name="Rectangle 47"/>
          <p:cNvSpPr/>
          <p:nvPr/>
        </p:nvSpPr>
        <p:spPr>
          <a:xfrm>
            <a:off x="917227" y="5747523"/>
            <a:ext cx="2744662" cy="400110"/>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effectLst/>
                <a:uLnTx/>
                <a:uFillTx/>
                <a:latin typeface="Franklin Gothic Book" pitchFamily="34" charset="0"/>
              </a:rPr>
              <a:t>EXPO</a:t>
            </a:r>
            <a:r>
              <a:rPr kumimoji="0" lang="en-US" sz="2000" b="1" i="0" u="none" strike="noStrike" kern="0" cap="none" spc="0" normalizeH="0" noProof="0" dirty="0" smtClean="0">
                <a:ln>
                  <a:noFill/>
                </a:ln>
                <a:effectLst/>
                <a:uLnTx/>
                <a:uFillTx/>
                <a:latin typeface="Franklin Gothic Book" pitchFamily="34" charset="0"/>
              </a:rPr>
              <a:t> WALKINS</a:t>
            </a:r>
            <a:endParaRPr kumimoji="0" lang="en-IN" sz="2000" b="1" i="0" u="none" strike="noStrike" kern="0" cap="none" spc="0" normalizeH="0" baseline="0" noProof="0" dirty="0">
              <a:ln>
                <a:noFill/>
              </a:ln>
              <a:effectLst/>
              <a:uLnTx/>
              <a:uFillTx/>
              <a:latin typeface="Franklin Gothic Book" pitchFamily="34" charset="0"/>
            </a:endParaRPr>
          </a:p>
        </p:txBody>
      </p:sp>
    </p:spTree>
    <p:extLst>
      <p:ext uri="{BB962C8B-B14F-4D97-AF65-F5344CB8AC3E}">
        <p14:creationId xmlns:p14="http://schemas.microsoft.com/office/powerpoint/2010/main" xmlns="" val="35574148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a:latin typeface="Franklin Gothic Medium" charset="0"/>
                <a:ea typeface="Franklin Gothic Medium" charset="0"/>
                <a:cs typeface="Franklin Gothic Medium" charset="0"/>
              </a:rPr>
              <a:t>1</a:t>
            </a:r>
          </a:p>
        </p:txBody>
      </p:sp>
      <p:sp>
        <p:nvSpPr>
          <p:cNvPr id="3" name="Text Placeholder 2"/>
          <p:cNvSpPr>
            <a:spLocks noGrp="1"/>
          </p:cNvSpPr>
          <p:nvPr>
            <p:ph type="body" sz="quarter" idx="14"/>
          </p:nvPr>
        </p:nvSpPr>
        <p:spPr>
          <a:xfrm>
            <a:off x="2887134" y="2803099"/>
            <a:ext cx="8699500" cy="1163638"/>
          </a:xfrm>
        </p:spPr>
        <p:txBody>
          <a:bodyPr/>
          <a:lstStyle/>
          <a:p>
            <a:r>
              <a:rPr lang="en-US" sz="2800" dirty="0" smtClean="0">
                <a:latin typeface="Franklin Gothic Medium" charset="0"/>
                <a:ea typeface="Franklin Gothic Medium" charset="0"/>
                <a:cs typeface="Franklin Gothic Medium" charset="0"/>
              </a:rPr>
              <a:t>Product Launch for a manufacturing company using </a:t>
            </a:r>
          </a:p>
          <a:p>
            <a:r>
              <a:rPr lang="en-US" sz="2800" dirty="0" smtClean="0">
                <a:latin typeface="Franklin Gothic Medium" charset="0"/>
                <a:ea typeface="Franklin Gothic Medium" charset="0"/>
                <a:cs typeface="Franklin Gothic Medium" charset="0"/>
              </a:rPr>
              <a:t>Digital Platforms</a:t>
            </a:r>
            <a:endParaRPr lang="en-US" sz="2800" dirty="0">
              <a:latin typeface="Franklin Gothic Medium" charset="0"/>
              <a:ea typeface="Franklin Gothic Medium" charset="0"/>
              <a:cs typeface="Franklin Gothic Medium" charset="0"/>
            </a:endParaRP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STUDY1: </a:t>
            </a:r>
            <a:r>
              <a:rPr lang="en-IN" sz="2400" b="1" i="1" dirty="0" smtClean="0"/>
              <a:t>A top-notch pump manufacturer launched a new water pumping product on digital platform aiming higher conversions in terms of product purchase </a:t>
            </a:r>
            <a:endParaRPr lang="en-US" sz="2400" b="1" i="1" dirty="0">
              <a:latin typeface="Franklin Gothic Book" pitchFamily="34" charset="0"/>
            </a:endParaRPr>
          </a:p>
        </p:txBody>
      </p:sp>
      <p:sp>
        <p:nvSpPr>
          <p:cNvPr id="21" name="Rectangle 20"/>
          <p:cNvSpPr/>
          <p:nvPr/>
        </p:nvSpPr>
        <p:spPr>
          <a:xfrm>
            <a:off x="115276" y="1635929"/>
            <a:ext cx="6109677" cy="3416320"/>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Manufacturing</a:t>
            </a:r>
          </a:p>
          <a:p>
            <a:r>
              <a:rPr lang="en-IN" b="1" dirty="0" smtClean="0">
                <a:solidFill>
                  <a:schemeClr val="accent2"/>
                </a:solidFill>
                <a:latin typeface="Franklin Gothic Book" pitchFamily="34" charset="0"/>
              </a:rPr>
              <a:t>Turn over: 1200 </a:t>
            </a:r>
            <a:r>
              <a:rPr lang="en-IN" b="1" dirty="0" err="1" smtClean="0">
                <a:solidFill>
                  <a:schemeClr val="accent2"/>
                </a:solidFill>
                <a:latin typeface="Franklin Gothic Book" pitchFamily="34" charset="0"/>
              </a:rPr>
              <a:t>Crores</a:t>
            </a:r>
            <a:endParaRPr lang="en-IN" b="1" dirty="0" smtClean="0">
              <a:solidFill>
                <a:schemeClr val="accent2"/>
              </a:solidFill>
              <a:latin typeface="Franklin Gothic Book" pitchFamily="34" charset="0"/>
            </a:endParaRPr>
          </a:p>
          <a:p>
            <a:endParaRPr lang="en-IN" b="1" dirty="0" smtClean="0">
              <a:latin typeface="Franklin Gothic Book" pitchFamily="34" charset="0"/>
            </a:endParaRPr>
          </a:p>
          <a:p>
            <a:r>
              <a:rPr lang="en-IN" dirty="0" smtClean="0">
                <a:latin typeface="Franklin Gothic Book" pitchFamily="34" charset="0"/>
              </a:rPr>
              <a:t>A multi-winged organization headquartered in the Manchester of South India manufactures and delivers perfectly engineered water pumping products to over 120 countries across the globe. With cutting-edge technology and state-of-the-art machinery, the client designs fluid management systems for residential, agricultural, industrial and commercial applications.</a:t>
            </a:r>
            <a:endParaRPr lang="en-IN" dirty="0">
              <a:latin typeface="Franklin Gothic Book" pitchFamily="34" charset="0"/>
            </a:endParaRPr>
          </a:p>
        </p:txBody>
      </p:sp>
      <p:sp>
        <p:nvSpPr>
          <p:cNvPr id="25" name="Rectangle 24"/>
          <p:cNvSpPr/>
          <p:nvPr/>
        </p:nvSpPr>
        <p:spPr>
          <a:xfrm>
            <a:off x="-20482" y="5301937"/>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349056" y="5518416"/>
            <a:ext cx="1681550"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3X</a:t>
            </a:r>
          </a:p>
          <a:p>
            <a:pPr algn="ctr"/>
            <a:r>
              <a:rPr lang="en-IN" b="1" dirty="0" smtClean="0">
                <a:solidFill>
                  <a:schemeClr val="bg1"/>
                </a:solidFill>
                <a:latin typeface="Franklin Gothic Book" pitchFamily="34" charset="0"/>
                <a:cs typeface="Arial" panose="020B0604020202020204" pitchFamily="34" charset="0"/>
              </a:rPr>
              <a:t>Increase in reach</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386092" y="5518416"/>
            <a:ext cx="1345561"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3000+</a:t>
            </a:r>
          </a:p>
          <a:p>
            <a:pPr algn="ctr"/>
            <a:r>
              <a:rPr lang="en-IN" b="1" dirty="0" smtClean="0">
                <a:solidFill>
                  <a:schemeClr val="bg1"/>
                </a:solidFill>
                <a:latin typeface="Franklin Gothic Book" pitchFamily="34" charset="0"/>
                <a:cs typeface="Arial" panose="020B0604020202020204" pitchFamily="34" charset="0"/>
              </a:rPr>
              <a:t>Products Sold</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40</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347010" y="5518416"/>
            <a:ext cx="1585434"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23%</a:t>
            </a:r>
          </a:p>
          <a:p>
            <a:pPr algn="ctr"/>
            <a:r>
              <a:rPr lang="en-IN" b="1" dirty="0" smtClean="0">
                <a:solidFill>
                  <a:schemeClr val="bg1"/>
                </a:solidFill>
                <a:latin typeface="Franklin Gothic Book" pitchFamily="34" charset="0"/>
                <a:cs typeface="Arial" panose="020B0604020202020204" pitchFamily="34" charset="0"/>
              </a:rPr>
              <a:t>Conversion Rate</a:t>
            </a:r>
            <a:endParaRPr lang="en-IN" b="1" dirty="0">
              <a:solidFill>
                <a:schemeClr val="bg1"/>
              </a:solidFill>
              <a:latin typeface="Franklin Gothic Book" pitchFamily="34" charset="0"/>
              <a:cs typeface="Arial" panose="020B0604020202020204" pitchFamily="34" charset="0"/>
            </a:endParaRPr>
          </a:p>
        </p:txBody>
      </p:sp>
      <p:pic>
        <p:nvPicPr>
          <p:cNvPr id="1026" name="Picture 2" descr="C:\Users\Admin\Desktop\Meme\83846671_1477908915705233_4496526769716723712_n (1).png"/>
          <p:cNvPicPr>
            <a:picLocks noChangeAspect="1" noChangeArrowheads="1"/>
          </p:cNvPicPr>
          <p:nvPr/>
        </p:nvPicPr>
        <p:blipFill>
          <a:blip r:embed="rId4"/>
          <a:srcRect l="32532" t="11334" r="32532" b="34021"/>
          <a:stretch>
            <a:fillRect/>
          </a:stretch>
        </p:blipFill>
        <p:spPr bwMode="auto">
          <a:xfrm>
            <a:off x="6799385" y="1719787"/>
            <a:ext cx="5143499" cy="3532045"/>
          </a:xfrm>
          <a:prstGeom prst="rect">
            <a:avLst/>
          </a:prstGeom>
          <a:noFill/>
        </p:spPr>
      </p:pic>
      <p:sp>
        <p:nvSpPr>
          <p:cNvPr id="35" name="Rectangle 34"/>
          <p:cNvSpPr/>
          <p:nvPr/>
        </p:nvSpPr>
        <p:spPr>
          <a:xfrm>
            <a:off x="6775939" y="1342854"/>
            <a:ext cx="5143499" cy="338554"/>
          </a:xfrm>
          <a:prstGeom prst="rect">
            <a:avLst/>
          </a:prstGeom>
        </p:spPr>
        <p:txBody>
          <a:bodyPr wrap="square">
            <a:spAutoFit/>
          </a:bodyPr>
          <a:lstStyle/>
          <a:p>
            <a:r>
              <a:rPr lang="en-IN" sz="1600" b="1" i="1" u="sng" dirty="0" smtClean="0">
                <a:latin typeface="Franklin Gothic Book" pitchFamily="34" charset="0"/>
              </a:rPr>
              <a:t>MASCOT DESIGNED SPECIFICALLY FOR THE CAMPAIGN</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371645"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latin typeface="Franklin Gothic Book" pitchFamily="34" charset="0"/>
              </a:rPr>
              <a:t>While most manufacturing companies tend to prefer traditional marketing for the product launch, the client wanted to drive product awareness and customer acquisition via digital marketing. In such a case, the client was not sure about the right tactics and techniques to reach the target audiences.</a:t>
            </a:r>
            <a:endParaRPr lang="en-US" sz="1600" b="1" i="1" dirty="0">
              <a:latin typeface="Franklin Gothic Book" pitchFamily="34" charset="0"/>
            </a:endParaRPr>
          </a:p>
        </p:txBody>
      </p:sp>
      <p:sp>
        <p:nvSpPr>
          <p:cNvPr id="17" name="Rectangle 16"/>
          <p:cNvSpPr/>
          <p:nvPr/>
        </p:nvSpPr>
        <p:spPr>
          <a:xfrm>
            <a:off x="0" y="983275"/>
            <a:ext cx="7526215" cy="6124754"/>
          </a:xfrm>
          <a:prstGeom prst="rect">
            <a:avLst/>
          </a:prstGeom>
        </p:spPr>
        <p:txBody>
          <a:bodyPr wrap="square">
            <a:spAutoFit/>
          </a:bodyPr>
          <a:lstStyle/>
          <a:p>
            <a:pPr algn="just"/>
            <a:r>
              <a:rPr lang="en-IN" sz="1400" b="1" i="1" u="sng" dirty="0" smtClean="0">
                <a:solidFill>
                  <a:schemeClr val="accent2"/>
                </a:solidFill>
                <a:latin typeface="Franklin Gothic Book" pitchFamily="34" charset="0"/>
              </a:rPr>
              <a:t>Solutions Planned:</a:t>
            </a:r>
          </a:p>
          <a:p>
            <a:pPr algn="just"/>
            <a:r>
              <a:rPr lang="en-IN" sz="1400" dirty="0" smtClean="0">
                <a:latin typeface="Franklin Gothic Book" pitchFamily="34" charset="0"/>
              </a:rPr>
              <a:t>The client who trades reliable water pumps approached us to launch a new product in the digital media platforms. Based on the goals and objective of the client, our digital marketing team opted go-to-market strategy to implement a viral product launch campaign that could elevate awareness and sales. This detailed digital marketing plan with a blend of cost-effective techniques resulted in a 66% increase in reach at 0.03 CPR, which is lower than the usual market standards. </a:t>
            </a:r>
          </a:p>
          <a:p>
            <a:pPr algn="just"/>
            <a:endParaRPr lang="en-IN" sz="1400" dirty="0" smtClean="0">
              <a:latin typeface="Franklin Gothic Book" pitchFamily="34" charset="0"/>
            </a:endParaRPr>
          </a:p>
          <a:p>
            <a:pPr algn="just"/>
            <a:r>
              <a:rPr lang="en-IN" sz="1400" dirty="0" smtClean="0">
                <a:latin typeface="Franklin Gothic Book" pitchFamily="34" charset="0"/>
              </a:rPr>
              <a:t>In the initial stage, the team divided the campaign into three phases - pre-launch, launch and post-launch phases to make the product launch more effective. As a part of the pre-launch stage, an appealing mascot was designed in such a way that it brings a remarkable connection between target audiences and the brand. To create a buzz among the audiences, curiosity-based photo ads and video ads were publicized in social media channels beforehand. </a:t>
            </a:r>
          </a:p>
          <a:p>
            <a:pPr algn="just"/>
            <a:endParaRPr lang="en-IN" sz="1400" dirty="0" smtClean="0">
              <a:latin typeface="Franklin Gothic Book" pitchFamily="34" charset="0"/>
            </a:endParaRPr>
          </a:p>
          <a:p>
            <a:pPr algn="just"/>
            <a:r>
              <a:rPr lang="en-IN" sz="1400" dirty="0" smtClean="0">
                <a:latin typeface="Franklin Gothic Book" pitchFamily="34" charset="0"/>
              </a:rPr>
              <a:t>With the well-planned target audience database, the team segregated the digital media channels where the digital assets were to be promoted. During the launch phase, the product was unveiled in popular channels such as </a:t>
            </a:r>
            <a:r>
              <a:rPr lang="en-IN" sz="1400" dirty="0" err="1" smtClean="0">
                <a:latin typeface="Franklin Gothic Book" pitchFamily="34" charset="0"/>
              </a:rPr>
              <a:t>Facebook</a:t>
            </a:r>
            <a:r>
              <a:rPr lang="en-IN" sz="1400" dirty="0" smtClean="0">
                <a:latin typeface="Franklin Gothic Book" pitchFamily="34" charset="0"/>
              </a:rPr>
              <a:t>, </a:t>
            </a:r>
            <a:r>
              <a:rPr lang="en-IN" sz="1400" dirty="0" err="1" smtClean="0">
                <a:latin typeface="Franklin Gothic Book" pitchFamily="34" charset="0"/>
              </a:rPr>
              <a:t>Instagram</a:t>
            </a:r>
            <a:r>
              <a:rPr lang="en-IN" sz="1400" dirty="0" smtClean="0">
                <a:latin typeface="Franklin Gothic Book" pitchFamily="34" charset="0"/>
              </a:rPr>
              <a:t> and Twitter. Also, an optimized 10-second non-</a:t>
            </a:r>
            <a:r>
              <a:rPr lang="en-IN" sz="1400" dirty="0" err="1" smtClean="0">
                <a:latin typeface="Franklin Gothic Book" pitchFamily="34" charset="0"/>
              </a:rPr>
              <a:t>skippable</a:t>
            </a:r>
            <a:r>
              <a:rPr lang="en-IN" sz="1400" dirty="0" smtClean="0">
                <a:latin typeface="Franklin Gothic Book" pitchFamily="34" charset="0"/>
              </a:rPr>
              <a:t> video was posted on YouTube to grab the attention of target audiences visually. </a:t>
            </a:r>
          </a:p>
          <a:p>
            <a:pPr algn="just"/>
            <a:endParaRPr lang="en-IN" sz="1400" dirty="0" smtClean="0">
              <a:latin typeface="Franklin Gothic Book" pitchFamily="34" charset="0"/>
            </a:endParaRPr>
          </a:p>
          <a:p>
            <a:pPr algn="just"/>
            <a:r>
              <a:rPr lang="en-IN" sz="1400" dirty="0" smtClean="0">
                <a:latin typeface="Franklin Gothic Book" pitchFamily="34" charset="0"/>
              </a:rPr>
              <a:t>Google display ads were published by targeting the viewers of trending videos and visitors of existing landing pages to increase brand awareness. A comprehensive landing page highlighting the features and applications of the product with a clear call-to-action was incorporated to prompt visitors with the product information. </a:t>
            </a:r>
          </a:p>
          <a:p>
            <a:pPr algn="just"/>
            <a:endParaRPr lang="en-IN" sz="1400" dirty="0" smtClean="0">
              <a:latin typeface="Franklin Gothic Book" pitchFamily="34" charset="0"/>
            </a:endParaRPr>
          </a:p>
          <a:p>
            <a:r>
              <a:rPr lang="en-IN" sz="1400" dirty="0" smtClean="0">
                <a:latin typeface="Franklin Gothic Book" pitchFamily="34" charset="0"/>
              </a:rPr>
              <a:t>Once the product launch was over, the team carried out specific processes to maintain the marketing momentum to ensure success and sustainable sales growth later. In the end, the intelligent marketing strategies and perfect implementation of the campaign at the right platforms brought a huge delight with a favourable outcome to the client. </a:t>
            </a:r>
            <a:br>
              <a:rPr lang="en-IN" sz="1400" dirty="0" smtClean="0">
                <a:latin typeface="Franklin Gothic Book" pitchFamily="34" charset="0"/>
              </a:rPr>
            </a:br>
            <a:endParaRPr lang="en-IN" sz="14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597538"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34L</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100K+</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VIEWS</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13K+</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TRAFFIC</a:t>
            </a: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3000+</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SALES</a:t>
            </a:r>
          </a:p>
        </p:txBody>
      </p:sp>
      <p:sp>
        <p:nvSpPr>
          <p:cNvPr id="51" name="Rectangle 50"/>
          <p:cNvSpPr/>
          <p:nvPr/>
        </p:nvSpPr>
        <p:spPr>
          <a:xfrm>
            <a:off x="7719098" y="4070838"/>
            <a:ext cx="4282402" cy="1600438"/>
          </a:xfrm>
          <a:prstGeom prst="rect">
            <a:avLst/>
          </a:prstGeom>
        </p:spPr>
        <p:txBody>
          <a:bodyPr wrap="square">
            <a:spAutoFit/>
          </a:bodyPr>
          <a:lstStyle/>
          <a:p>
            <a:pPr>
              <a:buFont typeface="Arial" pitchFamily="34" charset="0"/>
              <a:buChar char="•"/>
            </a:pPr>
            <a:r>
              <a:rPr lang="en-IN" sz="1400" b="1" dirty="0" smtClean="0">
                <a:latin typeface="Franklin Gothic Book" pitchFamily="34" charset="0"/>
              </a:rPr>
              <a:t>Cost per reach at : 3 </a:t>
            </a:r>
            <a:r>
              <a:rPr lang="en-IN" sz="1400" b="1" dirty="0" err="1" smtClean="0">
                <a:latin typeface="Franklin Gothic Book" pitchFamily="34" charset="0"/>
              </a:rPr>
              <a:t>Paise</a:t>
            </a:r>
            <a:endParaRPr lang="en-IN" sz="1400" b="1" dirty="0" smtClean="0">
              <a:latin typeface="Franklin Gothic Book" pitchFamily="34" charset="0"/>
            </a:endParaRPr>
          </a:p>
          <a:p>
            <a:r>
              <a:rPr lang="en-IN" sz="1400" b="1" dirty="0" smtClean="0">
                <a:latin typeface="Franklin Gothic Book" pitchFamily="34" charset="0"/>
              </a:rPr>
              <a:t>(Industrial Standard at 10 </a:t>
            </a:r>
            <a:r>
              <a:rPr lang="en-IN" sz="1400" b="1" dirty="0" err="1" smtClean="0">
                <a:latin typeface="Franklin Gothic Book" pitchFamily="34" charset="0"/>
              </a:rPr>
              <a:t>Paise</a:t>
            </a:r>
            <a:r>
              <a:rPr lang="en-IN" sz="1400" b="1" dirty="0" smtClean="0">
                <a:latin typeface="Franklin Gothic Book" pitchFamily="34" charset="0"/>
              </a:rPr>
              <a:t>)</a:t>
            </a:r>
          </a:p>
          <a:p>
            <a:r>
              <a:rPr lang="en-IN" sz="1400" b="1" dirty="0" smtClean="0">
                <a:latin typeface="Franklin Gothic Book" pitchFamily="34" charset="0"/>
              </a:rPr>
              <a:t> </a:t>
            </a:r>
          </a:p>
          <a:p>
            <a:pPr>
              <a:buFont typeface="Arial" pitchFamily="34" charset="0"/>
              <a:buChar char="•"/>
            </a:pPr>
            <a:r>
              <a:rPr lang="en-IN" sz="1400" b="1" dirty="0" smtClean="0">
                <a:latin typeface="Franklin Gothic Book" pitchFamily="34" charset="0"/>
              </a:rPr>
              <a:t>Cost per view at : 74 </a:t>
            </a:r>
            <a:r>
              <a:rPr lang="en-IN" sz="1400" b="1" dirty="0" err="1" smtClean="0">
                <a:latin typeface="Franklin Gothic Book" pitchFamily="34" charset="0"/>
              </a:rPr>
              <a:t>Paise</a:t>
            </a:r>
            <a:r>
              <a:rPr lang="en-IN" sz="1400" b="1" dirty="0" smtClean="0">
                <a:latin typeface="Franklin Gothic Book" pitchFamily="34" charset="0"/>
              </a:rPr>
              <a:t> </a:t>
            </a:r>
          </a:p>
          <a:p>
            <a:r>
              <a:rPr lang="en-IN" sz="1400" b="1" dirty="0" smtClean="0">
                <a:latin typeface="Franklin Gothic Book" pitchFamily="34" charset="0"/>
              </a:rPr>
              <a:t>(Industrial Standard at Rs.1)</a:t>
            </a:r>
          </a:p>
          <a:p>
            <a:endParaRPr lang="en-IN" sz="1400" b="1" dirty="0" smtClean="0">
              <a:latin typeface="Franklin Gothic Book" pitchFamily="34" charset="0"/>
            </a:endParaRPr>
          </a:p>
          <a:p>
            <a:pPr>
              <a:buFont typeface="Arial" pitchFamily="34" charset="0"/>
              <a:buChar char="•"/>
            </a:pPr>
            <a:r>
              <a:rPr lang="en-IN" sz="1400" b="1" dirty="0" smtClean="0">
                <a:latin typeface="Franklin Gothic Book" pitchFamily="34" charset="0"/>
              </a:rPr>
              <a:t>Cost Per Acquisition at – Rs.200</a:t>
            </a:r>
            <a:endParaRPr lang="en-IN" sz="1400" b="1" dirty="0"/>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743821"/>
            <a:ext cx="4282402" cy="834779"/>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Display, Social, </a:t>
            </a:r>
            <a:r>
              <a:rPr lang="en-IN" sz="1400" b="1" spc="75" dirty="0" err="1" smtClean="0">
                <a:solidFill>
                  <a:schemeClr val="tx1"/>
                </a:solidFill>
                <a:latin typeface="Franklin Gothic Book" pitchFamily="34" charset="0"/>
                <a:ea typeface="MS Gothic"/>
                <a:cs typeface="Arial" pitchFamily="34" charset="0"/>
              </a:rPr>
              <a:t>Hotstar</a:t>
            </a:r>
            <a:r>
              <a:rPr lang="en-IN" sz="1400" b="1" spc="75" dirty="0" smtClean="0">
                <a:solidFill>
                  <a:schemeClr val="tx1"/>
                </a:solidFill>
                <a:latin typeface="Franklin Gothic Book" pitchFamily="34" charset="0"/>
                <a:ea typeface="MS Gothic"/>
                <a:cs typeface="Arial" pitchFamily="34" charset="0"/>
              </a:rPr>
              <a:t>, YouTube, SMS &amp; Push Notification</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663938"/>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a:latin typeface="Franklin Gothic Medium" charset="0"/>
                <a:ea typeface="Franklin Gothic Medium" charset="0"/>
                <a:cs typeface="Franklin Gothic Medium" charset="0"/>
              </a:rPr>
              <a:t>2</a:t>
            </a:r>
          </a:p>
        </p:txBody>
      </p:sp>
      <p:sp>
        <p:nvSpPr>
          <p:cNvPr id="3" name="Text Placeholder 2"/>
          <p:cNvSpPr>
            <a:spLocks noGrp="1"/>
          </p:cNvSpPr>
          <p:nvPr>
            <p:ph type="body" sz="quarter" idx="14"/>
          </p:nvPr>
        </p:nvSpPr>
        <p:spPr>
          <a:xfrm>
            <a:off x="2887134" y="2803099"/>
            <a:ext cx="8699500" cy="1163638"/>
          </a:xfrm>
        </p:spPr>
        <p:txBody>
          <a:bodyPr/>
          <a:lstStyle/>
          <a:p>
            <a:r>
              <a:rPr lang="en-US" sz="2800" dirty="0" smtClean="0">
                <a:latin typeface="Franklin Gothic Medium" charset="0"/>
                <a:ea typeface="Franklin Gothic Medium" charset="0"/>
                <a:cs typeface="Franklin Gothic Medium" charset="0"/>
              </a:rPr>
              <a:t>App Install Campaigns for a Taxi Service Company in Digital Platforms </a:t>
            </a:r>
            <a:endParaRPr lang="en-US" sz="2800" dirty="0">
              <a:latin typeface="Franklin Gothic Medium" charset="0"/>
              <a:ea typeface="Franklin Gothic Medium" charset="0"/>
              <a:cs typeface="Franklin Gothic Medium" charset="0"/>
            </a:endParaRP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2: </a:t>
            </a:r>
            <a:r>
              <a:rPr lang="en-IN" sz="2400" b="1" i="1" dirty="0" smtClean="0"/>
              <a:t>Prominent Taxi company's Mobile App installations shot up to 70K using Google &amp; </a:t>
            </a:r>
            <a:r>
              <a:rPr lang="en-IN" sz="2400" b="1" i="1" dirty="0" err="1" smtClean="0"/>
              <a:t>Facebook</a:t>
            </a:r>
            <a:r>
              <a:rPr lang="en-IN" sz="2400" b="1" i="1" dirty="0" smtClean="0"/>
              <a:t> Ads in 6 months </a:t>
            </a:r>
            <a:endParaRPr lang="en-US" sz="2400" b="1" i="1" dirty="0">
              <a:latin typeface="Franklin Gothic Book" pitchFamily="34" charset="0"/>
            </a:endParaRPr>
          </a:p>
        </p:txBody>
      </p:sp>
      <p:sp>
        <p:nvSpPr>
          <p:cNvPr id="21" name="Rectangle 20"/>
          <p:cNvSpPr/>
          <p:nvPr/>
        </p:nvSpPr>
        <p:spPr>
          <a:xfrm>
            <a:off x="115276" y="1635929"/>
            <a:ext cx="6109677" cy="3139321"/>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Taxi Services</a:t>
            </a:r>
          </a:p>
          <a:p>
            <a:r>
              <a:rPr lang="en-IN" b="1" dirty="0" smtClean="0">
                <a:solidFill>
                  <a:schemeClr val="accent2"/>
                </a:solidFill>
                <a:latin typeface="Franklin Gothic Book" pitchFamily="34" charset="0"/>
              </a:rPr>
              <a:t>Turn over: 100+ </a:t>
            </a:r>
            <a:r>
              <a:rPr lang="en-IN" b="1" dirty="0" err="1" smtClean="0">
                <a:solidFill>
                  <a:schemeClr val="accent2"/>
                </a:solidFill>
                <a:latin typeface="Franklin Gothic Book" pitchFamily="34" charset="0"/>
              </a:rPr>
              <a:t>Crores</a:t>
            </a:r>
            <a:endParaRPr lang="en-IN" b="1" dirty="0" smtClean="0">
              <a:solidFill>
                <a:schemeClr val="accent2"/>
              </a:solidFill>
              <a:latin typeface="Franklin Gothic Book" pitchFamily="34" charset="0"/>
            </a:endParaRPr>
          </a:p>
          <a:p>
            <a:endParaRPr lang="en-IN" b="1" dirty="0" smtClean="0">
              <a:latin typeface="Franklin Gothic Book" pitchFamily="34" charset="0"/>
            </a:endParaRPr>
          </a:p>
          <a:p>
            <a:r>
              <a:rPr lang="en-IN" dirty="0" smtClean="0">
                <a:latin typeface="Franklin Gothic Book" pitchFamily="34" charset="0"/>
              </a:rPr>
              <a:t>A popular cab service company head quartered in tier-two city of India has 1500+ cabs and operates in 5 cities. They provide cab services in different segments like Sedan, Hatchback, etc. The company operates on based on both kilometre and rental and it also offers outstation services.</a:t>
            </a:r>
            <a:endParaRPr lang="en-IN" dirty="0">
              <a:latin typeface="Franklin Gothic Book" pitchFamily="34" charset="0"/>
            </a:endParaRPr>
          </a:p>
        </p:txBody>
      </p:sp>
      <p:sp>
        <p:nvSpPr>
          <p:cNvPr id="25" name="Rectangle 24"/>
          <p:cNvSpPr/>
          <p:nvPr/>
        </p:nvSpPr>
        <p:spPr>
          <a:xfrm>
            <a:off x="-20482" y="5301937"/>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518416"/>
            <a:ext cx="2452594"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67%</a:t>
            </a:r>
          </a:p>
          <a:p>
            <a:pPr algn="ctr"/>
            <a:r>
              <a:rPr lang="en-IN" b="1" dirty="0" smtClean="0">
                <a:solidFill>
                  <a:schemeClr val="bg1"/>
                </a:solidFill>
                <a:latin typeface="Franklin Gothic Book" pitchFamily="34" charset="0"/>
                <a:cs typeface="Arial" panose="020B0604020202020204" pitchFamily="34" charset="0"/>
              </a:rPr>
              <a:t>Increase in App Bookings</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573660" y="5518416"/>
            <a:ext cx="1594988"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5</a:t>
            </a:r>
          </a:p>
          <a:p>
            <a:pPr algn="ctr"/>
            <a:r>
              <a:rPr lang="en-IN" b="1" dirty="0" smtClean="0">
                <a:solidFill>
                  <a:schemeClr val="bg1"/>
                </a:solidFill>
                <a:latin typeface="Franklin Gothic Book" pitchFamily="34" charset="0"/>
                <a:cs typeface="Arial" panose="020B0604020202020204" pitchFamily="34" charset="0"/>
              </a:rPr>
              <a:t>Cities Expansion</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180</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288395" y="5518416"/>
            <a:ext cx="2299797"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37%</a:t>
            </a:r>
          </a:p>
          <a:p>
            <a:pPr algn="ctr"/>
            <a:r>
              <a:rPr lang="en-IN" b="1" dirty="0" smtClean="0">
                <a:solidFill>
                  <a:schemeClr val="bg1"/>
                </a:solidFill>
                <a:latin typeface="Franklin Gothic Book" pitchFamily="34" charset="0"/>
                <a:cs typeface="Arial" panose="020B0604020202020204" pitchFamily="34" charset="0"/>
              </a:rPr>
              <a:t>Increase in active users</a:t>
            </a:r>
            <a:endParaRPr lang="en-IN" b="1" dirty="0">
              <a:solidFill>
                <a:schemeClr val="bg1"/>
              </a:solidFill>
              <a:latin typeface="Franklin Gothic Book" pitchFamily="34" charset="0"/>
              <a:cs typeface="Arial" panose="020B0604020202020204" pitchFamily="34" charset="0"/>
            </a:endParaRPr>
          </a:p>
        </p:txBody>
      </p:sp>
      <p:sp>
        <p:nvSpPr>
          <p:cNvPr id="35" name="Rectangle 34"/>
          <p:cNvSpPr/>
          <p:nvPr/>
        </p:nvSpPr>
        <p:spPr>
          <a:xfrm>
            <a:off x="7069014" y="1342854"/>
            <a:ext cx="5143499" cy="338554"/>
          </a:xfrm>
          <a:prstGeom prst="rect">
            <a:avLst/>
          </a:prstGeom>
        </p:spPr>
        <p:txBody>
          <a:bodyPr wrap="square">
            <a:spAutoFit/>
          </a:bodyPr>
          <a:lstStyle/>
          <a:p>
            <a:r>
              <a:rPr lang="en-IN" sz="1600" b="1" i="1" u="sng" dirty="0" smtClean="0">
                <a:latin typeface="Franklin Gothic Book" pitchFamily="34" charset="0"/>
              </a:rPr>
              <a:t>ADVERT USED FOR THE CAMPAIGN</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430260"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4"/>
          <a:srcRect l="73847" t="38176" r="6250" b="29333"/>
          <a:stretch>
            <a:fillRect/>
          </a:stretch>
        </p:blipFill>
        <p:spPr bwMode="auto">
          <a:xfrm>
            <a:off x="7252188" y="1864895"/>
            <a:ext cx="3701469" cy="3398942"/>
          </a:xfrm>
          <a:prstGeom prst="rect">
            <a:avLst/>
          </a:prstGeom>
          <a:noFill/>
          <a:ln w="9525">
            <a:noFill/>
            <a:miter lim="800000"/>
            <a:headEnd/>
            <a:tailEnd/>
          </a:ln>
          <a:effectLst/>
        </p:spPr>
      </p:pic>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latin typeface="Franklin Gothic Book" pitchFamily="34" charset="0"/>
              </a:rPr>
              <a:t>The Taxi service company built their Mobile application for Android &amp; </a:t>
            </a:r>
            <a:r>
              <a:rPr lang="en-IN" sz="1600" b="1" i="1" dirty="0" err="1" smtClean="0">
                <a:latin typeface="Franklin Gothic Book" pitchFamily="34" charset="0"/>
              </a:rPr>
              <a:t>iOS</a:t>
            </a:r>
            <a:r>
              <a:rPr lang="en-IN" sz="1600" b="1" i="1" dirty="0" smtClean="0">
                <a:latin typeface="Franklin Gothic Book" pitchFamily="34" charset="0"/>
              </a:rPr>
              <a:t> users to book taxi online. Business performed well on direct call bookings in the local market. When they launched the app, the bookings through app was not as high as they expected and there was a set back.</a:t>
            </a:r>
            <a:endParaRPr lang="en-US" sz="1600" b="1" i="1" dirty="0">
              <a:latin typeface="Franklin Gothic Book" pitchFamily="34" charset="0"/>
            </a:endParaRPr>
          </a:p>
        </p:txBody>
      </p:sp>
      <p:sp>
        <p:nvSpPr>
          <p:cNvPr id="17" name="Rectangle 16"/>
          <p:cNvSpPr/>
          <p:nvPr/>
        </p:nvSpPr>
        <p:spPr>
          <a:xfrm>
            <a:off x="0" y="983275"/>
            <a:ext cx="7526215" cy="5893921"/>
          </a:xfrm>
          <a:prstGeom prst="rect">
            <a:avLst/>
          </a:prstGeom>
        </p:spPr>
        <p:txBody>
          <a:bodyPr wrap="square">
            <a:spAutoFit/>
          </a:bodyPr>
          <a:lstStyle/>
          <a:p>
            <a:pPr algn="just"/>
            <a:r>
              <a:rPr lang="en-IN" sz="1300" b="1" i="1" u="sng" dirty="0" smtClean="0">
                <a:solidFill>
                  <a:schemeClr val="accent2"/>
                </a:solidFill>
                <a:latin typeface="Franklin Gothic Book" pitchFamily="34" charset="0"/>
              </a:rPr>
              <a:t>Solutions Planned:</a:t>
            </a:r>
          </a:p>
          <a:p>
            <a:pPr algn="just"/>
            <a:endParaRPr lang="en-IN" sz="1300" b="1" i="1" u="sng" dirty="0" smtClean="0">
              <a:solidFill>
                <a:schemeClr val="accent2"/>
              </a:solidFill>
              <a:latin typeface="Franklin Gothic Book" pitchFamily="34" charset="0"/>
            </a:endParaRPr>
          </a:p>
          <a:p>
            <a:pPr algn="just"/>
            <a:r>
              <a:rPr lang="en-IN" sz="1300" dirty="0" smtClean="0">
                <a:latin typeface="Franklin Gothic Book" pitchFamily="34" charset="0"/>
              </a:rPr>
              <a:t>The cab service company designed their mobile application in such a way that it made online cab bookings convenient for its customers. They wanted to promote online bookings through both online and offline advertisements. Since, it was a mobile app and involved spontaneous bookings, our team suggested online platforms for promotions. To begin with, a trial run was </a:t>
            </a:r>
            <a:r>
              <a:rPr lang="en-IN" sz="1300" dirty="0" err="1" smtClean="0">
                <a:latin typeface="Franklin Gothic Book" pitchFamily="34" charset="0"/>
              </a:rPr>
              <a:t>initated</a:t>
            </a:r>
            <a:r>
              <a:rPr lang="en-IN" sz="1300" dirty="0" smtClean="0">
                <a:latin typeface="Franklin Gothic Book" pitchFamily="34" charset="0"/>
              </a:rPr>
              <a:t> in Coimbatore, Tamil Nadu for which exciting offers and coupons were planned for bookings done through apps. </a:t>
            </a:r>
          </a:p>
          <a:p>
            <a:pPr algn="just"/>
            <a:endParaRPr lang="en-IN" sz="1300" dirty="0" smtClean="0">
              <a:latin typeface="Franklin Gothic Book" pitchFamily="34" charset="0"/>
            </a:endParaRPr>
          </a:p>
          <a:p>
            <a:pPr algn="just"/>
            <a:r>
              <a:rPr lang="en-IN" sz="1300" dirty="0" smtClean="0">
                <a:latin typeface="Franklin Gothic Book" pitchFamily="34" charset="0"/>
              </a:rPr>
              <a:t>To run the campaigns, </a:t>
            </a:r>
            <a:r>
              <a:rPr lang="en-IN" sz="1300" dirty="0" err="1" smtClean="0">
                <a:latin typeface="Franklin Gothic Book" pitchFamily="34" charset="0"/>
              </a:rPr>
              <a:t>Facebook</a:t>
            </a:r>
            <a:r>
              <a:rPr lang="en-IN" sz="1300" dirty="0" smtClean="0">
                <a:latin typeface="Franklin Gothic Book" pitchFamily="34" charset="0"/>
              </a:rPr>
              <a:t> &amp; Google were chosen initially because of the volume of the users in these platforms. Initial setups like </a:t>
            </a:r>
            <a:r>
              <a:rPr lang="en-IN" sz="1300" dirty="0" err="1" smtClean="0">
                <a:latin typeface="Franklin Gothic Book" pitchFamily="34" charset="0"/>
              </a:rPr>
              <a:t>Facebook</a:t>
            </a:r>
            <a:r>
              <a:rPr lang="en-IN" sz="1300" dirty="0" smtClean="0">
                <a:latin typeface="Franklin Gothic Book" pitchFamily="34" charset="0"/>
              </a:rPr>
              <a:t> Developers account, Google Developers account, SDK set up &amp; integration of SDK in the app, setting up firebase for both Android &amp; </a:t>
            </a:r>
            <a:r>
              <a:rPr lang="en-IN" sz="1300" dirty="0" err="1" smtClean="0">
                <a:latin typeface="Franklin Gothic Book" pitchFamily="34" charset="0"/>
              </a:rPr>
              <a:t>iOS</a:t>
            </a:r>
            <a:r>
              <a:rPr lang="en-IN" sz="1300" dirty="0" smtClean="0">
                <a:latin typeface="Franklin Gothic Book" pitchFamily="34" charset="0"/>
              </a:rPr>
              <a:t> app installs were done. </a:t>
            </a:r>
          </a:p>
          <a:p>
            <a:pPr algn="just"/>
            <a:endParaRPr lang="en-IN" sz="1300" dirty="0" smtClean="0">
              <a:latin typeface="Franklin Gothic Book" pitchFamily="34" charset="0"/>
            </a:endParaRPr>
          </a:p>
          <a:p>
            <a:pPr algn="just"/>
            <a:r>
              <a:rPr lang="en-IN" sz="1300" b="1" dirty="0" smtClean="0">
                <a:latin typeface="Franklin Gothic Book" pitchFamily="34" charset="0"/>
              </a:rPr>
              <a:t>Offer-based promotion:</a:t>
            </a:r>
          </a:p>
          <a:p>
            <a:pPr algn="just"/>
            <a:r>
              <a:rPr lang="en-IN" sz="1300" dirty="0" smtClean="0">
                <a:latin typeface="Franklin Gothic Book" pitchFamily="34" charset="0"/>
              </a:rPr>
              <a:t>The audience were targeted based on the types of cabs - business, economy, etc. - offered by the company The images and videos that highlighted the offers were </a:t>
            </a:r>
            <a:r>
              <a:rPr lang="en-IN" sz="1300" dirty="0" err="1" smtClean="0">
                <a:latin typeface="Franklin Gothic Book" pitchFamily="34" charset="0"/>
              </a:rPr>
              <a:t>curated</a:t>
            </a:r>
            <a:r>
              <a:rPr lang="en-IN" sz="1300" dirty="0" smtClean="0">
                <a:latin typeface="Franklin Gothic Book" pitchFamily="34" charset="0"/>
              </a:rPr>
              <a:t> to reach the potential riders. The websites which were the most visited by the company's potential customers were chosen and the </a:t>
            </a:r>
            <a:r>
              <a:rPr lang="en-IN" sz="1300" dirty="0" err="1" smtClean="0">
                <a:latin typeface="Franklin Gothic Book" pitchFamily="34" charset="0"/>
              </a:rPr>
              <a:t>curated</a:t>
            </a:r>
            <a:r>
              <a:rPr lang="en-IN" sz="1300" dirty="0" smtClean="0">
                <a:latin typeface="Franklin Gothic Book" pitchFamily="34" charset="0"/>
              </a:rPr>
              <a:t> ads were strategically placed. The offer-based promotion was an instant hit and 23K+ downloads were seen in the first few months of the campaign. The ads were also published on </a:t>
            </a:r>
            <a:r>
              <a:rPr lang="en-IN" sz="1300" dirty="0" err="1" smtClean="0">
                <a:latin typeface="Franklin Gothic Book" pitchFamily="34" charset="0"/>
              </a:rPr>
              <a:t>Facebook</a:t>
            </a:r>
            <a:r>
              <a:rPr lang="en-IN" sz="1300" dirty="0" smtClean="0">
                <a:latin typeface="Franklin Gothic Book" pitchFamily="34" charset="0"/>
              </a:rPr>
              <a:t> and </a:t>
            </a:r>
            <a:r>
              <a:rPr lang="en-IN" sz="1300" dirty="0" err="1" smtClean="0">
                <a:latin typeface="Franklin Gothic Book" pitchFamily="34" charset="0"/>
              </a:rPr>
              <a:t>Instagram</a:t>
            </a:r>
            <a:r>
              <a:rPr lang="en-IN" sz="1300" dirty="0" smtClean="0">
                <a:latin typeface="Franklin Gothic Book" pitchFamily="34" charset="0"/>
              </a:rPr>
              <a:t> which reached considerable number of customers and thus, had significant downloads. </a:t>
            </a:r>
          </a:p>
          <a:p>
            <a:pPr algn="just"/>
            <a:endParaRPr lang="en-IN" sz="1300" dirty="0" smtClean="0">
              <a:latin typeface="Franklin Gothic Book" pitchFamily="34" charset="0"/>
            </a:endParaRPr>
          </a:p>
          <a:p>
            <a:r>
              <a:rPr lang="en-IN" sz="1300" dirty="0" smtClean="0">
                <a:latin typeface="Franklin Gothic Book" pitchFamily="34" charset="0"/>
              </a:rPr>
              <a:t>The bid cost per app install was continuously monitored for each city &amp; with respect to each city's population &amp; brand's reach, the bid cost was adjusted to drive more results. A report was generated for each channel with respect to ROI &amp; the most profitable channel for Android app installs &amp; </a:t>
            </a:r>
            <a:r>
              <a:rPr lang="en-IN" sz="1300" dirty="0" err="1" smtClean="0">
                <a:latin typeface="Franklin Gothic Book" pitchFamily="34" charset="0"/>
              </a:rPr>
              <a:t>iOS</a:t>
            </a:r>
            <a:r>
              <a:rPr lang="en-IN" sz="1300" dirty="0" smtClean="0">
                <a:latin typeface="Franklin Gothic Book" pitchFamily="34" charset="0"/>
              </a:rPr>
              <a:t> app installs was identified. The content &amp; creative collaterals were continuously monitored and optimised based on the rank &amp; quality score. The placement of different ads was revised based on the trending topics, websites etc. Within a few months, the number of downloads had reached 63,796 downloads at a CPA of INR 3.59. A whopping conversion rate of 47.82% was also achieved through this strategy. The app install shot up to 70.59% with a 72.59% interaction</a:t>
            </a:r>
            <a:br>
              <a:rPr lang="en-IN" sz="1300" dirty="0" smtClean="0">
                <a:latin typeface="Franklin Gothic Book" pitchFamily="34" charset="0"/>
              </a:rPr>
            </a:br>
            <a:endParaRPr lang="en-IN" sz="13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597538"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4.4M</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1.3L</a:t>
            </a:r>
            <a:r>
              <a:rPr lang="en-IN" sz="2000" b="1" spc="75" dirty="0" smtClean="0">
                <a:solidFill>
                  <a:schemeClr val="tx1"/>
                </a:solidFill>
                <a:effectLst/>
                <a:latin typeface="Franklin Gothic Book" pitchFamily="34" charset="0"/>
                <a:ea typeface="MS Gothic"/>
                <a:cs typeface="Arial" pitchFamily="34" charset="0"/>
              </a:rPr>
              <a:t>+</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APP CLICKS</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6</a:t>
            </a:r>
            <a:r>
              <a:rPr lang="en-IN" sz="2000" b="1" spc="75" dirty="0" smtClean="0">
                <a:solidFill>
                  <a:schemeClr val="tx1"/>
                </a:solidFill>
                <a:effectLst/>
                <a:latin typeface="Franklin Gothic Book" pitchFamily="34" charset="0"/>
                <a:ea typeface="MS Gothic"/>
                <a:cs typeface="Arial" pitchFamily="34" charset="0"/>
              </a:rPr>
              <a:t>3K+</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APP DOWNLOADS</a:t>
            </a: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47%</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latin typeface="Franklin Gothic Book" pitchFamily="34" charset="0"/>
                <a:ea typeface="MS Gothic"/>
                <a:cs typeface="Arial" pitchFamily="34" charset="0"/>
              </a:rPr>
              <a:t>CONV.RATE</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070838"/>
            <a:ext cx="4282402" cy="1600438"/>
          </a:xfrm>
          <a:prstGeom prst="rect">
            <a:avLst/>
          </a:prstGeom>
        </p:spPr>
        <p:txBody>
          <a:bodyPr wrap="square">
            <a:spAutoFit/>
          </a:bodyPr>
          <a:lstStyle/>
          <a:p>
            <a:pPr>
              <a:buFont typeface="Arial" pitchFamily="34" charset="0"/>
              <a:buChar char="•"/>
            </a:pPr>
            <a:r>
              <a:rPr lang="en-IN" sz="1400" b="1" dirty="0" smtClean="0">
                <a:latin typeface="Franklin Gothic Book" pitchFamily="34" charset="0"/>
              </a:rPr>
              <a:t>Cost per reach at : 4 </a:t>
            </a:r>
            <a:r>
              <a:rPr lang="en-IN" sz="1400" b="1" dirty="0" err="1" smtClean="0">
                <a:latin typeface="Franklin Gothic Book" pitchFamily="34" charset="0"/>
              </a:rPr>
              <a:t>Paise</a:t>
            </a:r>
            <a:endParaRPr lang="en-IN" sz="1400" b="1" dirty="0" smtClean="0">
              <a:latin typeface="Franklin Gothic Book" pitchFamily="34" charset="0"/>
            </a:endParaRPr>
          </a:p>
          <a:p>
            <a:r>
              <a:rPr lang="en-IN" sz="1400" b="1" dirty="0" smtClean="0">
                <a:latin typeface="Franklin Gothic Book" pitchFamily="34" charset="0"/>
              </a:rPr>
              <a:t>(Industrial Standard at 10 </a:t>
            </a:r>
            <a:r>
              <a:rPr lang="en-IN" sz="1400" b="1" dirty="0" err="1" smtClean="0">
                <a:latin typeface="Franklin Gothic Book" pitchFamily="34" charset="0"/>
              </a:rPr>
              <a:t>Paise</a:t>
            </a:r>
            <a:r>
              <a:rPr lang="en-IN" sz="1400" b="1" dirty="0" smtClean="0">
                <a:latin typeface="Franklin Gothic Book" pitchFamily="34" charset="0"/>
              </a:rPr>
              <a:t>)</a:t>
            </a:r>
          </a:p>
          <a:p>
            <a:r>
              <a:rPr lang="en-IN" sz="1400" b="1" dirty="0" smtClean="0">
                <a:latin typeface="Franklin Gothic Book" pitchFamily="34" charset="0"/>
              </a:rPr>
              <a:t> </a:t>
            </a:r>
          </a:p>
          <a:p>
            <a:pPr>
              <a:buFont typeface="Arial" pitchFamily="34" charset="0"/>
              <a:buChar char="•"/>
            </a:pPr>
            <a:r>
              <a:rPr lang="en-IN" sz="1400" b="1" dirty="0" smtClean="0">
                <a:latin typeface="Franklin Gothic Book" pitchFamily="34" charset="0"/>
              </a:rPr>
              <a:t>Cost per Install at : Rs. 3.74/-</a:t>
            </a:r>
          </a:p>
          <a:p>
            <a:r>
              <a:rPr lang="en-IN" sz="1400" b="1" dirty="0" smtClean="0">
                <a:latin typeface="Franklin Gothic Book" pitchFamily="34" charset="0"/>
              </a:rPr>
              <a:t>(Industrial Standard at Rs. 20)</a:t>
            </a:r>
          </a:p>
          <a:p>
            <a:endParaRPr lang="en-IN" sz="1400" b="1" dirty="0" smtClean="0">
              <a:latin typeface="Franklin Gothic Book" pitchFamily="34" charset="0"/>
            </a:endParaRPr>
          </a:p>
          <a:p>
            <a:pPr>
              <a:buFont typeface="Arial" pitchFamily="34" charset="0"/>
              <a:buChar char="•"/>
            </a:pPr>
            <a:r>
              <a:rPr lang="en-IN" sz="1400" b="1" dirty="0" smtClean="0">
                <a:latin typeface="Franklin Gothic Book" pitchFamily="34" charset="0"/>
              </a:rPr>
              <a:t>Cost Per Acquisition at – Rs.20</a:t>
            </a:r>
            <a:endParaRPr lang="en-IN" sz="1400" b="1" dirty="0"/>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743821"/>
            <a:ext cx="4282402" cy="834779"/>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App Install Ads | Google App Installs | Google Analytics |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Developers | Google Developers | Firebase</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663938"/>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3</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887134" y="2803099"/>
            <a:ext cx="8699500" cy="1163638"/>
          </a:xfrm>
        </p:spPr>
        <p:txBody>
          <a:bodyPr/>
          <a:lstStyle/>
          <a:p>
            <a:r>
              <a:rPr lang="en-US" sz="2800" dirty="0" smtClean="0">
                <a:latin typeface="Franklin Gothic Medium" charset="0"/>
                <a:ea typeface="Franklin Gothic Medium" charset="0"/>
                <a:cs typeface="Franklin Gothic Medium" charset="0"/>
              </a:rPr>
              <a:t>Taking mileage of Farmer’s day to achieve good number of video views for a pump manufacturer </a:t>
            </a:r>
            <a:endParaRPr lang="en-US" sz="2800" dirty="0">
              <a:latin typeface="Franklin Gothic Medium" charset="0"/>
              <a:ea typeface="Franklin Gothic Medium" charset="0"/>
              <a:cs typeface="Franklin Gothic Medium" charset="0"/>
            </a:endParaRP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3: </a:t>
            </a:r>
            <a:r>
              <a:rPr lang="en-IN" sz="2400" b="1" i="1" dirty="0" smtClean="0"/>
              <a:t>Sentimental marketing campaign on Farmer's Day triggered a 30% increase in video views costing 3 times less using an effective marketing strategy.</a:t>
            </a:r>
            <a:endParaRPr lang="en-US" sz="2400" b="1" i="1" dirty="0">
              <a:latin typeface="Franklin Gothic Book" pitchFamily="34" charset="0"/>
            </a:endParaRPr>
          </a:p>
        </p:txBody>
      </p:sp>
      <p:sp>
        <p:nvSpPr>
          <p:cNvPr id="21" name="Rectangle 20"/>
          <p:cNvSpPr/>
          <p:nvPr/>
        </p:nvSpPr>
        <p:spPr>
          <a:xfrm>
            <a:off x="115276" y="1635929"/>
            <a:ext cx="6109677" cy="2862322"/>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Manufacturing</a:t>
            </a:r>
          </a:p>
          <a:p>
            <a:r>
              <a:rPr lang="en-IN" b="1" dirty="0" smtClean="0">
                <a:solidFill>
                  <a:schemeClr val="accent2"/>
                </a:solidFill>
                <a:latin typeface="Franklin Gothic Book" pitchFamily="34" charset="0"/>
              </a:rPr>
              <a:t>Turn over: 1200 </a:t>
            </a:r>
            <a:r>
              <a:rPr lang="en-IN" b="1" dirty="0" err="1" smtClean="0">
                <a:solidFill>
                  <a:schemeClr val="accent2"/>
                </a:solidFill>
                <a:latin typeface="Franklin Gothic Book" pitchFamily="34" charset="0"/>
              </a:rPr>
              <a:t>Crores</a:t>
            </a:r>
            <a:endParaRPr lang="en-IN" b="1" dirty="0" smtClean="0">
              <a:solidFill>
                <a:schemeClr val="accent2"/>
              </a:solidFill>
              <a:latin typeface="Franklin Gothic Book" pitchFamily="34" charset="0"/>
            </a:endParaRPr>
          </a:p>
          <a:p>
            <a:endParaRPr lang="en-IN" b="1" dirty="0" smtClean="0">
              <a:latin typeface="Franklin Gothic Book" pitchFamily="34" charset="0"/>
            </a:endParaRPr>
          </a:p>
          <a:p>
            <a:r>
              <a:rPr lang="en-IN" dirty="0" smtClean="0">
                <a:latin typeface="Franklin Gothic Book" pitchFamily="34" charset="0"/>
              </a:rPr>
              <a:t>The client is a well-known pump manufacturer in the country, with over 50 years of expertise. They provide agricultural pumps of the highest quality to increase farming efficiency and ease the farmer's life. The client has a strong presence in over 120 countries.</a:t>
            </a:r>
            <a:endParaRPr lang="en-IN" dirty="0">
              <a:latin typeface="Franklin Gothic Book" pitchFamily="34" charset="0"/>
            </a:endParaRPr>
          </a:p>
        </p:txBody>
      </p:sp>
      <p:sp>
        <p:nvSpPr>
          <p:cNvPr id="25" name="Rectangle 24"/>
          <p:cNvSpPr/>
          <p:nvPr/>
        </p:nvSpPr>
        <p:spPr>
          <a:xfrm>
            <a:off x="-20482" y="5301937"/>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518416"/>
            <a:ext cx="2245038"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35%</a:t>
            </a:r>
          </a:p>
          <a:p>
            <a:pPr algn="ctr"/>
            <a:r>
              <a:rPr lang="en-IN" b="1" dirty="0" smtClean="0">
                <a:solidFill>
                  <a:schemeClr val="bg1"/>
                </a:solidFill>
                <a:latin typeface="Franklin Gothic Book" pitchFamily="34" charset="0"/>
                <a:cs typeface="Arial" panose="020B0604020202020204" pitchFamily="34" charset="0"/>
              </a:rPr>
              <a:t>Increase in video views</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573660" y="5518416"/>
            <a:ext cx="1489190"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a:t>
            </a:r>
          </a:p>
          <a:p>
            <a:pPr algn="ctr"/>
            <a:r>
              <a:rPr lang="en-IN" b="1" dirty="0" smtClean="0">
                <a:solidFill>
                  <a:schemeClr val="bg1"/>
                </a:solidFill>
                <a:latin typeface="Franklin Gothic Book" pitchFamily="34" charset="0"/>
                <a:cs typeface="Arial" panose="020B0604020202020204" pitchFamily="34" charset="0"/>
              </a:rPr>
              <a:t>Times less cost</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30</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288395" y="5518416"/>
            <a:ext cx="1973490"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4</a:t>
            </a:r>
          </a:p>
          <a:p>
            <a:pPr algn="ctr"/>
            <a:r>
              <a:rPr lang="en-IN" b="1" dirty="0" smtClean="0">
                <a:solidFill>
                  <a:schemeClr val="bg1"/>
                </a:solidFill>
                <a:latin typeface="Franklin Gothic Book" pitchFamily="34" charset="0"/>
                <a:cs typeface="Arial" panose="020B0604020202020204" pitchFamily="34" charset="0"/>
              </a:rPr>
              <a:t>Different Languages</a:t>
            </a:r>
            <a:endParaRPr lang="en-IN" b="1" dirty="0">
              <a:solidFill>
                <a:schemeClr val="bg1"/>
              </a:solidFill>
              <a:latin typeface="Franklin Gothic Book" pitchFamily="34" charset="0"/>
              <a:cs typeface="Arial" panose="020B0604020202020204" pitchFamily="34" charset="0"/>
            </a:endParaRPr>
          </a:p>
        </p:txBody>
      </p:sp>
      <p:sp>
        <p:nvSpPr>
          <p:cNvPr id="35" name="Rectangle 34"/>
          <p:cNvSpPr/>
          <p:nvPr/>
        </p:nvSpPr>
        <p:spPr>
          <a:xfrm>
            <a:off x="7069014" y="1342854"/>
            <a:ext cx="5143499" cy="338554"/>
          </a:xfrm>
          <a:prstGeom prst="rect">
            <a:avLst/>
          </a:prstGeom>
        </p:spPr>
        <p:txBody>
          <a:bodyPr wrap="square">
            <a:spAutoFit/>
          </a:bodyPr>
          <a:lstStyle/>
          <a:p>
            <a:r>
              <a:rPr lang="en-IN" sz="1600" b="1" i="1" u="sng" dirty="0" smtClean="0">
                <a:latin typeface="Franklin Gothic Book" pitchFamily="34" charset="0"/>
              </a:rPr>
              <a:t>ADVERT USED FOR THE CAMPAIGN</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430260"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p:cNvPicPr>
            <a:picLocks noChangeAspect="1" noChangeArrowheads="1"/>
          </p:cNvPicPr>
          <p:nvPr/>
        </p:nvPicPr>
        <p:blipFill>
          <a:blip r:embed="rId4"/>
          <a:srcRect l="6762" t="19614" r="35524" b="15344"/>
          <a:stretch>
            <a:fillRect/>
          </a:stretch>
        </p:blipFill>
        <p:spPr bwMode="auto">
          <a:xfrm>
            <a:off x="6683831" y="1826548"/>
            <a:ext cx="4949109" cy="3137335"/>
          </a:xfrm>
          <a:prstGeom prst="rect">
            <a:avLst/>
          </a:prstGeom>
          <a:noFill/>
          <a:ln w="9525">
            <a:noFill/>
            <a:miter lim="800000"/>
            <a:headEnd/>
            <a:tailEnd/>
          </a:ln>
          <a:effectLst/>
        </p:spPr>
      </p:pic>
      <p:sp>
        <p:nvSpPr>
          <p:cNvPr id="18" name="Rectangle 17"/>
          <p:cNvSpPr/>
          <p:nvPr/>
        </p:nvSpPr>
        <p:spPr>
          <a:xfrm>
            <a:off x="6583655" y="4599851"/>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latin typeface="Franklin Gothic Book" pitchFamily="34" charset="0"/>
              </a:rPr>
              <a:t>The client wanted to reach out to the entire farmer community of the country during the Farmer's Day, which was pretty hard due to the vast linguistic differences.</a:t>
            </a:r>
            <a:endParaRPr lang="en-US" sz="1600" b="1" i="1" dirty="0">
              <a:latin typeface="Franklin Gothic Book" pitchFamily="34" charset="0"/>
            </a:endParaRPr>
          </a:p>
        </p:txBody>
      </p:sp>
      <p:sp>
        <p:nvSpPr>
          <p:cNvPr id="17" name="Rectangle 16"/>
          <p:cNvSpPr/>
          <p:nvPr/>
        </p:nvSpPr>
        <p:spPr>
          <a:xfrm>
            <a:off x="0" y="983275"/>
            <a:ext cx="7526215" cy="6093976"/>
          </a:xfrm>
          <a:prstGeom prst="rect">
            <a:avLst/>
          </a:prstGeom>
        </p:spPr>
        <p:txBody>
          <a:bodyPr wrap="square">
            <a:spAutoFit/>
          </a:bodyPr>
          <a:lstStyle/>
          <a:p>
            <a:pPr algn="just"/>
            <a:r>
              <a:rPr lang="en-IN" sz="1500" b="1" i="1" u="sng" dirty="0" smtClean="0">
                <a:solidFill>
                  <a:schemeClr val="accent2"/>
                </a:solidFill>
                <a:latin typeface="Franklin Gothic Book" pitchFamily="34" charset="0"/>
              </a:rPr>
              <a:t>Solutions Planned:</a:t>
            </a:r>
          </a:p>
          <a:p>
            <a:pPr algn="just"/>
            <a:endParaRPr lang="en-IN" sz="1500" b="1" i="1" u="sng" dirty="0" smtClean="0">
              <a:solidFill>
                <a:schemeClr val="accent2"/>
              </a:solidFill>
              <a:latin typeface="Franklin Gothic Book" pitchFamily="34" charset="0"/>
            </a:endParaRPr>
          </a:p>
          <a:p>
            <a:pPr algn="just"/>
            <a:r>
              <a:rPr lang="en-IN" sz="1500" dirty="0" smtClean="0">
                <a:latin typeface="Franklin Gothic Book" pitchFamily="34" charset="0"/>
              </a:rPr>
              <a:t>The digital team planned a vernacular video and display ads in 4 different languages to reach the farmers across the country. This strategy resulted in bringing down the CPV to 3 times lower than market standards. The video ads were also triggered by 30% higher than the mean views. </a:t>
            </a:r>
          </a:p>
          <a:p>
            <a:pPr algn="just"/>
            <a:endParaRPr lang="en-IN" sz="1500" dirty="0" smtClean="0">
              <a:latin typeface="Franklin Gothic Book" pitchFamily="34" charset="0"/>
            </a:endParaRPr>
          </a:p>
          <a:p>
            <a:pPr algn="just"/>
            <a:r>
              <a:rPr lang="en-IN" sz="1500" dirty="0" smtClean="0">
                <a:latin typeface="Franklin Gothic Book" pitchFamily="34" charset="0"/>
              </a:rPr>
              <a:t>A strategic road map was formulated based on the buyer persona. As per the framework, video ads were created as a tribute to the farmers incorporating information about </a:t>
            </a:r>
            <a:r>
              <a:rPr lang="en-IN" sz="1500" dirty="0" err="1" smtClean="0">
                <a:latin typeface="Franklin Gothic Book" pitchFamily="34" charset="0"/>
              </a:rPr>
              <a:t>agri</a:t>
            </a:r>
            <a:r>
              <a:rPr lang="en-IN" sz="1500" dirty="0" smtClean="0">
                <a:latin typeface="Franklin Gothic Book" pitchFamily="34" charset="0"/>
              </a:rPr>
              <a:t>-based pumps of the client. The ads were planned in 4 different languages, Hindi to cover the Northern parts of the country and Tamil, Telugu and Kannada for Southern regions of the country. </a:t>
            </a:r>
          </a:p>
          <a:p>
            <a:pPr algn="just"/>
            <a:endParaRPr lang="en-IN" sz="1500" dirty="0" smtClean="0">
              <a:latin typeface="Franklin Gothic Book" pitchFamily="34" charset="0"/>
            </a:endParaRPr>
          </a:p>
          <a:p>
            <a:pPr algn="just"/>
            <a:r>
              <a:rPr lang="en-IN" sz="1500" dirty="0" smtClean="0">
                <a:latin typeface="Franklin Gothic Book" pitchFamily="34" charset="0"/>
              </a:rPr>
              <a:t>Google Display ads were run across various </a:t>
            </a:r>
            <a:r>
              <a:rPr lang="en-IN" sz="1500" dirty="0" err="1" smtClean="0">
                <a:latin typeface="Franklin Gothic Book" pitchFamily="34" charset="0"/>
              </a:rPr>
              <a:t>agri</a:t>
            </a:r>
            <a:r>
              <a:rPr lang="en-IN" sz="1500" dirty="0" smtClean="0">
                <a:latin typeface="Franklin Gothic Book" pitchFamily="34" charset="0"/>
              </a:rPr>
              <a:t>-based websites, news sites, social channels and YouTube. The Google Display ads triggered a stunning reach of 1.7M niche target audience. The bounce rate was low, and the CPC was also meagre at just Rs.7. </a:t>
            </a:r>
          </a:p>
          <a:p>
            <a:pPr algn="just"/>
            <a:endParaRPr lang="en-IN" sz="1500" dirty="0" smtClean="0">
              <a:latin typeface="Franklin Gothic Book" pitchFamily="34" charset="0"/>
            </a:endParaRPr>
          </a:p>
          <a:p>
            <a:r>
              <a:rPr lang="en-IN" sz="1500" dirty="0" smtClean="0">
                <a:latin typeface="Franklin Gothic Book" pitchFamily="34" charset="0"/>
              </a:rPr>
              <a:t>The language barrier was broken by creating language-specific landing pages to which the audience were redirected from the ads. The strategically placed lead forms on the vernacular landing pages provided plenty of leads from the campaign. A stunning 2M views for video ads was triggered at a CPV of just Rs.0.19. </a:t>
            </a:r>
            <a:r>
              <a:rPr lang="en-IN" sz="1500" dirty="0" err="1" smtClean="0">
                <a:latin typeface="Franklin Gothic Book" pitchFamily="34" charset="0"/>
              </a:rPr>
              <a:t>Facebook</a:t>
            </a:r>
            <a:r>
              <a:rPr lang="en-IN" sz="1500" dirty="0" smtClean="0">
                <a:latin typeface="Franklin Gothic Book" pitchFamily="34" charset="0"/>
              </a:rPr>
              <a:t> and </a:t>
            </a:r>
            <a:r>
              <a:rPr lang="en-IN" sz="1500" dirty="0" err="1" smtClean="0">
                <a:latin typeface="Franklin Gothic Book" pitchFamily="34" charset="0"/>
              </a:rPr>
              <a:t>Instagram</a:t>
            </a:r>
            <a:r>
              <a:rPr lang="en-IN" sz="1500" dirty="0" smtClean="0">
                <a:latin typeface="Franklin Gothic Book" pitchFamily="34" charset="0"/>
              </a:rPr>
              <a:t> alone contributed to around 60% of the campaign success. </a:t>
            </a:r>
            <a:r>
              <a:rPr lang="en-IN" sz="1500" dirty="0" err="1" smtClean="0">
                <a:latin typeface="Franklin Gothic Book" pitchFamily="34" charset="0"/>
              </a:rPr>
              <a:t>Facebook</a:t>
            </a:r>
            <a:r>
              <a:rPr lang="en-IN" sz="1500" dirty="0" smtClean="0">
                <a:latin typeface="Franklin Gothic Book" pitchFamily="34" charset="0"/>
              </a:rPr>
              <a:t>, </a:t>
            </a:r>
            <a:r>
              <a:rPr lang="en-IN" sz="1500" dirty="0" err="1" smtClean="0">
                <a:latin typeface="Franklin Gothic Book" pitchFamily="34" charset="0"/>
              </a:rPr>
              <a:t>Instagram</a:t>
            </a:r>
            <a:r>
              <a:rPr lang="en-IN" sz="1500" dirty="0" smtClean="0">
                <a:latin typeface="Franklin Gothic Book" pitchFamily="34" charset="0"/>
              </a:rPr>
              <a:t>, YouTube, Google search and display ads were the channels used in the campaign. The campaign reached a massive success rate across the country reaching over 7.4M audience with just Rs.0.05 CPI. </a:t>
            </a:r>
            <a:br>
              <a:rPr lang="en-IN" sz="1500" dirty="0" smtClean="0">
                <a:latin typeface="Franklin Gothic Book" pitchFamily="34" charset="0"/>
              </a:rPr>
            </a:br>
            <a:endParaRPr lang="en-IN" sz="15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597538"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7.3M</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2.03M</a:t>
            </a:r>
            <a:r>
              <a:rPr lang="en-IN" sz="2000" b="1" spc="75" dirty="0" smtClean="0">
                <a:solidFill>
                  <a:schemeClr val="tx1"/>
                </a:solidFill>
                <a:effectLst/>
                <a:latin typeface="Franklin Gothic Book" pitchFamily="34" charset="0"/>
                <a:ea typeface="MS Gothic"/>
                <a:cs typeface="Arial" pitchFamily="34" charset="0"/>
              </a:rPr>
              <a:t>+</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VIDEO VIEWS</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124K+</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TRAFFIC</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35%</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latin typeface="Franklin Gothic Book" pitchFamily="34" charset="0"/>
                <a:ea typeface="MS Gothic"/>
                <a:cs typeface="Arial" pitchFamily="34" charset="0"/>
              </a:rPr>
              <a:t>HIGHER VIEWS</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070838"/>
            <a:ext cx="4282402" cy="1600438"/>
          </a:xfrm>
          <a:prstGeom prst="rect">
            <a:avLst/>
          </a:prstGeom>
        </p:spPr>
        <p:txBody>
          <a:bodyPr wrap="square">
            <a:spAutoFit/>
          </a:bodyPr>
          <a:lstStyle/>
          <a:p>
            <a:pPr>
              <a:buFont typeface="Arial" pitchFamily="34" charset="0"/>
              <a:buChar char="•"/>
            </a:pPr>
            <a:r>
              <a:rPr lang="en-IN" sz="1400" b="1" dirty="0" smtClean="0">
                <a:latin typeface="Franklin Gothic Book" pitchFamily="34" charset="0"/>
              </a:rPr>
              <a:t>Cost per reach at : 5 </a:t>
            </a:r>
            <a:r>
              <a:rPr lang="en-IN" sz="1400" b="1" dirty="0" err="1" smtClean="0">
                <a:latin typeface="Franklin Gothic Book" pitchFamily="34" charset="0"/>
              </a:rPr>
              <a:t>Paise</a:t>
            </a:r>
            <a:endParaRPr lang="en-IN" sz="1400" b="1" dirty="0" smtClean="0">
              <a:latin typeface="Franklin Gothic Book" pitchFamily="34" charset="0"/>
            </a:endParaRPr>
          </a:p>
          <a:p>
            <a:r>
              <a:rPr lang="en-IN" sz="1400" b="1" dirty="0" smtClean="0">
                <a:latin typeface="Franklin Gothic Book" pitchFamily="34" charset="0"/>
              </a:rPr>
              <a:t>(Industrial Standard at 10 </a:t>
            </a:r>
            <a:r>
              <a:rPr lang="en-IN" sz="1400" b="1" dirty="0" err="1" smtClean="0">
                <a:latin typeface="Franklin Gothic Book" pitchFamily="34" charset="0"/>
              </a:rPr>
              <a:t>Paise</a:t>
            </a:r>
            <a:r>
              <a:rPr lang="en-IN" sz="1400" b="1" dirty="0" smtClean="0">
                <a:latin typeface="Franklin Gothic Book" pitchFamily="34" charset="0"/>
              </a:rPr>
              <a:t>)</a:t>
            </a:r>
          </a:p>
          <a:p>
            <a:r>
              <a:rPr lang="en-IN" sz="1400" b="1" dirty="0" smtClean="0">
                <a:latin typeface="Franklin Gothic Book" pitchFamily="34" charset="0"/>
              </a:rPr>
              <a:t> </a:t>
            </a:r>
          </a:p>
          <a:p>
            <a:pPr>
              <a:buFont typeface="Arial" pitchFamily="34" charset="0"/>
              <a:buChar char="•"/>
            </a:pPr>
            <a:r>
              <a:rPr lang="en-IN" sz="1400" b="1" dirty="0" smtClean="0">
                <a:latin typeface="Franklin Gothic Book" pitchFamily="34" charset="0"/>
              </a:rPr>
              <a:t>Cost per Video View at : 19 </a:t>
            </a:r>
            <a:r>
              <a:rPr lang="en-IN" sz="1400" b="1" dirty="0" err="1" smtClean="0">
                <a:latin typeface="Franklin Gothic Book" pitchFamily="34" charset="0"/>
              </a:rPr>
              <a:t>Paise</a:t>
            </a:r>
            <a:endParaRPr lang="en-IN" sz="1400" b="1" dirty="0" smtClean="0">
              <a:latin typeface="Franklin Gothic Book" pitchFamily="34" charset="0"/>
            </a:endParaRPr>
          </a:p>
          <a:p>
            <a:r>
              <a:rPr lang="en-IN" sz="1400" b="1" dirty="0" smtClean="0">
                <a:latin typeface="Franklin Gothic Book" pitchFamily="34" charset="0"/>
              </a:rPr>
              <a:t>(Industrial Standard at Rs. 1)</a:t>
            </a:r>
          </a:p>
          <a:p>
            <a:endParaRPr lang="en-IN" sz="1400" b="1" dirty="0" smtClean="0">
              <a:latin typeface="Franklin Gothic Book" pitchFamily="34" charset="0"/>
            </a:endParaRPr>
          </a:p>
          <a:p>
            <a:pPr>
              <a:buFont typeface="Arial" pitchFamily="34" charset="0"/>
              <a:buChar char="•"/>
            </a:pPr>
            <a:r>
              <a:rPr lang="en-IN" sz="1400" b="1" dirty="0" smtClean="0">
                <a:latin typeface="Franklin Gothic Book" pitchFamily="34" charset="0"/>
              </a:rPr>
              <a:t>Cost Per Traffic at – 25 </a:t>
            </a:r>
            <a:r>
              <a:rPr lang="en-IN" sz="1400" b="1" dirty="0" err="1" smtClean="0">
                <a:latin typeface="Franklin Gothic Book" pitchFamily="34" charset="0"/>
              </a:rPr>
              <a:t>Paise</a:t>
            </a:r>
            <a:endParaRPr lang="en-IN" sz="1400" b="1" dirty="0"/>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743821"/>
            <a:ext cx="4282402" cy="834779"/>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 </a:t>
            </a:r>
            <a:r>
              <a:rPr lang="en-IN" sz="1400" b="1" spc="75" dirty="0" err="1" smtClean="0">
                <a:solidFill>
                  <a:schemeClr val="tx1"/>
                </a:solidFill>
                <a:latin typeface="Franklin Gothic Book" pitchFamily="34" charset="0"/>
                <a:ea typeface="MS Gothic"/>
                <a:cs typeface="Arial" pitchFamily="34" charset="0"/>
              </a:rPr>
              <a:t>Instagram</a:t>
            </a:r>
            <a:r>
              <a:rPr lang="en-IN" sz="1400" b="1" spc="75" dirty="0" smtClean="0">
                <a:solidFill>
                  <a:schemeClr val="tx1"/>
                </a:solidFill>
                <a:latin typeface="Franklin Gothic Book" pitchFamily="34" charset="0"/>
                <a:ea typeface="MS Gothic"/>
                <a:cs typeface="Arial" pitchFamily="34" charset="0"/>
              </a:rPr>
              <a:t> | Google Display | Google Search | Landing Pages | YouTube | SMS</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663938"/>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4</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887134" y="3194977"/>
            <a:ext cx="869950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On occasion of the World Water Day 2019 initiated by UN in the theme “Water for All – Leaving No One Behind”, Client initiated to execute a special series of social campaign based on the theme. </a:t>
            </a:r>
          </a:p>
          <a:p>
            <a:pPr indent="-228600">
              <a:lnSpc>
                <a:spcPct val="120000"/>
              </a:lnSpc>
              <a:spcAft>
                <a:spcPts val="600"/>
              </a:spcAft>
            </a:pPr>
            <a:endParaRPr lang="en-IN" sz="2800" b="1" dirty="0" smtClean="0">
              <a:latin typeface="Franklin Gothic Book" pitchFamily="34" charset="0"/>
              <a:cs typeface="Arial" panose="020B0604020202020204" pitchFamily="34" charset="0"/>
            </a:endParaRP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4: </a:t>
            </a:r>
            <a:r>
              <a:rPr lang="en-IN" sz="2400" b="1" i="1" dirty="0" smtClean="0"/>
              <a:t>Activating 4.8 Million brand impressions in 72 Hours through a Occasional Marketing Campaign for World Water Day  2019</a:t>
            </a:r>
            <a:endParaRPr lang="en-US" sz="2400" b="1" i="1" dirty="0">
              <a:latin typeface="Franklin Gothic Book" pitchFamily="34" charset="0"/>
            </a:endParaRPr>
          </a:p>
        </p:txBody>
      </p:sp>
      <p:sp>
        <p:nvSpPr>
          <p:cNvPr id="21" name="Rectangle 20"/>
          <p:cNvSpPr/>
          <p:nvPr/>
        </p:nvSpPr>
        <p:spPr>
          <a:xfrm>
            <a:off x="115276" y="1356529"/>
            <a:ext cx="6109677" cy="3693319"/>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Manufacturing</a:t>
            </a:r>
          </a:p>
          <a:p>
            <a:r>
              <a:rPr lang="en-IN" b="1" dirty="0" smtClean="0">
                <a:solidFill>
                  <a:schemeClr val="accent2"/>
                </a:solidFill>
                <a:latin typeface="Franklin Gothic Book" pitchFamily="34" charset="0"/>
              </a:rPr>
              <a:t>Turn over: 250 Million USD</a:t>
            </a:r>
            <a:endParaRPr lang="en-IN" b="1" dirty="0" smtClean="0">
              <a:latin typeface="Franklin Gothic Book" pitchFamily="34" charset="0"/>
            </a:endParaRPr>
          </a:p>
          <a:p>
            <a:r>
              <a:rPr lang="en-IN" dirty="0" smtClean="0">
                <a:latin typeface="Franklin Gothic Book" pitchFamily="34" charset="0"/>
              </a:rPr>
              <a:t>Client is a 250 Million USD fluid management solutions company head quartered in a tier 2 Indian city with over 6,000 product types relating to the water management sector. They are the global leader in the Fluid Management Solutions space. Their products are sold through 20,000 outlets over 120 countries backed by 1,500 service centres worldwide. The company has 21 manufacturing facilities across the world and has made acquisitions in the UK and Italy and over 11 wholly owned subsidiaries globally.</a:t>
            </a:r>
            <a:endParaRPr lang="en-IN" dirty="0">
              <a:latin typeface="Franklin Gothic Book" pitchFamily="34" charset="0"/>
            </a:endParaRPr>
          </a:p>
        </p:txBody>
      </p:sp>
      <p:sp>
        <p:nvSpPr>
          <p:cNvPr id="25" name="Rectangle 24"/>
          <p:cNvSpPr/>
          <p:nvPr/>
        </p:nvSpPr>
        <p:spPr>
          <a:xfrm>
            <a:off x="-20482" y="5301937"/>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518416"/>
            <a:ext cx="2245038"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20%</a:t>
            </a:r>
          </a:p>
          <a:p>
            <a:pPr algn="ctr"/>
            <a:r>
              <a:rPr lang="en-IN" b="1" dirty="0" smtClean="0">
                <a:solidFill>
                  <a:schemeClr val="bg1"/>
                </a:solidFill>
                <a:latin typeface="Franklin Gothic Book" pitchFamily="34" charset="0"/>
                <a:cs typeface="Arial" panose="020B0604020202020204" pitchFamily="34" charset="0"/>
              </a:rPr>
              <a:t>Increase in video views</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573660" y="5518416"/>
            <a:ext cx="2153988"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2.8M</a:t>
            </a:r>
          </a:p>
          <a:p>
            <a:pPr algn="ctr"/>
            <a:r>
              <a:rPr lang="en-IN" b="1" dirty="0" smtClean="0">
                <a:solidFill>
                  <a:schemeClr val="bg1"/>
                </a:solidFill>
                <a:latin typeface="Franklin Gothic Book" pitchFamily="34" charset="0"/>
                <a:cs typeface="Arial" panose="020B0604020202020204" pitchFamily="34" charset="0"/>
              </a:rPr>
              <a:t>Impressions in Google</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961563"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72</a:t>
            </a:r>
          </a:p>
          <a:p>
            <a:pPr algn="ctr"/>
            <a:r>
              <a:rPr lang="en-IN" b="1" dirty="0" smtClean="0">
                <a:solidFill>
                  <a:schemeClr val="bg1"/>
                </a:solidFill>
                <a:latin typeface="Franklin Gothic Book" pitchFamily="34" charset="0"/>
                <a:cs typeface="Arial" panose="020B0604020202020204" pitchFamily="34" charset="0"/>
              </a:rPr>
              <a:t>Hours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360965" y="5518416"/>
            <a:ext cx="2418675"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1.7M</a:t>
            </a:r>
          </a:p>
          <a:p>
            <a:pPr algn="ctr"/>
            <a:r>
              <a:rPr lang="en-IN" b="1" dirty="0" smtClean="0">
                <a:solidFill>
                  <a:schemeClr val="bg1"/>
                </a:solidFill>
                <a:latin typeface="Franklin Gothic Book" pitchFamily="34" charset="0"/>
                <a:cs typeface="Arial" panose="020B0604020202020204" pitchFamily="34" charset="0"/>
              </a:rPr>
              <a:t>Impressions in </a:t>
            </a:r>
            <a:r>
              <a:rPr lang="en-IN" b="1" dirty="0" err="1" smtClean="0">
                <a:solidFill>
                  <a:schemeClr val="bg1"/>
                </a:solidFill>
                <a:latin typeface="Franklin Gothic Book" pitchFamily="34" charset="0"/>
                <a:cs typeface="Arial" panose="020B0604020202020204" pitchFamily="34" charset="0"/>
              </a:rPr>
              <a:t>Facebook</a:t>
            </a:r>
            <a:endParaRPr lang="en-IN" b="1" dirty="0">
              <a:solidFill>
                <a:schemeClr val="bg1"/>
              </a:solidFill>
              <a:latin typeface="Franklin Gothic Book" pitchFamily="34" charset="0"/>
              <a:cs typeface="Arial" panose="020B0604020202020204" pitchFamily="34" charset="0"/>
            </a:endParaRPr>
          </a:p>
        </p:txBody>
      </p:sp>
      <p:sp>
        <p:nvSpPr>
          <p:cNvPr id="35" name="Rectangle 34"/>
          <p:cNvSpPr/>
          <p:nvPr/>
        </p:nvSpPr>
        <p:spPr>
          <a:xfrm>
            <a:off x="7069014" y="1342854"/>
            <a:ext cx="5143499" cy="584775"/>
          </a:xfrm>
          <a:prstGeom prst="rect">
            <a:avLst/>
          </a:prstGeom>
        </p:spPr>
        <p:txBody>
          <a:bodyPr wrap="square">
            <a:spAutoFit/>
          </a:bodyPr>
          <a:lstStyle/>
          <a:p>
            <a:r>
              <a:rPr lang="en-IN" sz="1600" b="1" i="1" u="sng" dirty="0" smtClean="0">
                <a:latin typeface="Franklin Gothic Book" pitchFamily="34" charset="0"/>
              </a:rPr>
              <a:t>SERIES OF CREATIVES WERE USED FOR THE CAMPAIGN, </a:t>
            </a:r>
          </a:p>
          <a:p>
            <a:r>
              <a:rPr lang="en-IN" sz="1600" b="1" i="1" u="sng" dirty="0" smtClean="0">
                <a:latin typeface="Franklin Gothic Book" pitchFamily="34" charset="0"/>
              </a:rPr>
              <a:t>BUT THE MAIN VIDEO IS MENTIONED BELOW</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430260"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6583655" y="4599851"/>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098" name="Picture 2"/>
          <p:cNvPicPr>
            <a:picLocks noChangeAspect="1" noChangeArrowheads="1"/>
          </p:cNvPicPr>
          <p:nvPr/>
        </p:nvPicPr>
        <p:blipFill>
          <a:blip r:embed="rId4"/>
          <a:srcRect l="8286" t="19302" r="36095" b="13651"/>
          <a:stretch>
            <a:fillRect/>
          </a:stretch>
        </p:blipFill>
        <p:spPr bwMode="auto">
          <a:xfrm>
            <a:off x="7002659" y="1971171"/>
            <a:ext cx="4625889" cy="3136733"/>
          </a:xfrm>
          <a:prstGeom prst="rect">
            <a:avLst/>
          </a:prstGeom>
          <a:noFill/>
          <a:ln w="9525">
            <a:noFill/>
            <a:miter lim="800000"/>
            <a:headEnd/>
            <a:tailEnd/>
          </a:ln>
          <a:effectLst/>
        </p:spPr>
      </p:pic>
      <p:sp>
        <p:nvSpPr>
          <p:cNvPr id="19" name="Rectangle 18"/>
          <p:cNvSpPr/>
          <p:nvPr/>
        </p:nvSpPr>
        <p:spPr>
          <a:xfrm>
            <a:off x="10045312" y="4704897"/>
            <a:ext cx="912973"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628175"/>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latin typeface="Franklin Gothic Book" pitchFamily="34" charset="0"/>
              </a:rPr>
              <a:t>On occasion of the Water Day 2019, the client wanted to run a special social campaign based on the water day theme. They required a viral reach &amp; wanted to show their support for a sustainable society but was unsure of the strategy &amp; the channels.</a:t>
            </a:r>
            <a:endParaRPr lang="en-US" sz="1600" b="1" i="1" dirty="0">
              <a:latin typeface="Franklin Gothic Book" pitchFamily="34" charset="0"/>
            </a:endParaRPr>
          </a:p>
        </p:txBody>
      </p:sp>
      <p:sp>
        <p:nvSpPr>
          <p:cNvPr id="17" name="Rectangle 16"/>
          <p:cNvSpPr/>
          <p:nvPr/>
        </p:nvSpPr>
        <p:spPr>
          <a:xfrm>
            <a:off x="0" y="983275"/>
            <a:ext cx="7526215" cy="5509200"/>
          </a:xfrm>
          <a:prstGeom prst="rect">
            <a:avLst/>
          </a:prstGeom>
        </p:spPr>
        <p:txBody>
          <a:bodyPr wrap="square">
            <a:spAutoFit/>
          </a:bodyPr>
          <a:lstStyle/>
          <a:p>
            <a:pPr algn="just"/>
            <a:r>
              <a:rPr lang="en-IN" sz="1600" b="1" i="1" u="sng" dirty="0" smtClean="0">
                <a:solidFill>
                  <a:schemeClr val="accent2"/>
                </a:solidFill>
                <a:latin typeface="Franklin Gothic Book" pitchFamily="34" charset="0"/>
              </a:rPr>
              <a:t>Solutions Planned:</a:t>
            </a:r>
          </a:p>
          <a:p>
            <a:pPr algn="just"/>
            <a:endParaRPr lang="en-IN" sz="1600" b="1" i="1" u="sng" dirty="0" smtClean="0">
              <a:solidFill>
                <a:schemeClr val="accent2"/>
              </a:solidFill>
              <a:latin typeface="Franklin Gothic Book" pitchFamily="34" charset="0"/>
            </a:endParaRPr>
          </a:p>
          <a:p>
            <a:pPr algn="just"/>
            <a:r>
              <a:rPr lang="en-IN" sz="1600" dirty="0" smtClean="0">
                <a:latin typeface="Franklin Gothic Book" pitchFamily="34" charset="0"/>
              </a:rPr>
              <a:t>A strong content strategy was developed to revolve around the Water Day 2019 theme that consisted of different image posts resonating the importance of water. Also, a special 2 minute creative &amp; emotional video was created to increase the engagement, reach &amp; drive traffic. A dedicated landing page was designed with strong content, </a:t>
            </a:r>
            <a:r>
              <a:rPr lang="en-IN" sz="1600" dirty="0" err="1" smtClean="0">
                <a:latin typeface="Franklin Gothic Book" pitchFamily="34" charset="0"/>
              </a:rPr>
              <a:t>creatives</a:t>
            </a:r>
            <a:r>
              <a:rPr lang="en-IN" sz="1600" dirty="0" smtClean="0">
                <a:latin typeface="Franklin Gothic Book" pitchFamily="34" charset="0"/>
              </a:rPr>
              <a:t> &amp; video.</a:t>
            </a:r>
          </a:p>
          <a:p>
            <a:pPr algn="just"/>
            <a:endParaRPr lang="en-IN" sz="1600" dirty="0" smtClean="0">
              <a:latin typeface="Franklin Gothic Book" pitchFamily="34" charset="0"/>
            </a:endParaRPr>
          </a:p>
          <a:p>
            <a:pPr algn="just"/>
            <a:r>
              <a:rPr lang="en-IN" sz="1600" dirty="0" smtClean="0">
                <a:latin typeface="Franklin Gothic Book" pitchFamily="34" charset="0"/>
              </a:rPr>
              <a:t> Different channels including </a:t>
            </a:r>
            <a:r>
              <a:rPr lang="en-IN" sz="1600" dirty="0" err="1" smtClean="0">
                <a:latin typeface="Franklin Gothic Book" pitchFamily="34" charset="0"/>
              </a:rPr>
              <a:t>Facebook</a:t>
            </a:r>
            <a:r>
              <a:rPr lang="en-IN" sz="1600" dirty="0" smtClean="0">
                <a:latin typeface="Franklin Gothic Book" pitchFamily="34" charset="0"/>
              </a:rPr>
              <a:t>, </a:t>
            </a:r>
            <a:r>
              <a:rPr lang="en-IN" sz="1600" dirty="0" err="1" smtClean="0">
                <a:latin typeface="Franklin Gothic Book" pitchFamily="34" charset="0"/>
              </a:rPr>
              <a:t>Instagram</a:t>
            </a:r>
            <a:r>
              <a:rPr lang="en-IN" sz="1600" dirty="0" smtClean="0">
                <a:latin typeface="Franklin Gothic Book" pitchFamily="34" charset="0"/>
              </a:rPr>
              <a:t>, Google Display, YouTube ads, Publishers, Influencers were chosen to reach more people and to generate more video views. A series of posts were published in digital channels &amp; the day before the Water Day, the video collateral along with the tailored sentimental marketing message were posted on different channels in order to generate emotional reactions from the users. </a:t>
            </a:r>
          </a:p>
          <a:p>
            <a:pPr algn="just"/>
            <a:endParaRPr lang="en-IN" sz="1600" dirty="0" smtClean="0">
              <a:latin typeface="Franklin Gothic Book" pitchFamily="34" charset="0"/>
            </a:endParaRPr>
          </a:p>
          <a:p>
            <a:r>
              <a:rPr lang="en-IN" sz="1600" dirty="0" smtClean="0">
                <a:latin typeface="Franklin Gothic Book" pitchFamily="34" charset="0"/>
              </a:rPr>
              <a:t>The placements &amp; bid adjustments for the display ads and YouTube ads were adjusted in a way for the YouTube &amp; display ads to appear more frequently on trending websites, videos, channels. Using the GYR calculators, bid adjustment strategies, the bid cost for each Google ad was optimised. A/B testing was done with different objectives like video views &amp; traffic and the optimization of the campaigns were carried out.</a:t>
            </a:r>
            <a:br>
              <a:rPr lang="en-IN" sz="1600" dirty="0" smtClean="0">
                <a:latin typeface="Franklin Gothic Book" pitchFamily="34" charset="0"/>
              </a:rPr>
            </a:br>
            <a:endParaRPr lang="en-IN" sz="16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597538"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4.8 </a:t>
            </a:r>
            <a:r>
              <a:rPr lang="en-IN" sz="2000" b="1" spc="75" dirty="0" smtClean="0">
                <a:solidFill>
                  <a:schemeClr val="tx1"/>
                </a:solidFill>
                <a:effectLst/>
                <a:latin typeface="Franklin Gothic Book" pitchFamily="34" charset="0"/>
                <a:ea typeface="MS Gothic"/>
                <a:cs typeface="Arial" pitchFamily="34" charset="0"/>
              </a:rPr>
              <a:t>M</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486K</a:t>
            </a:r>
            <a:r>
              <a:rPr lang="en-IN" sz="2000" b="1" spc="75" dirty="0" smtClean="0">
                <a:solidFill>
                  <a:schemeClr val="tx1"/>
                </a:solidFill>
                <a:effectLst/>
                <a:latin typeface="Franklin Gothic Book" pitchFamily="34" charset="0"/>
                <a:ea typeface="MS Gothic"/>
                <a:cs typeface="Arial" pitchFamily="34" charset="0"/>
              </a:rPr>
              <a:t>+</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VIDEO VIEWS</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24.4K+</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TRAFFIC</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20%</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latin typeface="Franklin Gothic Book" pitchFamily="34" charset="0"/>
                <a:ea typeface="MS Gothic"/>
                <a:cs typeface="Arial" pitchFamily="34" charset="0"/>
              </a:rPr>
              <a:t>HIGHER VIEWS</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070838"/>
            <a:ext cx="4282402" cy="1569660"/>
          </a:xfrm>
          <a:prstGeom prst="rect">
            <a:avLst/>
          </a:prstGeom>
        </p:spPr>
        <p:txBody>
          <a:bodyPr wrap="square">
            <a:spAutoFit/>
          </a:bodyPr>
          <a:lstStyle/>
          <a:p>
            <a:pPr>
              <a:buFont typeface="Arial" pitchFamily="34" charset="0"/>
              <a:buChar char="•"/>
            </a:pPr>
            <a:r>
              <a:rPr lang="en-IN" sz="1600" b="1" dirty="0" smtClean="0">
                <a:latin typeface="Franklin Gothic Book" pitchFamily="34" charset="0"/>
              </a:rPr>
              <a:t>Cost per reach at : </a:t>
            </a:r>
            <a:r>
              <a:rPr lang="en-IN" sz="1600" b="1" dirty="0" err="1" smtClean="0">
                <a:latin typeface="Franklin Gothic Book" pitchFamily="34" charset="0"/>
              </a:rPr>
              <a:t>Paise</a:t>
            </a:r>
            <a:endParaRPr lang="en-IN" sz="1600" b="1" dirty="0" smtClean="0">
              <a:latin typeface="Franklin Gothic Book" pitchFamily="34" charset="0"/>
            </a:endParaRPr>
          </a:p>
          <a:p>
            <a:r>
              <a:rPr lang="en-IN" sz="1600" b="1" dirty="0" smtClean="0">
                <a:latin typeface="Franklin Gothic Book" pitchFamily="34" charset="0"/>
              </a:rPr>
              <a:t>(Industrial Standard at 10 </a:t>
            </a:r>
            <a:r>
              <a:rPr lang="en-IN" sz="1600" b="1" dirty="0" err="1" smtClean="0">
                <a:latin typeface="Franklin Gothic Book" pitchFamily="34" charset="0"/>
              </a:rPr>
              <a:t>Paise</a:t>
            </a:r>
            <a:r>
              <a:rPr lang="en-IN" sz="1600" b="1" dirty="0" smtClean="0">
                <a:latin typeface="Franklin Gothic Book" pitchFamily="34" charset="0"/>
              </a:rPr>
              <a:t>)</a:t>
            </a:r>
          </a:p>
          <a:p>
            <a:r>
              <a:rPr lang="en-IN" sz="1600" b="1" dirty="0" smtClean="0">
                <a:latin typeface="Franklin Gothic Book" pitchFamily="34" charset="0"/>
              </a:rPr>
              <a:t> </a:t>
            </a:r>
          </a:p>
          <a:p>
            <a:pPr>
              <a:buFont typeface="Arial" pitchFamily="34" charset="0"/>
              <a:buChar char="•"/>
            </a:pPr>
            <a:r>
              <a:rPr lang="en-IN" sz="1600" b="1" dirty="0" smtClean="0">
                <a:latin typeface="Franklin Gothic Book" pitchFamily="34" charset="0"/>
              </a:rPr>
              <a:t>Cost per Video View at : 40 </a:t>
            </a:r>
            <a:r>
              <a:rPr lang="en-IN" sz="1600" b="1" dirty="0" err="1" smtClean="0">
                <a:latin typeface="Franklin Gothic Book" pitchFamily="34" charset="0"/>
              </a:rPr>
              <a:t>Paise</a:t>
            </a:r>
            <a:endParaRPr lang="en-IN" sz="1600" b="1" dirty="0" smtClean="0">
              <a:latin typeface="Franklin Gothic Book" pitchFamily="34" charset="0"/>
            </a:endParaRPr>
          </a:p>
          <a:p>
            <a:r>
              <a:rPr lang="en-IN" sz="1600" b="1" dirty="0" smtClean="0">
                <a:latin typeface="Franklin Gothic Book" pitchFamily="34" charset="0"/>
              </a:rPr>
              <a:t>(Industrial Standard at Rs. 1)</a:t>
            </a:r>
          </a:p>
          <a:p>
            <a:endParaRPr lang="en-IN" sz="1600" b="1" dirty="0" smtClean="0">
              <a:latin typeface="Franklin Gothic Book" pitchFamily="34" charset="0"/>
            </a:endParaRPr>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486399"/>
            <a:ext cx="4282402" cy="1164771"/>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Ads Reporting | </a:t>
            </a:r>
            <a:r>
              <a:rPr lang="en-IN" sz="1400" b="1" spc="75" dirty="0" err="1" smtClean="0">
                <a:solidFill>
                  <a:schemeClr val="tx1"/>
                </a:solidFill>
                <a:latin typeface="Franklin Gothic Book" pitchFamily="34" charset="0"/>
                <a:ea typeface="MS Gothic"/>
                <a:cs typeface="Arial" pitchFamily="34" charset="0"/>
              </a:rPr>
              <a:t>Instagram</a:t>
            </a:r>
            <a:r>
              <a:rPr lang="en-IN" sz="1400" b="1" spc="75" dirty="0" smtClean="0">
                <a:solidFill>
                  <a:schemeClr val="tx1"/>
                </a:solidFill>
                <a:latin typeface="Franklin Gothic Book" pitchFamily="34" charset="0"/>
                <a:ea typeface="MS Gothic"/>
                <a:cs typeface="Arial" pitchFamily="34" charset="0"/>
              </a:rPr>
              <a:t> | Google Display | Google Analytics | Google Video Ads | Publishers | Influencers</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406491"/>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5</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869950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5 conversions with a sale value of 10 CR in a time duration of 1 Year </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5: </a:t>
            </a:r>
            <a:r>
              <a:rPr lang="en-IN" sz="2400" b="1" i="1" dirty="0" smtClean="0"/>
              <a:t>Targeting the right ICP with effective A/B test campaigns enabled a 45% decrease in lead cost for Rs. 2 </a:t>
            </a:r>
            <a:r>
              <a:rPr lang="en-IN" sz="2400" b="1" i="1" dirty="0" err="1" smtClean="0"/>
              <a:t>crore</a:t>
            </a:r>
            <a:r>
              <a:rPr lang="en-IN" sz="2400" b="1" i="1" dirty="0" smtClean="0"/>
              <a:t> property in tier 2 city which resulted in 5 closures. </a:t>
            </a:r>
            <a:endParaRPr lang="en-US" sz="2400" b="1" i="1" dirty="0">
              <a:latin typeface="Franklin Gothic Book" pitchFamily="34" charset="0"/>
            </a:endParaRPr>
          </a:p>
        </p:txBody>
      </p:sp>
      <p:sp>
        <p:nvSpPr>
          <p:cNvPr id="21" name="Rectangle 20"/>
          <p:cNvSpPr/>
          <p:nvPr/>
        </p:nvSpPr>
        <p:spPr>
          <a:xfrm>
            <a:off x="115276" y="1472641"/>
            <a:ext cx="6109677" cy="2862322"/>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Real Estate</a:t>
            </a:r>
          </a:p>
          <a:p>
            <a:r>
              <a:rPr lang="en-IN" b="1" dirty="0" smtClean="0">
                <a:solidFill>
                  <a:schemeClr val="accent2"/>
                </a:solidFill>
                <a:latin typeface="Franklin Gothic Book" pitchFamily="34" charset="0"/>
              </a:rPr>
              <a:t>Turn over:  200 CR</a:t>
            </a:r>
          </a:p>
          <a:p>
            <a:endParaRPr lang="en-IN" b="1" dirty="0" smtClean="0">
              <a:latin typeface="Franklin Gothic Book" pitchFamily="34" charset="0"/>
            </a:endParaRPr>
          </a:p>
          <a:p>
            <a:r>
              <a:rPr lang="en-IN" dirty="0" smtClean="0">
                <a:latin typeface="Franklin Gothic Book" pitchFamily="34" charset="0"/>
              </a:rPr>
              <a:t>The client is a prestigious real estate promoter based out of Coimbatore. The luxury developer has many properties around the state of Tamil Nadu and is a leader when it comes to luxury housing. Their state-of-the-art technologies incorporated in the houses makes them a leader in this field.</a:t>
            </a:r>
            <a:endParaRPr lang="en-IN" dirty="0">
              <a:latin typeface="Franklin Gothic Book" pitchFamily="34" charset="0"/>
            </a:endParaRPr>
          </a:p>
        </p:txBody>
      </p:sp>
      <p:sp>
        <p:nvSpPr>
          <p:cNvPr id="25" name="Rectangle 24"/>
          <p:cNvSpPr/>
          <p:nvPr/>
        </p:nvSpPr>
        <p:spPr>
          <a:xfrm>
            <a:off x="-20482" y="5301937"/>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518416"/>
            <a:ext cx="2099934"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45%</a:t>
            </a:r>
          </a:p>
          <a:p>
            <a:pPr algn="ctr"/>
            <a:r>
              <a:rPr lang="en-IN" b="1" dirty="0" smtClean="0">
                <a:solidFill>
                  <a:schemeClr val="bg1"/>
                </a:solidFill>
                <a:latin typeface="Franklin Gothic Book" pitchFamily="34" charset="0"/>
                <a:cs typeface="Arial" panose="020B0604020202020204" pitchFamily="34" charset="0"/>
              </a:rPr>
              <a:t>Decrease in lead cost</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573660" y="5518416"/>
            <a:ext cx="1728999"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10CR</a:t>
            </a:r>
          </a:p>
          <a:p>
            <a:pPr algn="ctr"/>
            <a:r>
              <a:rPr lang="en-IN" b="1" dirty="0" smtClean="0">
                <a:solidFill>
                  <a:schemeClr val="bg1"/>
                </a:solidFill>
                <a:latin typeface="Franklin Gothic Book" pitchFamily="34" charset="0"/>
                <a:cs typeface="Arial" panose="020B0604020202020204" pitchFamily="34" charset="0"/>
              </a:rPr>
              <a:t>Conversion Value</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365</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360965" y="5518416"/>
            <a:ext cx="165750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55%</a:t>
            </a:r>
          </a:p>
          <a:p>
            <a:pPr algn="ctr"/>
            <a:r>
              <a:rPr lang="en-IN" b="1" dirty="0" smtClean="0">
                <a:solidFill>
                  <a:schemeClr val="bg1"/>
                </a:solidFill>
                <a:latin typeface="Franklin Gothic Book" pitchFamily="34" charset="0"/>
                <a:cs typeface="Arial" panose="020B0604020202020204" pitchFamily="34" charset="0"/>
              </a:rPr>
              <a:t>Increase in leads</a:t>
            </a:r>
            <a:endParaRPr lang="en-IN" b="1" dirty="0">
              <a:solidFill>
                <a:schemeClr val="bg1"/>
              </a:solidFill>
              <a:latin typeface="Franklin Gothic Book" pitchFamily="34" charset="0"/>
              <a:cs typeface="Arial" panose="020B0604020202020204" pitchFamily="34" charset="0"/>
            </a:endParaRPr>
          </a:p>
        </p:txBody>
      </p:sp>
      <p:sp>
        <p:nvSpPr>
          <p:cNvPr id="35" name="Rectangle 34"/>
          <p:cNvSpPr/>
          <p:nvPr/>
        </p:nvSpPr>
        <p:spPr>
          <a:xfrm>
            <a:off x="7069014" y="1342854"/>
            <a:ext cx="5143499" cy="338554"/>
          </a:xfrm>
          <a:prstGeom prst="rect">
            <a:avLst/>
          </a:prstGeom>
        </p:spPr>
        <p:txBody>
          <a:bodyPr wrap="square">
            <a:spAutoFit/>
          </a:bodyPr>
          <a:lstStyle/>
          <a:p>
            <a:r>
              <a:rPr lang="en-IN" sz="1600" b="1" i="1" u="sng" dirty="0" smtClean="0">
                <a:latin typeface="Franklin Gothic Book" pitchFamily="34" charset="0"/>
              </a:rPr>
              <a:t>ADVERT USED FOR THE LEAD CAMPAIGNS</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430260"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6583655" y="4599851"/>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045312" y="4704897"/>
            <a:ext cx="912973"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22" name="Picture 2"/>
          <p:cNvPicPr>
            <a:picLocks noChangeAspect="1" noChangeArrowheads="1"/>
          </p:cNvPicPr>
          <p:nvPr/>
        </p:nvPicPr>
        <p:blipFill>
          <a:blip r:embed="rId4"/>
          <a:srcRect l="67714" t="36402" r="17810" b="24856"/>
          <a:stretch>
            <a:fillRect/>
          </a:stretch>
        </p:blipFill>
        <p:spPr bwMode="auto">
          <a:xfrm>
            <a:off x="8018471" y="1768492"/>
            <a:ext cx="2109904" cy="3176253"/>
          </a:xfrm>
          <a:prstGeom prst="rect">
            <a:avLst/>
          </a:prstGeom>
          <a:noFill/>
          <a:ln w="9525">
            <a:noFill/>
            <a:miter lim="800000"/>
            <a:headEnd/>
            <a:tailEnd/>
          </a:ln>
          <a:effectLst/>
        </p:spPr>
      </p:pic>
      <p:sp>
        <p:nvSpPr>
          <p:cNvPr id="22" name="Rectangle 21"/>
          <p:cNvSpPr/>
          <p:nvPr/>
        </p:nvSpPr>
        <p:spPr>
          <a:xfrm>
            <a:off x="8018471" y="4522028"/>
            <a:ext cx="1384829" cy="1828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latin typeface="Franklin Gothic Book" pitchFamily="34" charset="0"/>
              </a:rPr>
              <a:t>A luxury real estate builder wanted to reach their target audience in digital space. When their strategy proved expensive, they wanted a renovated framework to accelerate their sales.</a:t>
            </a:r>
            <a:endParaRPr lang="en-US" sz="1600" b="1" i="1" dirty="0">
              <a:latin typeface="Franklin Gothic Book" pitchFamily="34" charset="0"/>
            </a:endParaRPr>
          </a:p>
        </p:txBody>
      </p:sp>
      <p:sp>
        <p:nvSpPr>
          <p:cNvPr id="17" name="Rectangle 16"/>
          <p:cNvSpPr/>
          <p:nvPr/>
        </p:nvSpPr>
        <p:spPr>
          <a:xfrm>
            <a:off x="0" y="983275"/>
            <a:ext cx="7526215" cy="5909310"/>
          </a:xfrm>
          <a:prstGeom prst="rect">
            <a:avLst/>
          </a:prstGeom>
        </p:spPr>
        <p:txBody>
          <a:bodyPr wrap="square">
            <a:spAutoFit/>
          </a:bodyPr>
          <a:lstStyle/>
          <a:p>
            <a:pPr algn="just"/>
            <a:r>
              <a:rPr lang="en-IN" sz="1400" b="1" i="1" u="sng" dirty="0" smtClean="0">
                <a:solidFill>
                  <a:schemeClr val="accent2"/>
                </a:solidFill>
                <a:latin typeface="Franklin Gothic Book" pitchFamily="34" charset="0"/>
              </a:rPr>
              <a:t>Solutions Planned:</a:t>
            </a:r>
          </a:p>
          <a:p>
            <a:pPr algn="just"/>
            <a:endParaRPr lang="en-IN" sz="1400" b="1" i="1" u="sng" dirty="0" smtClean="0">
              <a:solidFill>
                <a:schemeClr val="accent2"/>
              </a:solidFill>
              <a:latin typeface="Franklin Gothic Book" pitchFamily="34" charset="0"/>
            </a:endParaRPr>
          </a:p>
          <a:p>
            <a:pPr algn="just"/>
            <a:r>
              <a:rPr lang="en-IN" sz="1400" dirty="0" smtClean="0">
                <a:latin typeface="Franklin Gothic Book" pitchFamily="34" charset="0"/>
              </a:rPr>
              <a:t>The ICPs was segregated based on the Job titles, Device Usage, Behaviour &amp; Income, and the </a:t>
            </a:r>
            <a:r>
              <a:rPr lang="en-IN" sz="1400" dirty="0" err="1" smtClean="0">
                <a:latin typeface="Franklin Gothic Book" pitchFamily="34" charset="0"/>
              </a:rPr>
              <a:t>creatives</a:t>
            </a:r>
            <a:r>
              <a:rPr lang="en-IN" sz="1400" dirty="0" smtClean="0">
                <a:latin typeface="Franklin Gothic Book" pitchFamily="34" charset="0"/>
              </a:rPr>
              <a:t> were planned according to the ICPs to bring in leads. Social CRM was used to segregate the leads based on interests. This gave us a clear prediction on future sales pipelines &amp; personalization of the content on buyer persona. There was a 45% increase in lead quantity. </a:t>
            </a:r>
          </a:p>
          <a:p>
            <a:pPr algn="just"/>
            <a:endParaRPr lang="en-IN" sz="1400" dirty="0" smtClean="0">
              <a:latin typeface="Franklin Gothic Book" pitchFamily="34" charset="0"/>
            </a:endParaRPr>
          </a:p>
          <a:p>
            <a:pPr algn="just"/>
            <a:r>
              <a:rPr lang="en-IN" sz="1400" dirty="0" smtClean="0">
                <a:latin typeface="Franklin Gothic Book" pitchFamily="34" charset="0"/>
              </a:rPr>
              <a:t>Our digital team did market research and made a SWOT analysis of the client to prepare a strategic framework and to tap the right target audience through the proper channels. </a:t>
            </a:r>
            <a:r>
              <a:rPr lang="en-IN" sz="1400" dirty="0" err="1" smtClean="0">
                <a:latin typeface="Franklin Gothic Book" pitchFamily="34" charset="0"/>
              </a:rPr>
              <a:t>Facebook</a:t>
            </a:r>
            <a:r>
              <a:rPr lang="en-IN" sz="1400" dirty="0" smtClean="0">
                <a:latin typeface="Franklin Gothic Book" pitchFamily="34" charset="0"/>
              </a:rPr>
              <a:t>, </a:t>
            </a:r>
            <a:r>
              <a:rPr lang="en-IN" sz="1400" dirty="0" err="1" smtClean="0">
                <a:latin typeface="Franklin Gothic Book" pitchFamily="34" charset="0"/>
              </a:rPr>
              <a:t>Instagram</a:t>
            </a:r>
            <a:r>
              <a:rPr lang="en-IN" sz="1400" dirty="0" smtClean="0">
                <a:latin typeface="Franklin Gothic Book" pitchFamily="34" charset="0"/>
              </a:rPr>
              <a:t>, Google display and Search ads were finalised as ideal channels. Landing pages were also created to increase the engagement rate based on content personalization. The conversion rate from landing page increased to 11% once the personalization strategy was adopted. </a:t>
            </a:r>
          </a:p>
          <a:p>
            <a:pPr algn="just"/>
            <a:endParaRPr lang="en-IN" sz="1400" dirty="0" smtClean="0">
              <a:latin typeface="Franklin Gothic Book" pitchFamily="34" charset="0"/>
            </a:endParaRPr>
          </a:p>
          <a:p>
            <a:pPr algn="just"/>
            <a:r>
              <a:rPr lang="en-IN" sz="1400" dirty="0" smtClean="0">
                <a:latin typeface="Franklin Gothic Book" pitchFamily="34" charset="0"/>
              </a:rPr>
              <a:t>Target marketing was done on </a:t>
            </a:r>
            <a:r>
              <a:rPr lang="en-IN" sz="1400" dirty="0" err="1" smtClean="0">
                <a:latin typeface="Franklin Gothic Book" pitchFamily="34" charset="0"/>
              </a:rPr>
              <a:t>Facebook</a:t>
            </a:r>
            <a:r>
              <a:rPr lang="en-IN" sz="1400" dirty="0" smtClean="0">
                <a:latin typeface="Franklin Gothic Book" pitchFamily="34" charset="0"/>
              </a:rPr>
              <a:t> and </a:t>
            </a:r>
            <a:r>
              <a:rPr lang="en-IN" sz="1400" dirty="0" err="1" smtClean="0">
                <a:latin typeface="Franklin Gothic Book" pitchFamily="34" charset="0"/>
              </a:rPr>
              <a:t>Instagram</a:t>
            </a:r>
            <a:r>
              <a:rPr lang="en-IN" sz="1400" dirty="0" smtClean="0">
                <a:latin typeface="Franklin Gothic Book" pitchFamily="34" charset="0"/>
              </a:rPr>
              <a:t> to generate leads from the identified ICPs. There was an impressive reach of 2.5M audience. Apart from this brand awareness campaign, we also ran campaigns simultaneously with varied themes. Google search ads and Display ads based on geo-targeting further enhanced the lead generation campaign. The main objective was to drive website traffic &amp; generate leads from the landing page. Keywords were optimized, and all the ads directed the users to the unique landing pages with personalized content. This resulted in generating more leads. </a:t>
            </a:r>
          </a:p>
          <a:p>
            <a:pPr algn="just"/>
            <a:endParaRPr lang="en-IN" sz="1400" dirty="0" smtClean="0">
              <a:latin typeface="Franklin Gothic Book" pitchFamily="34" charset="0"/>
            </a:endParaRPr>
          </a:p>
          <a:p>
            <a:pPr algn="just"/>
            <a:r>
              <a:rPr lang="en-IN" sz="1400" dirty="0" smtClean="0">
                <a:latin typeface="Franklin Gothic Book" pitchFamily="34" charset="0"/>
              </a:rPr>
              <a:t>All the leads were fed into social CRM to segregate the leads based on their interests. And email marketing followed up. There was a massive 7% open rate on emails. An incredible conversion of 8 units was done at an amazing Cost per Lead of just Rs.67, which is 45% less than the average cost. The cost per acquisition was also very low for 2 Cr property. The lead campaign was run as per the framework, and it was a massive success with a reach of over 2.5M audience. </a:t>
            </a:r>
            <a:br>
              <a:rPr lang="en-IN" sz="1400" dirty="0" smtClean="0">
                <a:latin typeface="Franklin Gothic Book" pitchFamily="34" charset="0"/>
              </a:rPr>
            </a:br>
            <a:endParaRPr lang="en-IN" sz="14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597538"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2.5 </a:t>
            </a:r>
            <a:r>
              <a:rPr lang="en-IN" sz="2000" b="1" spc="75" dirty="0" smtClean="0">
                <a:solidFill>
                  <a:schemeClr val="tx1"/>
                </a:solidFill>
                <a:effectLst/>
                <a:latin typeface="Franklin Gothic Book" pitchFamily="34" charset="0"/>
                <a:ea typeface="MS Gothic"/>
                <a:cs typeface="Arial" pitchFamily="34" charset="0"/>
              </a:rPr>
              <a:t>M</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13.9K</a:t>
            </a:r>
            <a:r>
              <a:rPr lang="en-IN" sz="2000" b="1" spc="75" dirty="0" smtClean="0">
                <a:solidFill>
                  <a:schemeClr val="tx1"/>
                </a:solidFill>
                <a:effectLst/>
                <a:latin typeface="Franklin Gothic Book" pitchFamily="34" charset="0"/>
                <a:ea typeface="MS Gothic"/>
                <a:cs typeface="Arial" pitchFamily="34" charset="0"/>
              </a:rPr>
              <a:t>+</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TRAFFIC</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1.48K+</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LEADS</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5</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latin typeface="Franklin Gothic Book" pitchFamily="34" charset="0"/>
                <a:ea typeface="MS Gothic"/>
                <a:cs typeface="Arial" pitchFamily="34" charset="0"/>
              </a:rPr>
              <a:t>CONV</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070838"/>
            <a:ext cx="4282402" cy="1569660"/>
          </a:xfrm>
          <a:prstGeom prst="rect">
            <a:avLst/>
          </a:prstGeom>
        </p:spPr>
        <p:txBody>
          <a:bodyPr wrap="square">
            <a:spAutoFit/>
          </a:bodyPr>
          <a:lstStyle/>
          <a:p>
            <a:pPr>
              <a:buFont typeface="Arial" pitchFamily="34" charset="0"/>
              <a:buChar char="•"/>
            </a:pPr>
            <a:r>
              <a:rPr lang="en-IN" sz="1600" b="1" dirty="0" smtClean="0">
                <a:latin typeface="Franklin Gothic Book" pitchFamily="34" charset="0"/>
              </a:rPr>
              <a:t>Cost per reach at : 7 </a:t>
            </a:r>
            <a:r>
              <a:rPr lang="en-IN" sz="1600" b="1" dirty="0" err="1" smtClean="0">
                <a:latin typeface="Franklin Gothic Book" pitchFamily="34" charset="0"/>
              </a:rPr>
              <a:t>Paise</a:t>
            </a:r>
            <a:endParaRPr lang="en-IN" sz="1600" b="1" dirty="0" smtClean="0">
              <a:latin typeface="Franklin Gothic Book" pitchFamily="34" charset="0"/>
            </a:endParaRPr>
          </a:p>
          <a:p>
            <a:r>
              <a:rPr lang="en-IN" sz="1600" b="1" dirty="0" smtClean="0">
                <a:latin typeface="Franklin Gothic Book" pitchFamily="34" charset="0"/>
              </a:rPr>
              <a:t>(Industrial Standard at 10 </a:t>
            </a:r>
            <a:r>
              <a:rPr lang="en-IN" sz="1600" b="1" dirty="0" err="1" smtClean="0">
                <a:latin typeface="Franklin Gothic Book" pitchFamily="34" charset="0"/>
              </a:rPr>
              <a:t>Paise</a:t>
            </a:r>
            <a:r>
              <a:rPr lang="en-IN" sz="1600" b="1" dirty="0" smtClean="0">
                <a:latin typeface="Franklin Gothic Book" pitchFamily="34" charset="0"/>
              </a:rPr>
              <a:t>)</a:t>
            </a:r>
          </a:p>
          <a:p>
            <a:r>
              <a:rPr lang="en-IN" sz="1600" b="1" dirty="0" smtClean="0">
                <a:latin typeface="Franklin Gothic Book" pitchFamily="34" charset="0"/>
              </a:rPr>
              <a:t> </a:t>
            </a:r>
          </a:p>
          <a:p>
            <a:pPr>
              <a:buFont typeface="Arial" pitchFamily="34" charset="0"/>
              <a:buChar char="•"/>
            </a:pPr>
            <a:r>
              <a:rPr lang="en-IN" sz="1600" b="1" dirty="0" smtClean="0">
                <a:latin typeface="Franklin Gothic Book" pitchFamily="34" charset="0"/>
              </a:rPr>
              <a:t>Cost per Lead at : Rs. 67/-</a:t>
            </a:r>
          </a:p>
          <a:p>
            <a:r>
              <a:rPr lang="en-IN" sz="1600" b="1" dirty="0" smtClean="0">
                <a:latin typeface="Franklin Gothic Book" pitchFamily="34" charset="0"/>
              </a:rPr>
              <a:t>(Industrial Standard at Rs. 200)</a:t>
            </a:r>
          </a:p>
          <a:p>
            <a:endParaRPr lang="en-IN" sz="1600" b="1" dirty="0" smtClean="0">
              <a:latin typeface="Franklin Gothic Book" pitchFamily="34" charset="0"/>
            </a:endParaRPr>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602512"/>
            <a:ext cx="4282402" cy="870857"/>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 </a:t>
            </a:r>
            <a:r>
              <a:rPr lang="en-IN" sz="1400" b="1" spc="75" dirty="0" err="1" smtClean="0">
                <a:solidFill>
                  <a:schemeClr val="tx1"/>
                </a:solidFill>
                <a:latin typeface="Franklin Gothic Book" pitchFamily="34" charset="0"/>
                <a:ea typeface="MS Gothic"/>
                <a:cs typeface="Arial" pitchFamily="34" charset="0"/>
              </a:rPr>
              <a:t>Instagram</a:t>
            </a:r>
            <a:r>
              <a:rPr lang="en-IN" sz="1400" b="1" spc="75" dirty="0" smtClean="0">
                <a:solidFill>
                  <a:schemeClr val="tx1"/>
                </a:solidFill>
                <a:latin typeface="Franklin Gothic Book" pitchFamily="34" charset="0"/>
                <a:ea typeface="MS Gothic"/>
                <a:cs typeface="Arial" pitchFamily="34" charset="0"/>
              </a:rPr>
              <a:t> | Google Display | Google Search | Social CRM | Email (Social CRM) | Landing Pages</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406491"/>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6</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A digital brand awareness which led to the rapid e-commerce sales  of Rs.1.25 </a:t>
            </a:r>
            <a:r>
              <a:rPr lang="en-IN" sz="2800" b="1" dirty="0" err="1" smtClean="0">
                <a:latin typeface="Franklin Gothic Book" pitchFamily="34" charset="0"/>
                <a:cs typeface="Arial" panose="020B0604020202020204" pitchFamily="34" charset="0"/>
              </a:rPr>
              <a:t>Lacs</a:t>
            </a:r>
            <a:r>
              <a:rPr lang="en-IN" sz="2800" b="1" dirty="0" smtClean="0">
                <a:latin typeface="Franklin Gothic Book" pitchFamily="34" charset="0"/>
                <a:cs typeface="Arial" panose="020B0604020202020204" pitchFamily="34" charset="0"/>
              </a:rPr>
              <a:t> within 6 months</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6: </a:t>
            </a:r>
            <a:r>
              <a:rPr lang="en-IN" sz="2400" b="1" i="1" dirty="0" smtClean="0">
                <a:latin typeface="Franklin Gothic Book" pitchFamily="34" charset="0"/>
              </a:rPr>
              <a:t>A digital brand awareness which led to the rapid e-commerce sales  of Rs.1.25 </a:t>
            </a:r>
            <a:r>
              <a:rPr lang="en-IN" sz="2400" b="1" i="1" dirty="0" err="1" smtClean="0">
                <a:latin typeface="Franklin Gothic Book" pitchFamily="34" charset="0"/>
              </a:rPr>
              <a:t>Lacs</a:t>
            </a:r>
            <a:r>
              <a:rPr lang="en-IN" sz="2400" b="1" i="1" dirty="0" smtClean="0">
                <a:latin typeface="Franklin Gothic Book" pitchFamily="34" charset="0"/>
              </a:rPr>
              <a:t> within 6 months</a:t>
            </a:r>
            <a:r>
              <a:rPr lang="en-IN" sz="2400" b="1" i="1" dirty="0" smtClean="0"/>
              <a:t>. </a:t>
            </a:r>
            <a:endParaRPr lang="en-US" sz="2400" b="1" i="1" dirty="0">
              <a:latin typeface="Franklin Gothic Book" pitchFamily="34" charset="0"/>
            </a:endParaRPr>
          </a:p>
        </p:txBody>
      </p:sp>
      <p:sp>
        <p:nvSpPr>
          <p:cNvPr id="21" name="Rectangle 20"/>
          <p:cNvSpPr/>
          <p:nvPr/>
        </p:nvSpPr>
        <p:spPr>
          <a:xfrm>
            <a:off x="115276" y="1472641"/>
            <a:ext cx="6109677" cy="3139321"/>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FMCG</a:t>
            </a:r>
          </a:p>
          <a:p>
            <a:r>
              <a:rPr lang="en-IN" b="1" dirty="0" smtClean="0">
                <a:solidFill>
                  <a:schemeClr val="accent2"/>
                </a:solidFill>
                <a:latin typeface="Franklin Gothic Book" pitchFamily="34" charset="0"/>
              </a:rPr>
              <a:t>Turn over:  10 CR+</a:t>
            </a:r>
          </a:p>
          <a:p>
            <a:endParaRPr lang="en-IN" b="1" dirty="0" smtClean="0">
              <a:latin typeface="Franklin Gothic Book" pitchFamily="34" charset="0"/>
            </a:endParaRPr>
          </a:p>
          <a:p>
            <a:r>
              <a:rPr lang="en-IN" dirty="0" smtClean="0">
                <a:latin typeface="Franklin Gothic Book" pitchFamily="34" charset="0"/>
              </a:rPr>
              <a:t>A leading manufacturer of pure cow ghee with an expertise experience of over 50 years in the South Indian market. The company promises quality and hygiene of the product from manufacturing, packaging and delivering. With an ISO and AGMARK certification, the company maintains the standards and helps to improve the experience of traditional ghee.</a:t>
            </a:r>
            <a:endParaRPr lang="en-IN" dirty="0">
              <a:latin typeface="Franklin Gothic Book" pitchFamily="34" charset="0"/>
            </a:endParaRPr>
          </a:p>
        </p:txBody>
      </p:sp>
      <p:sp>
        <p:nvSpPr>
          <p:cNvPr id="25" name="Rectangle 24"/>
          <p:cNvSpPr/>
          <p:nvPr/>
        </p:nvSpPr>
        <p:spPr>
          <a:xfrm>
            <a:off x="-35169" y="5293736"/>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518416"/>
            <a:ext cx="1593770"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32%</a:t>
            </a:r>
          </a:p>
          <a:p>
            <a:pPr algn="ctr"/>
            <a:r>
              <a:rPr lang="en-IN" b="1" dirty="0" smtClean="0">
                <a:solidFill>
                  <a:schemeClr val="bg1"/>
                </a:solidFill>
                <a:latin typeface="Franklin Gothic Book" pitchFamily="34" charset="0"/>
                <a:cs typeface="Arial" panose="020B0604020202020204" pitchFamily="34" charset="0"/>
              </a:rPr>
              <a:t>Decrease in CPA</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163355" y="5518416"/>
            <a:ext cx="241572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50%</a:t>
            </a:r>
          </a:p>
          <a:p>
            <a:pPr algn="ctr"/>
            <a:r>
              <a:rPr lang="en-IN" b="1" dirty="0" smtClean="0">
                <a:solidFill>
                  <a:schemeClr val="bg1"/>
                </a:solidFill>
                <a:latin typeface="Franklin Gothic Book" pitchFamily="34" charset="0"/>
                <a:cs typeface="Arial" panose="020B0604020202020204" pitchFamily="34" charset="0"/>
              </a:rPr>
              <a:t>Increase in Organic Sale </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180</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360965" y="5518416"/>
            <a:ext cx="2455032"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62%</a:t>
            </a:r>
          </a:p>
          <a:p>
            <a:pPr algn="ctr"/>
            <a:r>
              <a:rPr lang="en-IN" b="1" dirty="0" smtClean="0">
                <a:solidFill>
                  <a:schemeClr val="bg1"/>
                </a:solidFill>
                <a:latin typeface="Franklin Gothic Book" pitchFamily="34" charset="0"/>
                <a:cs typeface="Arial" panose="020B0604020202020204" pitchFamily="34" charset="0"/>
              </a:rPr>
              <a:t>Decrease in Bounce rate </a:t>
            </a:r>
            <a:endParaRPr lang="en-IN" b="1" dirty="0">
              <a:solidFill>
                <a:schemeClr val="bg1"/>
              </a:solidFill>
              <a:latin typeface="Franklin Gothic Book" pitchFamily="34" charset="0"/>
              <a:cs typeface="Arial" panose="020B0604020202020204" pitchFamily="34" charset="0"/>
            </a:endParaRPr>
          </a:p>
        </p:txBody>
      </p:sp>
      <p:sp>
        <p:nvSpPr>
          <p:cNvPr id="35" name="Rectangle 34"/>
          <p:cNvSpPr/>
          <p:nvPr/>
        </p:nvSpPr>
        <p:spPr>
          <a:xfrm>
            <a:off x="7069014" y="1270284"/>
            <a:ext cx="5143499" cy="338554"/>
          </a:xfrm>
          <a:prstGeom prst="rect">
            <a:avLst/>
          </a:prstGeom>
        </p:spPr>
        <p:txBody>
          <a:bodyPr wrap="square">
            <a:spAutoFit/>
          </a:bodyPr>
          <a:lstStyle/>
          <a:p>
            <a:r>
              <a:rPr lang="en-IN" sz="1600" b="1" i="1" u="sng" dirty="0" smtClean="0">
                <a:latin typeface="Franklin Gothic Book" pitchFamily="34" charset="0"/>
              </a:rPr>
              <a:t>SALES DASHBOARD</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430260"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6583655" y="4599851"/>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045312" y="4704897"/>
            <a:ext cx="912973"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148" name="Picture 4"/>
          <p:cNvPicPr>
            <a:picLocks noChangeAspect="1" noChangeArrowheads="1"/>
          </p:cNvPicPr>
          <p:nvPr/>
        </p:nvPicPr>
        <p:blipFill>
          <a:blip r:embed="rId4"/>
          <a:srcRect l="7625" t="38444" r="36000" b="44560"/>
          <a:stretch>
            <a:fillRect/>
          </a:stretch>
        </p:blipFill>
        <p:spPr bwMode="auto">
          <a:xfrm>
            <a:off x="6583655" y="2142313"/>
            <a:ext cx="5246395" cy="889690"/>
          </a:xfrm>
          <a:prstGeom prst="rect">
            <a:avLst/>
          </a:prstGeom>
          <a:noFill/>
          <a:ln w="9525">
            <a:noFill/>
            <a:miter lim="800000"/>
            <a:headEnd/>
            <a:tailEnd/>
          </a:ln>
          <a:effectLst/>
        </p:spPr>
      </p:pic>
      <p:pic>
        <p:nvPicPr>
          <p:cNvPr id="6149" name="Picture 5" descr="C:\Users\Admin\Downloads\ayyappa1.JPG"/>
          <p:cNvPicPr>
            <a:picLocks noChangeAspect="1" noChangeArrowheads="1"/>
          </p:cNvPicPr>
          <p:nvPr/>
        </p:nvPicPr>
        <p:blipFill>
          <a:blip r:embed="rId5"/>
          <a:srcRect/>
          <a:stretch>
            <a:fillRect/>
          </a:stretch>
        </p:blipFill>
        <p:spPr bwMode="auto">
          <a:xfrm>
            <a:off x="6583655" y="3279653"/>
            <a:ext cx="5246395" cy="1597070"/>
          </a:xfrm>
          <a:prstGeom prst="rect">
            <a:avLst/>
          </a:prstGeom>
          <a:noFill/>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latin typeface="Franklin Gothic Book" pitchFamily="34" charset="0"/>
              </a:rPr>
              <a:t>The brand wanted to figure out what was the scope for the ghee products in the online market. To reach the target audience of 35 and above age group, creating a digital brand awareness was another major challenge. The brand looked forward to identifying the different channels where the ads could be promoted within the targeted segment. </a:t>
            </a:r>
            <a:endParaRPr lang="en-US" sz="1600" b="1" i="1" dirty="0">
              <a:latin typeface="Franklin Gothic Book" pitchFamily="34" charset="0"/>
            </a:endParaRPr>
          </a:p>
        </p:txBody>
      </p:sp>
      <p:sp>
        <p:nvSpPr>
          <p:cNvPr id="17" name="Rectangle 16"/>
          <p:cNvSpPr/>
          <p:nvPr/>
        </p:nvSpPr>
        <p:spPr>
          <a:xfrm>
            <a:off x="0" y="1194289"/>
            <a:ext cx="7526215" cy="5863144"/>
          </a:xfrm>
          <a:prstGeom prst="rect">
            <a:avLst/>
          </a:prstGeom>
        </p:spPr>
        <p:txBody>
          <a:bodyPr wrap="square">
            <a:spAutoFit/>
          </a:bodyPr>
          <a:lstStyle/>
          <a:p>
            <a:pPr algn="just"/>
            <a:r>
              <a:rPr lang="en-IN" sz="1500" b="1" i="1" u="sng" dirty="0" smtClean="0">
                <a:solidFill>
                  <a:schemeClr val="accent2"/>
                </a:solidFill>
                <a:latin typeface="Franklin Gothic Book" pitchFamily="34" charset="0"/>
              </a:rPr>
              <a:t>Solutions Planned:</a:t>
            </a:r>
          </a:p>
          <a:p>
            <a:pPr algn="just"/>
            <a:endParaRPr lang="en-IN" sz="1500" b="1" i="1" u="sng" dirty="0" smtClean="0">
              <a:solidFill>
                <a:schemeClr val="accent2"/>
              </a:solidFill>
              <a:latin typeface="Franklin Gothic Book" pitchFamily="34" charset="0"/>
            </a:endParaRPr>
          </a:p>
          <a:p>
            <a:pPr algn="just"/>
            <a:r>
              <a:rPr lang="en-IN" sz="1500" dirty="0" smtClean="0">
                <a:latin typeface="Franklin Gothic Book" pitchFamily="34" charset="0"/>
              </a:rPr>
              <a:t>Our digital team brought out a strategy to meet the right audience through the right medium from which the brand could generate sales. </a:t>
            </a:r>
          </a:p>
          <a:p>
            <a:pPr algn="just"/>
            <a:endParaRPr lang="en-IN" sz="1500" dirty="0" smtClean="0">
              <a:latin typeface="Franklin Gothic Book" pitchFamily="34" charset="0"/>
            </a:endParaRPr>
          </a:p>
          <a:p>
            <a:pPr algn="just"/>
            <a:r>
              <a:rPr lang="en-IN" sz="1500" dirty="0" smtClean="0">
                <a:latin typeface="Franklin Gothic Book" pitchFamily="34" charset="0"/>
              </a:rPr>
              <a:t>The marketing model was planned, which focused on driving the customers towards purchasing the product. The step-by-step process from creating brand awareness to sales included four major divisions like building trust or creating brand awareness, generating traffic, registrations and final result, the sales. </a:t>
            </a:r>
          </a:p>
          <a:p>
            <a:pPr algn="just"/>
            <a:endParaRPr lang="en-IN" sz="1500" dirty="0" smtClean="0">
              <a:latin typeface="Franklin Gothic Book" pitchFamily="34" charset="0"/>
            </a:endParaRPr>
          </a:p>
          <a:p>
            <a:pPr algn="just"/>
            <a:r>
              <a:rPr lang="en-IN" sz="1500" dirty="0" smtClean="0">
                <a:latin typeface="Franklin Gothic Book" pitchFamily="34" charset="0"/>
              </a:rPr>
              <a:t>The market was filled with several other ghee brands. So, we had to identify different channels and interests of the target audience, including the influencers for further discoverability. The initial stage of brand awareness was done in channels like YouTube and </a:t>
            </a:r>
            <a:r>
              <a:rPr lang="en-IN" sz="1500" dirty="0" err="1" smtClean="0">
                <a:latin typeface="Franklin Gothic Book" pitchFamily="34" charset="0"/>
              </a:rPr>
              <a:t>Facebook</a:t>
            </a:r>
            <a:r>
              <a:rPr lang="en-IN" sz="1500" dirty="0" smtClean="0">
                <a:latin typeface="Franklin Gothic Book" pitchFamily="34" charset="0"/>
              </a:rPr>
              <a:t>. YouTube ads in the cooking and kitchen-related platforms along with </a:t>
            </a:r>
            <a:r>
              <a:rPr lang="en-IN" sz="1500" dirty="0" err="1" smtClean="0">
                <a:latin typeface="Franklin Gothic Book" pitchFamily="34" charset="0"/>
              </a:rPr>
              <a:t>Facebook</a:t>
            </a:r>
            <a:r>
              <a:rPr lang="en-IN" sz="1500" dirty="0" smtClean="0">
                <a:latin typeface="Franklin Gothic Book" pitchFamily="34" charset="0"/>
              </a:rPr>
              <a:t> ads were used as the major tools to bring more traffic to the website. The product details and the catalogue were </a:t>
            </a:r>
            <a:r>
              <a:rPr lang="en-IN" sz="1500" dirty="0" err="1" smtClean="0">
                <a:latin typeface="Franklin Gothic Book" pitchFamily="34" charset="0"/>
              </a:rPr>
              <a:t>curated</a:t>
            </a:r>
            <a:r>
              <a:rPr lang="en-IN" sz="1500" dirty="0" smtClean="0">
                <a:latin typeface="Franklin Gothic Book" pitchFamily="34" charset="0"/>
              </a:rPr>
              <a:t> in the respective landing pages based on the clicks and interests of the customers. </a:t>
            </a:r>
          </a:p>
          <a:p>
            <a:pPr algn="just"/>
            <a:endParaRPr lang="en-IN" sz="1500" dirty="0" smtClean="0">
              <a:latin typeface="Franklin Gothic Book" pitchFamily="34" charset="0"/>
            </a:endParaRPr>
          </a:p>
          <a:p>
            <a:pPr algn="just"/>
            <a:r>
              <a:rPr lang="en-IN" sz="1500" dirty="0" smtClean="0">
                <a:latin typeface="Franklin Gothic Book" pitchFamily="34" charset="0"/>
              </a:rPr>
              <a:t>We crafted display ads for the customers who visited the website but did not engage. The ad recall navigated the users to the landing page, where attractive offers could be used. A complete user interface website helped the users to navigate between the pages where they could choose their product. Google shopping and search ads helped in the mileage of the registrations, which resulted in the final purchase. </a:t>
            </a:r>
          </a:p>
          <a:p>
            <a:pPr algn="just"/>
            <a:r>
              <a:rPr lang="en-IN" sz="1500" dirty="0" smtClean="0">
                <a:latin typeface="Franklin Gothic Book" pitchFamily="34" charset="0"/>
              </a:rPr>
              <a:t/>
            </a:r>
            <a:br>
              <a:rPr lang="en-IN" sz="1500" dirty="0" smtClean="0">
                <a:latin typeface="Franklin Gothic Book" pitchFamily="34" charset="0"/>
              </a:rPr>
            </a:br>
            <a:endParaRPr lang="en-IN" sz="15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597538"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16 </a:t>
            </a:r>
            <a:r>
              <a:rPr lang="en-IN" sz="2000" b="1" spc="75" dirty="0" smtClean="0">
                <a:solidFill>
                  <a:schemeClr val="tx1"/>
                </a:solidFill>
                <a:effectLst/>
                <a:latin typeface="Franklin Gothic Book" pitchFamily="34" charset="0"/>
                <a:ea typeface="MS Gothic"/>
                <a:cs typeface="Arial" pitchFamily="34" charset="0"/>
              </a:rPr>
              <a:t>M</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14.8K</a:t>
            </a:r>
            <a:r>
              <a:rPr lang="en-IN" sz="2000" b="1" spc="75" dirty="0" smtClean="0">
                <a:solidFill>
                  <a:schemeClr val="tx1"/>
                </a:solidFill>
                <a:effectLst/>
                <a:latin typeface="Franklin Gothic Book" pitchFamily="34" charset="0"/>
                <a:ea typeface="MS Gothic"/>
                <a:cs typeface="Arial" pitchFamily="34" charset="0"/>
              </a:rPr>
              <a:t>+</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TRAFFIC</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127</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CUSTOMERS</a:t>
            </a: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1.25L</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SALES</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152899"/>
            <a:ext cx="4282402" cy="1246495"/>
          </a:xfrm>
          <a:prstGeom prst="rect">
            <a:avLst/>
          </a:prstGeom>
        </p:spPr>
        <p:txBody>
          <a:bodyPr wrap="square">
            <a:spAutoFit/>
          </a:bodyPr>
          <a:lstStyle/>
          <a:p>
            <a:pPr algn="just"/>
            <a:r>
              <a:rPr lang="en-IN" sz="1500" b="1" dirty="0" smtClean="0">
                <a:latin typeface="Franklin Gothic Book" pitchFamily="34" charset="0"/>
              </a:rPr>
              <a:t>Stats: </a:t>
            </a:r>
          </a:p>
          <a:p>
            <a:pPr algn="just"/>
            <a:r>
              <a:rPr lang="en-IN" sz="1500" b="1" dirty="0" smtClean="0">
                <a:latin typeface="Franklin Gothic Book" pitchFamily="34" charset="0"/>
              </a:rPr>
              <a:t>1. Up to 50% increase in organic traffic </a:t>
            </a:r>
          </a:p>
          <a:p>
            <a:pPr algn="just"/>
            <a:r>
              <a:rPr lang="en-IN" sz="1500" b="1" dirty="0" smtClean="0">
                <a:latin typeface="Franklin Gothic Book" pitchFamily="34" charset="0"/>
              </a:rPr>
              <a:t>2. Achieved 60% sales increase for each quarter </a:t>
            </a:r>
          </a:p>
          <a:p>
            <a:pPr algn="just"/>
            <a:r>
              <a:rPr lang="en-IN" sz="1500" b="1" dirty="0" smtClean="0">
                <a:latin typeface="Franklin Gothic Book" pitchFamily="34" charset="0"/>
              </a:rPr>
              <a:t>3. Bounce rate was decreased to 62% </a:t>
            </a:r>
          </a:p>
          <a:p>
            <a:pPr algn="just"/>
            <a:r>
              <a:rPr lang="en-IN" sz="1500" b="1" dirty="0" smtClean="0">
                <a:latin typeface="Franklin Gothic Book" pitchFamily="34" charset="0"/>
              </a:rPr>
              <a:t>4. Effectively reduced 32% in CPA</a:t>
            </a:r>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708019"/>
            <a:ext cx="4282402" cy="870857"/>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 </a:t>
            </a:r>
            <a:r>
              <a:rPr lang="en-IN" sz="1400" b="1" spc="75" dirty="0" err="1" smtClean="0">
                <a:solidFill>
                  <a:schemeClr val="tx1"/>
                </a:solidFill>
                <a:latin typeface="Franklin Gothic Book" pitchFamily="34" charset="0"/>
                <a:ea typeface="MS Gothic"/>
                <a:cs typeface="Arial" pitchFamily="34" charset="0"/>
              </a:rPr>
              <a:t>Instagram</a:t>
            </a:r>
            <a:r>
              <a:rPr lang="en-IN" sz="1400" b="1" spc="75" dirty="0" smtClean="0">
                <a:solidFill>
                  <a:schemeClr val="tx1"/>
                </a:solidFill>
                <a:latin typeface="Franklin Gothic Book" pitchFamily="34" charset="0"/>
                <a:ea typeface="MS Gothic"/>
                <a:cs typeface="Arial" pitchFamily="34" charset="0"/>
              </a:rPr>
              <a:t> | Google Display | Google Search | Google Shopping ad | SMS | Ecommerce site | Drip | Bots </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677235"/>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7</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Retail textile Industry wants to re-brand their name &amp; bring more </a:t>
            </a:r>
            <a:r>
              <a:rPr lang="en-IN" sz="2800" b="1" dirty="0" err="1" smtClean="0">
                <a:latin typeface="Franklin Gothic Book" pitchFamily="34" charset="0"/>
                <a:cs typeface="Arial" panose="020B0604020202020204" pitchFamily="34" charset="0"/>
              </a:rPr>
              <a:t>walkins</a:t>
            </a:r>
            <a:r>
              <a:rPr lang="en-IN" sz="2800" b="1" dirty="0" smtClean="0">
                <a:latin typeface="Franklin Gothic Book" pitchFamily="34" charset="0"/>
                <a:cs typeface="Arial" panose="020B0604020202020204" pitchFamily="34" charset="0"/>
              </a:rPr>
              <a:t> for the newly opened physical store</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5301937"/>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7: </a:t>
            </a:r>
            <a:r>
              <a:rPr lang="en-IN" sz="2400" b="1" i="1" dirty="0" smtClean="0">
                <a:latin typeface="Franklin Gothic Book" pitchFamily="34" charset="0"/>
              </a:rPr>
              <a:t>Viral marketing for rebranding results in 6.2K+ enquiries within 12 days at 92% conversion rate using display channels </a:t>
            </a:r>
            <a:endParaRPr lang="en-US" sz="2400" b="1" i="1" dirty="0">
              <a:latin typeface="Franklin Gothic Book" pitchFamily="34" charset="0"/>
            </a:endParaRPr>
          </a:p>
        </p:txBody>
      </p:sp>
      <p:sp>
        <p:nvSpPr>
          <p:cNvPr id="21" name="Rectangle 20"/>
          <p:cNvSpPr/>
          <p:nvPr/>
        </p:nvSpPr>
        <p:spPr>
          <a:xfrm>
            <a:off x="115276" y="1472641"/>
            <a:ext cx="6109677" cy="3139321"/>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Textile</a:t>
            </a:r>
          </a:p>
          <a:p>
            <a:r>
              <a:rPr lang="en-IN" b="1" dirty="0" smtClean="0">
                <a:solidFill>
                  <a:schemeClr val="accent2"/>
                </a:solidFill>
                <a:latin typeface="Franklin Gothic Book" pitchFamily="34" charset="0"/>
              </a:rPr>
              <a:t>Turn over:  50 CR+</a:t>
            </a:r>
          </a:p>
          <a:p>
            <a:endParaRPr lang="en-IN" b="1" dirty="0" smtClean="0">
              <a:latin typeface="Franklin Gothic Book" pitchFamily="34" charset="0"/>
            </a:endParaRPr>
          </a:p>
          <a:p>
            <a:r>
              <a:rPr lang="en-IN" dirty="0" smtClean="0">
                <a:latin typeface="Franklin Gothic Book" pitchFamily="34" charset="0"/>
              </a:rPr>
              <a:t>The client is a leading innovator, manufacturer and seller of silk </a:t>
            </a:r>
            <a:r>
              <a:rPr lang="en-IN" dirty="0" err="1" smtClean="0">
                <a:latin typeface="Franklin Gothic Book" pitchFamily="34" charset="0"/>
              </a:rPr>
              <a:t>sarees</a:t>
            </a:r>
            <a:r>
              <a:rPr lang="en-IN" dirty="0" smtClean="0">
                <a:latin typeface="Franklin Gothic Book" pitchFamily="34" charset="0"/>
              </a:rPr>
              <a:t>. The client also boasts over 4 decades of presence in the field with sophisticated stores in two tier-two cities of Tamil Nadu. They offer all types of wedding clothes and modern </a:t>
            </a:r>
            <a:r>
              <a:rPr lang="en-IN" dirty="0" err="1" smtClean="0">
                <a:latin typeface="Franklin Gothic Book" pitchFamily="34" charset="0"/>
              </a:rPr>
              <a:t>clothings</a:t>
            </a:r>
            <a:r>
              <a:rPr lang="en-IN" dirty="0" smtClean="0">
                <a:latin typeface="Franklin Gothic Book" pitchFamily="34" charset="0"/>
              </a:rPr>
              <a:t> that suit the changing trends in fashion at attractive prices.</a:t>
            </a:r>
            <a:endParaRPr lang="en-IN" dirty="0">
              <a:latin typeface="Franklin Gothic Book" pitchFamily="34" charset="0"/>
            </a:endParaRPr>
          </a:p>
        </p:txBody>
      </p:sp>
      <p:sp>
        <p:nvSpPr>
          <p:cNvPr id="25" name="Rectangle 24"/>
          <p:cNvSpPr/>
          <p:nvPr/>
        </p:nvSpPr>
        <p:spPr>
          <a:xfrm>
            <a:off x="-35169" y="5293736"/>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518416"/>
            <a:ext cx="2317174"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35%</a:t>
            </a:r>
          </a:p>
          <a:p>
            <a:pPr algn="ctr"/>
            <a:r>
              <a:rPr lang="en-IN" b="1" dirty="0" smtClean="0">
                <a:solidFill>
                  <a:schemeClr val="bg1"/>
                </a:solidFill>
                <a:latin typeface="Franklin Gothic Book" pitchFamily="34" charset="0"/>
                <a:cs typeface="Arial" panose="020B0604020202020204" pitchFamily="34" charset="0"/>
              </a:rPr>
              <a:t>Decrease in Reach Cost</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3163355" y="5518416"/>
            <a:ext cx="2115194"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92%</a:t>
            </a:r>
          </a:p>
          <a:p>
            <a:pPr algn="ctr"/>
            <a:r>
              <a:rPr lang="en-IN" b="1" dirty="0" smtClean="0">
                <a:solidFill>
                  <a:schemeClr val="bg1"/>
                </a:solidFill>
                <a:latin typeface="Franklin Gothic Book" pitchFamily="34" charset="0"/>
                <a:cs typeface="Arial" panose="020B0604020202020204" pitchFamily="34" charset="0"/>
              </a:rPr>
              <a:t>Conversion on Google</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518416"/>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12</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9" name="TextBox 28">
            <a:extLst>
              <a:ext uri="{FF2B5EF4-FFF2-40B4-BE49-F238E27FC236}">
                <a16:creationId xmlns="" xmlns:a16="http://schemas.microsoft.com/office/drawing/2014/main" id="{8CDC4FC3-BCCA-49BB-97D6-6CA50D6A35D4}"/>
              </a:ext>
            </a:extLst>
          </p:cNvPr>
          <p:cNvSpPr txBox="1"/>
          <p:nvPr/>
        </p:nvSpPr>
        <p:spPr>
          <a:xfrm>
            <a:off x="6360965" y="5518416"/>
            <a:ext cx="2436373"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16%</a:t>
            </a:r>
          </a:p>
          <a:p>
            <a:pPr algn="ctr"/>
            <a:r>
              <a:rPr lang="en-IN" b="1" dirty="0" smtClean="0">
                <a:solidFill>
                  <a:schemeClr val="bg1"/>
                </a:solidFill>
                <a:latin typeface="Franklin Gothic Book" pitchFamily="34" charset="0"/>
                <a:cs typeface="Arial" panose="020B0604020202020204" pitchFamily="34" charset="0"/>
              </a:rPr>
              <a:t>Decrease in Enquiry Cost</a:t>
            </a:r>
            <a:endParaRPr lang="en-IN" b="1" dirty="0">
              <a:solidFill>
                <a:schemeClr val="bg1"/>
              </a:solidFill>
              <a:latin typeface="Franklin Gothic Book" pitchFamily="34" charset="0"/>
              <a:cs typeface="Arial" panose="020B0604020202020204" pitchFamily="34" charset="0"/>
            </a:endParaRPr>
          </a:p>
        </p:txBody>
      </p:sp>
      <p:sp>
        <p:nvSpPr>
          <p:cNvPr id="35" name="Rectangle 34"/>
          <p:cNvSpPr/>
          <p:nvPr/>
        </p:nvSpPr>
        <p:spPr>
          <a:xfrm>
            <a:off x="7069014" y="1270284"/>
            <a:ext cx="5143499" cy="338554"/>
          </a:xfrm>
          <a:prstGeom prst="rect">
            <a:avLst/>
          </a:prstGeom>
        </p:spPr>
        <p:txBody>
          <a:bodyPr wrap="square">
            <a:spAutoFit/>
          </a:bodyPr>
          <a:lstStyle/>
          <a:p>
            <a:r>
              <a:rPr lang="en-IN" sz="1600" b="1" i="1" u="sng" dirty="0" smtClean="0">
                <a:latin typeface="Franklin Gothic Book" pitchFamily="34" charset="0"/>
              </a:rPr>
              <a:t>CONVERSION DASHBOARD</a:t>
            </a:r>
          </a:p>
        </p:txBody>
      </p:sp>
      <p:cxnSp>
        <p:nvCxnSpPr>
          <p:cNvPr id="36" name="Straight Connector 35">
            <a:extLst>
              <a:ext uri="{FF2B5EF4-FFF2-40B4-BE49-F238E27FC236}">
                <a16:creationId xmlns="" xmlns:a16="http://schemas.microsoft.com/office/drawing/2014/main" id="{6BD05CA6-F403-49C9-A838-A3905BEB527A}"/>
              </a:ext>
            </a:extLst>
          </p:cNvPr>
          <p:cNvCxnSpPr/>
          <p:nvPr/>
        </p:nvCxnSpPr>
        <p:spPr>
          <a:xfrm rot="5400000">
            <a:off x="4430260" y="3276466"/>
            <a:ext cx="39507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6583655" y="4599851"/>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045312" y="4704897"/>
            <a:ext cx="912973"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7" name="Picture 3"/>
          <p:cNvPicPr>
            <a:picLocks noChangeAspect="1" noChangeArrowheads="1"/>
          </p:cNvPicPr>
          <p:nvPr/>
        </p:nvPicPr>
        <p:blipFill>
          <a:blip r:embed="rId4"/>
          <a:srcRect l="32476" t="32349" r="11905" b="35117"/>
          <a:stretch>
            <a:fillRect/>
          </a:stretch>
        </p:blipFill>
        <p:spPr bwMode="auto">
          <a:xfrm>
            <a:off x="6743309" y="1799714"/>
            <a:ext cx="4992914" cy="1642842"/>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l="32571" t="42273" r="12991" b="25627"/>
          <a:stretch>
            <a:fillRect/>
          </a:stretch>
        </p:blipFill>
        <p:spPr bwMode="auto">
          <a:xfrm>
            <a:off x="6743309" y="3569791"/>
            <a:ext cx="4722977" cy="1566541"/>
          </a:xfrm>
          <a:prstGeom prst="rect">
            <a:avLst/>
          </a:prstGeom>
          <a:noFill/>
          <a:ln w="9525">
            <a:noFill/>
            <a:miter lim="800000"/>
            <a:headEnd/>
            <a:tailEnd/>
          </a:ln>
          <a:effectLst/>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solidFill>
                  <a:schemeClr val="bg1"/>
                </a:solidFill>
                <a:latin typeface="Franklin Gothic Book" pitchFamily="34" charset="0"/>
              </a:rPr>
              <a:t>The client wanted to rebrand and wanted the new brand name to go viral among the people who had an household income between INR 20K and INR 50K per month. Though the brand was popular among women, traditional marketing methods like newspaper ads and posters didn't work out the way the client had expected and the client didn't know how to execute a well-planned strategy that would go viral.</a:t>
            </a:r>
            <a:endParaRPr lang="en-US" sz="1600" b="1" i="1" dirty="0">
              <a:solidFill>
                <a:schemeClr val="bg1"/>
              </a:solidFill>
              <a:latin typeface="Franklin Gothic Book" pitchFamily="34" charset="0"/>
            </a:endParaRPr>
          </a:p>
        </p:txBody>
      </p:sp>
      <p:sp>
        <p:nvSpPr>
          <p:cNvPr id="17" name="Rectangle 16"/>
          <p:cNvSpPr/>
          <p:nvPr/>
        </p:nvSpPr>
        <p:spPr>
          <a:xfrm>
            <a:off x="1" y="1129207"/>
            <a:ext cx="7474856" cy="5816977"/>
          </a:xfrm>
          <a:prstGeom prst="rect">
            <a:avLst/>
          </a:prstGeom>
        </p:spPr>
        <p:txBody>
          <a:bodyPr wrap="square">
            <a:spAutoFit/>
          </a:bodyPr>
          <a:lstStyle/>
          <a:p>
            <a:pPr algn="just"/>
            <a:r>
              <a:rPr lang="en-IN" sz="1200" b="1" i="1" u="sng" dirty="0" smtClean="0">
                <a:solidFill>
                  <a:schemeClr val="accent2"/>
                </a:solidFill>
                <a:latin typeface="Franklin Gothic Book" pitchFamily="34" charset="0"/>
              </a:rPr>
              <a:t>Solutions Planned:</a:t>
            </a:r>
          </a:p>
          <a:p>
            <a:pPr algn="just"/>
            <a:endParaRPr lang="en-IN" sz="1200" b="1" i="1" u="sng" dirty="0" smtClean="0">
              <a:solidFill>
                <a:schemeClr val="accent2"/>
              </a:solidFill>
              <a:latin typeface="Franklin Gothic Book" pitchFamily="34" charset="0"/>
            </a:endParaRPr>
          </a:p>
          <a:p>
            <a:pPr algn="just"/>
            <a:r>
              <a:rPr lang="en-IN" sz="1200" dirty="0" smtClean="0">
                <a:latin typeface="Franklin Gothic Book" pitchFamily="34" charset="0"/>
              </a:rPr>
              <a:t>Apart from its logo, name and mission statements, a brand is also the message it wants to convey to the world. For a company that wants to rebrand and </a:t>
            </a:r>
            <a:r>
              <a:rPr lang="en-IN" sz="1200" dirty="0" err="1" smtClean="0">
                <a:latin typeface="Franklin Gothic Book" pitchFamily="34" charset="0"/>
              </a:rPr>
              <a:t>relaunch</a:t>
            </a:r>
            <a:r>
              <a:rPr lang="en-IN" sz="1200" dirty="0" smtClean="0">
                <a:latin typeface="Franklin Gothic Book" pitchFamily="34" charset="0"/>
              </a:rPr>
              <a:t> themselves, customer retention and acquisition are equally essential. In order to popularise their new brand name among the customers, the client wanted to appeal directly to the customers' emotional state. This would also help in understanding the buyer persona and in creating suitable future offers. </a:t>
            </a:r>
          </a:p>
          <a:p>
            <a:pPr algn="just"/>
            <a:r>
              <a:rPr lang="en-IN" sz="1200" dirty="0" smtClean="0">
                <a:latin typeface="Franklin Gothic Book" pitchFamily="34" charset="0"/>
              </a:rPr>
              <a:t>Our team of experts suggested pull strategy approach in Digital Marketing platforms to reach the audience in a short time. Our digital team came up with a viral marketing idea that will make the brand name popular among the customers. The viral marketing was achieved by creating an attractive offers-based promotion which would require the customers to type the brand's new name and send it to a designated number on </a:t>
            </a:r>
            <a:r>
              <a:rPr lang="en-IN" sz="1200" dirty="0" err="1" smtClean="0">
                <a:latin typeface="Franklin Gothic Book" pitchFamily="34" charset="0"/>
              </a:rPr>
              <a:t>WhatsApp</a:t>
            </a:r>
            <a:r>
              <a:rPr lang="en-IN" sz="1200" dirty="0" smtClean="0">
                <a:latin typeface="Franklin Gothic Book" pitchFamily="34" charset="0"/>
              </a:rPr>
              <a:t>.</a:t>
            </a:r>
          </a:p>
          <a:p>
            <a:pPr algn="just"/>
            <a:r>
              <a:rPr lang="en-IN" sz="1200" b="1" dirty="0" smtClean="0">
                <a:latin typeface="Franklin Gothic Book" pitchFamily="34" charset="0"/>
              </a:rPr>
              <a:t>Two-Click Strategy: </a:t>
            </a:r>
            <a:r>
              <a:rPr lang="en-IN" sz="1200" dirty="0" smtClean="0">
                <a:latin typeface="Franklin Gothic Book" pitchFamily="34" charset="0"/>
              </a:rPr>
              <a:t>A strategy that simplified and streamlined the flow of enquiries was formulated. The complete registration was done in two clicks and the first click from </a:t>
            </a:r>
            <a:r>
              <a:rPr lang="en-IN" sz="1200" dirty="0" err="1" smtClean="0">
                <a:latin typeface="Franklin Gothic Book" pitchFamily="34" charset="0"/>
              </a:rPr>
              <a:t>Facebook</a:t>
            </a:r>
            <a:r>
              <a:rPr lang="en-IN" sz="1200" dirty="0" smtClean="0">
                <a:latin typeface="Franklin Gothic Book" pitchFamily="34" charset="0"/>
              </a:rPr>
              <a:t> &amp; </a:t>
            </a:r>
            <a:r>
              <a:rPr lang="en-IN" sz="1200" dirty="0" err="1" smtClean="0">
                <a:latin typeface="Franklin Gothic Book" pitchFamily="34" charset="0"/>
              </a:rPr>
              <a:t>Instagram</a:t>
            </a:r>
            <a:r>
              <a:rPr lang="en-IN" sz="1200" dirty="0" smtClean="0">
                <a:latin typeface="Franklin Gothic Book" pitchFamily="34" charset="0"/>
              </a:rPr>
              <a:t> will redirect the customer to </a:t>
            </a:r>
            <a:r>
              <a:rPr lang="en-IN" sz="1200" dirty="0" err="1" smtClean="0">
                <a:latin typeface="Franklin Gothic Book" pitchFamily="34" charset="0"/>
              </a:rPr>
              <a:t>WhatsApp</a:t>
            </a:r>
            <a:r>
              <a:rPr lang="en-IN" sz="1200" dirty="0" smtClean="0">
                <a:latin typeface="Franklin Gothic Book" pitchFamily="34" charset="0"/>
              </a:rPr>
              <a:t> chat window where the new name of the brand will be readily available as a message. The customers had to just tap the 'send' button which accounted to the second click. The customer can walk in to the store showing the </a:t>
            </a:r>
            <a:r>
              <a:rPr lang="en-IN" sz="1200" dirty="0" err="1" smtClean="0">
                <a:latin typeface="Franklin Gothic Book" pitchFamily="34" charset="0"/>
              </a:rPr>
              <a:t>WhatsApp</a:t>
            </a:r>
            <a:r>
              <a:rPr lang="en-IN" sz="1200" dirty="0" smtClean="0">
                <a:latin typeface="Franklin Gothic Book" pitchFamily="34" charset="0"/>
              </a:rPr>
              <a:t> message and claim exciting offers. This also helped hugely in achieving brand association. The two-click strategy was incorporated in the image, and video ads run on social media platforms like </a:t>
            </a:r>
            <a:r>
              <a:rPr lang="en-IN" sz="1200" dirty="0" err="1" smtClean="0">
                <a:latin typeface="Franklin Gothic Book" pitchFamily="34" charset="0"/>
              </a:rPr>
              <a:t>Facebook</a:t>
            </a:r>
            <a:r>
              <a:rPr lang="en-IN" sz="1200" dirty="0" smtClean="0">
                <a:latin typeface="Franklin Gothic Book" pitchFamily="34" charset="0"/>
              </a:rPr>
              <a:t> &amp; </a:t>
            </a:r>
            <a:r>
              <a:rPr lang="en-IN" sz="1200" dirty="0" err="1" smtClean="0">
                <a:latin typeface="Franklin Gothic Book" pitchFamily="34" charset="0"/>
              </a:rPr>
              <a:t>Instagram</a:t>
            </a:r>
            <a:r>
              <a:rPr lang="en-IN" sz="1200" dirty="0" smtClean="0">
                <a:latin typeface="Franklin Gothic Book" pitchFamily="34" charset="0"/>
              </a:rPr>
              <a:t> and the audience were targeted based on their interests. As mentioned earlier, whenever a user clicked on the ad, they were redirected to the </a:t>
            </a:r>
            <a:r>
              <a:rPr lang="en-IN" sz="1200" dirty="0" err="1" smtClean="0">
                <a:latin typeface="Franklin Gothic Book" pitchFamily="34" charset="0"/>
              </a:rPr>
              <a:t>WhatsApp</a:t>
            </a:r>
            <a:r>
              <a:rPr lang="en-IN" sz="1200" dirty="0" smtClean="0">
                <a:latin typeface="Franklin Gothic Book" pitchFamily="34" charset="0"/>
              </a:rPr>
              <a:t> chat window. The team conducted A/B testing on men &amp; women and various metrics of the test were studied, and the ads were optimised accordingly on a regular basis. </a:t>
            </a:r>
          </a:p>
          <a:p>
            <a:pPr algn="just"/>
            <a:r>
              <a:rPr lang="en-IN" sz="1200" b="1" dirty="0" smtClean="0">
                <a:latin typeface="Franklin Gothic Book" pitchFamily="34" charset="0"/>
              </a:rPr>
              <a:t>Three-Click Strategy:</a:t>
            </a:r>
            <a:r>
              <a:rPr lang="en-IN" sz="1200" dirty="0" smtClean="0">
                <a:latin typeface="Franklin Gothic Book" pitchFamily="34" charset="0"/>
              </a:rPr>
              <a:t> Simultaneously, the websites that attracted a huge number of women who were 18 to 45 years old were carefully studied and chosen to run the ads. The ads were strategically positioned in the sites to attract the viewers' attention. The ads were also displayed on newspapers in regional languages to reach the masses. But the two-click strategy was not compatible with Google Display ads. To overcome this, a three-click strategy was formulated. A new step was added after the first click, which included creating a landing page under the brand's new name with an attractive banner. Clicking on the landing page would redirect the users to </a:t>
            </a:r>
            <a:r>
              <a:rPr lang="en-IN" sz="1200" dirty="0" err="1" smtClean="0">
                <a:latin typeface="Franklin Gothic Book" pitchFamily="34" charset="0"/>
              </a:rPr>
              <a:t>WhatsApp</a:t>
            </a:r>
            <a:r>
              <a:rPr lang="en-IN" sz="1200" dirty="0" smtClean="0">
                <a:latin typeface="Franklin Gothic Book" pitchFamily="34" charset="0"/>
              </a:rPr>
              <a:t> chat window. The two-click &amp; three-click strategies together played a huge role in associating the new name to the brand, while also its optimised and streamlined methodology made it viral. This resulted in 35% decrease in reach cost than the regular cost. </a:t>
            </a:r>
          </a:p>
          <a:p>
            <a:r>
              <a:rPr lang="en-IN" sz="1200" dirty="0" smtClean="0">
                <a:latin typeface="Franklin Gothic Book" pitchFamily="34" charset="0"/>
              </a:rPr>
              <a:t>The results were possible because of the right positioning and segmentation in the digital channels. </a:t>
            </a:r>
            <a:br>
              <a:rPr lang="en-IN" sz="1200" dirty="0" smtClean="0">
                <a:latin typeface="Franklin Gothic Book" pitchFamily="34" charset="0"/>
              </a:rPr>
            </a:br>
            <a:endParaRPr lang="en-IN" sz="1200" dirty="0">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626566"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13</a:t>
            </a:r>
            <a:r>
              <a:rPr lang="en-IN" sz="2000" b="1" spc="75" dirty="0" smtClean="0">
                <a:solidFill>
                  <a:schemeClr val="tx1"/>
                </a:solidFill>
                <a:effectLst/>
                <a:latin typeface="Franklin Gothic Book" pitchFamily="34" charset="0"/>
                <a:ea typeface="MS Gothic"/>
                <a:cs typeface="Arial" pitchFamily="34" charset="0"/>
              </a:rPr>
              <a:t>M</a:t>
            </a: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106256"/>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589594"/>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630684"/>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49K</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VIDEO VIEWS</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29K</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PAGE VISITS</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577322"/>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6,232</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WHATSAPP ENQ</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152899"/>
            <a:ext cx="4282402" cy="1169551"/>
          </a:xfrm>
          <a:prstGeom prst="rect">
            <a:avLst/>
          </a:prstGeom>
        </p:spPr>
        <p:txBody>
          <a:bodyPr wrap="square">
            <a:spAutoFit/>
          </a:bodyPr>
          <a:lstStyle/>
          <a:p>
            <a:pPr>
              <a:buFont typeface="Arial" pitchFamily="34" charset="0"/>
              <a:buChar char="•"/>
            </a:pPr>
            <a:r>
              <a:rPr lang="en-IN" sz="1400" b="1" dirty="0" smtClean="0">
                <a:latin typeface="Franklin Gothic Book" pitchFamily="34" charset="0"/>
              </a:rPr>
              <a:t>Cost per reach at : 5 </a:t>
            </a:r>
            <a:r>
              <a:rPr lang="en-IN" sz="1400" b="1" dirty="0" err="1" smtClean="0">
                <a:latin typeface="Franklin Gothic Book" pitchFamily="34" charset="0"/>
              </a:rPr>
              <a:t>Paise</a:t>
            </a:r>
            <a:endParaRPr lang="en-IN" sz="1400" b="1" dirty="0" smtClean="0">
              <a:latin typeface="Franklin Gothic Book" pitchFamily="34" charset="0"/>
            </a:endParaRPr>
          </a:p>
          <a:p>
            <a:r>
              <a:rPr lang="en-IN" sz="1400" b="1" dirty="0" smtClean="0">
                <a:latin typeface="Franklin Gothic Book" pitchFamily="34" charset="0"/>
              </a:rPr>
              <a:t>(Industrial Standard at 10 </a:t>
            </a:r>
            <a:r>
              <a:rPr lang="en-IN" sz="1400" b="1" dirty="0" err="1" smtClean="0">
                <a:latin typeface="Franklin Gothic Book" pitchFamily="34" charset="0"/>
              </a:rPr>
              <a:t>Paise</a:t>
            </a:r>
            <a:r>
              <a:rPr lang="en-IN" sz="1400" b="1" dirty="0" smtClean="0">
                <a:latin typeface="Franklin Gothic Book" pitchFamily="34" charset="0"/>
              </a:rPr>
              <a:t>)</a:t>
            </a:r>
          </a:p>
          <a:p>
            <a:r>
              <a:rPr lang="en-IN" sz="1400" b="1" dirty="0" smtClean="0">
                <a:latin typeface="Franklin Gothic Book" pitchFamily="34" charset="0"/>
              </a:rPr>
              <a:t> </a:t>
            </a:r>
          </a:p>
          <a:p>
            <a:pPr>
              <a:buFont typeface="Arial" pitchFamily="34" charset="0"/>
              <a:buChar char="•"/>
            </a:pPr>
            <a:r>
              <a:rPr lang="en-IN" sz="1400" b="1" dirty="0" smtClean="0">
                <a:latin typeface="Franklin Gothic Book" pitchFamily="34" charset="0"/>
              </a:rPr>
              <a:t>Cost per enquiry at : Rs. 8/-</a:t>
            </a:r>
          </a:p>
          <a:p>
            <a:r>
              <a:rPr lang="en-IN" sz="1400" b="1" dirty="0" smtClean="0">
                <a:latin typeface="Franklin Gothic Book" pitchFamily="34" charset="0"/>
              </a:rPr>
              <a:t>(Industrial Standard at Rs. 50)</a:t>
            </a:r>
          </a:p>
        </p:txBody>
      </p:sp>
      <p:sp>
        <p:nvSpPr>
          <p:cNvPr id="52" name="Rectangle 51">
            <a:extLst>
              <a:ext uri="{FF2B5EF4-FFF2-40B4-BE49-F238E27FC236}">
                <a16:creationId xmlns:a16="http://schemas.microsoft.com/office/drawing/2014/main" xmlns="" id="{A922156B-D91A-EE48-BEC6-6019FB3B8413}"/>
              </a:ext>
            </a:extLst>
          </p:cNvPr>
          <p:cNvSpPr>
            <a:spLocks/>
          </p:cNvSpPr>
          <p:nvPr/>
        </p:nvSpPr>
        <p:spPr>
          <a:xfrm>
            <a:off x="7719098" y="5708019"/>
            <a:ext cx="4282402" cy="870857"/>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nSpc>
                <a:spcPct val="115000"/>
              </a:lnSpc>
              <a:spcAft>
                <a:spcPts val="1000"/>
              </a:spcAft>
            </a:pPr>
            <a:r>
              <a:rPr lang="en-IN" sz="1400" b="1" spc="75" dirty="0" smtClean="0">
                <a:solidFill>
                  <a:schemeClr val="tx1"/>
                </a:solidFill>
                <a:latin typeface="Franklin Gothic Book" pitchFamily="34" charset="0"/>
                <a:ea typeface="MS Gothic"/>
                <a:cs typeface="Arial" pitchFamily="34" charset="0"/>
              </a:rPr>
              <a:t>Tools Used: </a:t>
            </a:r>
            <a:r>
              <a:rPr lang="en-IN" sz="1400" b="1" spc="75" dirty="0" err="1" smtClean="0">
                <a:solidFill>
                  <a:schemeClr val="tx1"/>
                </a:solidFill>
                <a:latin typeface="Franklin Gothic Book" pitchFamily="34" charset="0"/>
                <a:ea typeface="MS Gothic"/>
                <a:cs typeface="Arial" pitchFamily="34" charset="0"/>
              </a:rPr>
              <a:t>Facebook</a:t>
            </a:r>
            <a:r>
              <a:rPr lang="en-IN" sz="1400" b="1" spc="75" dirty="0" smtClean="0">
                <a:solidFill>
                  <a:schemeClr val="tx1"/>
                </a:solidFill>
                <a:latin typeface="Franklin Gothic Book" pitchFamily="34" charset="0"/>
                <a:ea typeface="MS Gothic"/>
                <a:cs typeface="Arial" pitchFamily="34" charset="0"/>
              </a:rPr>
              <a:t> | </a:t>
            </a:r>
            <a:r>
              <a:rPr lang="en-IN" sz="1400" b="1" spc="75" dirty="0" err="1" smtClean="0">
                <a:solidFill>
                  <a:schemeClr val="tx1"/>
                </a:solidFill>
                <a:latin typeface="Franklin Gothic Book" pitchFamily="34" charset="0"/>
                <a:ea typeface="MS Gothic"/>
                <a:cs typeface="Arial" pitchFamily="34" charset="0"/>
              </a:rPr>
              <a:t>Instagram</a:t>
            </a:r>
            <a:r>
              <a:rPr lang="en-IN" sz="1400" b="1" spc="75" dirty="0" smtClean="0">
                <a:solidFill>
                  <a:schemeClr val="tx1"/>
                </a:solidFill>
                <a:latin typeface="Franklin Gothic Book" pitchFamily="34" charset="0"/>
                <a:ea typeface="MS Gothic"/>
                <a:cs typeface="Arial" pitchFamily="34" charset="0"/>
              </a:rPr>
              <a:t> | Google Display | Google Search | Google Shopping ad | SMS | Ecommerce site | Drip | Bots </a:t>
            </a:r>
            <a:endParaRPr lang="en-IN" sz="1400" b="1" spc="75" dirty="0">
              <a:solidFill>
                <a:schemeClr val="tx1"/>
              </a:solidFill>
              <a:effectLst/>
              <a:latin typeface="Franklin Gothic Book" pitchFamily="34" charset="0"/>
              <a:ea typeface="MS Gothic"/>
              <a:cs typeface="Arial"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007338"/>
            <a:ext cx="4282402" cy="1677235"/>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8</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Brand re-launch &amp; Enquiry generation engagement for a TMT bars manufacturer in Digital Platforms</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t="28161" b="56138"/>
          <a:stretch/>
        </p:blipFill>
        <p:spPr bwMode="auto">
          <a:xfrm>
            <a:off x="-32205" y="4953601"/>
            <a:ext cx="12188825" cy="1276348"/>
          </a:xfrm>
          <a:prstGeom prst="rect">
            <a:avLst/>
          </a:prstGeom>
          <a:noFill/>
          <a:extLst>
            <a:ext uri="{909E8E84-426E-40DD-AFC4-6F175D3DCCD1}">
              <a14:hiddenFill xmlns:a14="http://schemas.microsoft.com/office/drawing/2010/main" xmlns="">
                <a:solidFill>
                  <a:srgbClr val="FFFFFF"/>
                </a:solidFill>
              </a14:hiddenFill>
            </a:ext>
          </a:extLst>
        </p:spPr>
      </p:pic>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8: </a:t>
            </a:r>
            <a:r>
              <a:rPr lang="en-IN" sz="2400" b="1" i="1" dirty="0" smtClean="0">
                <a:latin typeface="Franklin Gothic Book" pitchFamily="34" charset="0"/>
              </a:rPr>
              <a:t>A 10 day campaign about the </a:t>
            </a:r>
            <a:r>
              <a:rPr lang="en-IN" sz="2400" b="1" i="1" dirty="0" err="1" smtClean="0">
                <a:latin typeface="Franklin Gothic Book" pitchFamily="34" charset="0"/>
              </a:rPr>
              <a:t>relaunch</a:t>
            </a:r>
            <a:r>
              <a:rPr lang="en-IN" sz="2400" b="1" i="1" dirty="0" smtClean="0">
                <a:latin typeface="Franklin Gothic Book" pitchFamily="34" charset="0"/>
              </a:rPr>
              <a:t> of the logo and repositioning of the brand. It brought out 96 enquiries with a sale value of 401.15 ton steel and also 6 B2B distributorship leads.</a:t>
            </a:r>
            <a:endParaRPr lang="en-US" sz="2400" b="1" i="1" dirty="0">
              <a:latin typeface="Franklin Gothic Book" pitchFamily="34" charset="0"/>
            </a:endParaRPr>
          </a:p>
        </p:txBody>
      </p:sp>
      <p:sp>
        <p:nvSpPr>
          <p:cNvPr id="21" name="Rectangle 20"/>
          <p:cNvSpPr/>
          <p:nvPr/>
        </p:nvSpPr>
        <p:spPr>
          <a:xfrm>
            <a:off x="115276" y="1472641"/>
            <a:ext cx="11829981" cy="3170099"/>
          </a:xfrm>
          <a:prstGeom prst="rect">
            <a:avLst/>
          </a:prstGeom>
        </p:spPr>
        <p:txBody>
          <a:bodyPr wrap="square">
            <a:spAutoFit/>
          </a:bodyPr>
          <a:lstStyle/>
          <a:p>
            <a:r>
              <a:rPr lang="en-IN" sz="2000" b="1" dirty="0" smtClean="0">
                <a:latin typeface="Franklin Gothic Book" pitchFamily="34" charset="0"/>
              </a:rPr>
              <a:t>CLIENT STORY:</a:t>
            </a:r>
          </a:p>
          <a:p>
            <a:r>
              <a:rPr lang="en-IN" sz="2000" dirty="0" smtClean="0">
                <a:solidFill>
                  <a:schemeClr val="accent2"/>
                </a:solidFill>
                <a:latin typeface="Franklin Gothic Book" pitchFamily="34" charset="0"/>
              </a:rPr>
              <a:t/>
            </a:r>
            <a:br>
              <a:rPr lang="en-IN" sz="2000" dirty="0" smtClean="0">
                <a:solidFill>
                  <a:schemeClr val="accent2"/>
                </a:solidFill>
                <a:latin typeface="Franklin Gothic Book" pitchFamily="34" charset="0"/>
              </a:rPr>
            </a:br>
            <a:r>
              <a:rPr lang="en-IN" sz="2000" b="1" dirty="0" smtClean="0">
                <a:solidFill>
                  <a:schemeClr val="accent2"/>
                </a:solidFill>
                <a:latin typeface="Franklin Gothic Book" pitchFamily="34" charset="0"/>
              </a:rPr>
              <a:t>Industry: Steel Manufacturing</a:t>
            </a:r>
          </a:p>
          <a:p>
            <a:r>
              <a:rPr lang="en-IN" sz="2000" b="1" dirty="0" smtClean="0">
                <a:solidFill>
                  <a:schemeClr val="accent2"/>
                </a:solidFill>
                <a:latin typeface="Franklin Gothic Book" pitchFamily="34" charset="0"/>
              </a:rPr>
              <a:t>Turn over:  200 CR+</a:t>
            </a:r>
          </a:p>
          <a:p>
            <a:endParaRPr lang="en-IN" sz="2000" b="1" dirty="0" smtClean="0">
              <a:latin typeface="Franklin Gothic Book" pitchFamily="34" charset="0"/>
            </a:endParaRPr>
          </a:p>
          <a:p>
            <a:r>
              <a:rPr lang="en-IN" sz="2000" dirty="0" smtClean="0">
                <a:latin typeface="Franklin Gothic Book" pitchFamily="34" charset="0"/>
              </a:rPr>
              <a:t>A top South Indian steel producer with turnover of 200 Cr annually. The company is headquartered in a tier 1 city of India. It manufactures different grades of steel primarily for the construction purpose. The company is engaged in the production of steel in both large scale industry as well as small scale. The more customer oriented approach of the company had led the company to top the global market in both steel and metal production.</a:t>
            </a:r>
            <a:endParaRPr lang="en-IN" sz="2000" dirty="0">
              <a:latin typeface="Franklin Gothic Book" pitchFamily="34" charset="0"/>
            </a:endParaRPr>
          </a:p>
        </p:txBody>
      </p:sp>
      <p:sp>
        <p:nvSpPr>
          <p:cNvPr id="25" name="Rectangle 24"/>
          <p:cNvSpPr/>
          <p:nvPr/>
        </p:nvSpPr>
        <p:spPr>
          <a:xfrm>
            <a:off x="-35169" y="4945400"/>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290441" y="5170080"/>
            <a:ext cx="1673343"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96</a:t>
            </a:r>
          </a:p>
          <a:p>
            <a:pPr algn="ctr"/>
            <a:r>
              <a:rPr lang="en-IN" b="1" dirty="0" smtClean="0">
                <a:solidFill>
                  <a:schemeClr val="bg1"/>
                </a:solidFill>
                <a:latin typeface="Franklin Gothic Book" pitchFamily="34" charset="0"/>
                <a:cs typeface="Arial" panose="020B0604020202020204" pitchFamily="34" charset="0"/>
              </a:rPr>
              <a:t>Business Enquiry</a:t>
            </a:r>
            <a:endParaRPr lang="en-IN" b="1" dirty="0">
              <a:solidFill>
                <a:schemeClr val="bg1"/>
              </a:solidFill>
              <a:latin typeface="Franklin Gothic Book" pitchFamily="34" charset="0"/>
              <a:cs typeface="Arial" panose="020B0604020202020204" pitchFamily="34" charset="0"/>
            </a:endParaRPr>
          </a:p>
        </p:txBody>
      </p:sp>
      <p:sp>
        <p:nvSpPr>
          <p:cNvPr id="27" name="TextBox 26">
            <a:extLst>
              <a:ext uri="{FF2B5EF4-FFF2-40B4-BE49-F238E27FC236}">
                <a16:creationId xmlns="" xmlns:a16="http://schemas.microsoft.com/office/drawing/2014/main" id="{8CDC4FC3-BCCA-49BB-97D6-6CA50D6A35D4}"/>
              </a:ext>
            </a:extLst>
          </p:cNvPr>
          <p:cNvSpPr txBox="1"/>
          <p:nvPr/>
        </p:nvSpPr>
        <p:spPr>
          <a:xfrm>
            <a:off x="4916493" y="5170080"/>
            <a:ext cx="1203664"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6</a:t>
            </a:r>
          </a:p>
          <a:p>
            <a:pPr algn="ctr"/>
            <a:r>
              <a:rPr lang="en-IN" b="1" dirty="0" smtClean="0">
                <a:solidFill>
                  <a:schemeClr val="bg1"/>
                </a:solidFill>
                <a:latin typeface="Franklin Gothic Book" pitchFamily="34" charset="0"/>
                <a:cs typeface="Arial" panose="020B0604020202020204" pitchFamily="34" charset="0"/>
              </a:rPr>
              <a:t>B2B Enquiry</a:t>
            </a:r>
            <a:endParaRPr lang="en-IN" b="1" dirty="0">
              <a:solidFill>
                <a:schemeClr val="bg1"/>
              </a:solidFill>
              <a:latin typeface="Franklin Gothic Book" pitchFamily="34" charset="0"/>
              <a:cs typeface="Arial" panose="020B0604020202020204" pitchFamily="34" charset="0"/>
            </a:endParaRPr>
          </a:p>
        </p:txBody>
      </p:sp>
      <p:sp>
        <p:nvSpPr>
          <p:cNvPr id="28" name="TextBox 27">
            <a:extLst>
              <a:ext uri="{FF2B5EF4-FFF2-40B4-BE49-F238E27FC236}">
                <a16:creationId xmlns="" xmlns:a16="http://schemas.microsoft.com/office/drawing/2014/main" id="{8CDC4FC3-BCCA-49BB-97D6-6CA50D6A35D4}"/>
              </a:ext>
            </a:extLst>
          </p:cNvPr>
          <p:cNvSpPr txBox="1"/>
          <p:nvPr/>
        </p:nvSpPr>
        <p:spPr>
          <a:xfrm>
            <a:off x="9403300" y="5170080"/>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10</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6583655" y="4120889"/>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045312" y="4225935"/>
            <a:ext cx="912973"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973015"/>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
        <p:nvSpPr>
          <p:cNvPr id="20" name="Rectangle 19"/>
          <p:cNvSpPr/>
          <p:nvPr/>
        </p:nvSpPr>
        <p:spPr>
          <a:xfrm>
            <a:off x="-14515" y="2"/>
            <a:ext cx="12206515" cy="97301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i="1" dirty="0" smtClean="0">
                <a:solidFill>
                  <a:schemeClr val="accent2"/>
                </a:solidFill>
                <a:latin typeface="Franklin Gothic Book" pitchFamily="34" charset="0"/>
              </a:rPr>
              <a:t>Problem Statement: </a:t>
            </a:r>
            <a:r>
              <a:rPr lang="en-IN" sz="1600" b="1" i="1" dirty="0" smtClean="0">
                <a:solidFill>
                  <a:schemeClr val="bg1"/>
                </a:solidFill>
                <a:latin typeface="Franklin Gothic Book" pitchFamily="34" charset="0"/>
              </a:rPr>
              <a:t>The south Indian steel company wants to </a:t>
            </a:r>
            <a:r>
              <a:rPr lang="en-IN" sz="1600" b="1" i="1" dirty="0" err="1" smtClean="0">
                <a:solidFill>
                  <a:schemeClr val="bg1"/>
                </a:solidFill>
                <a:latin typeface="Franklin Gothic Book" pitchFamily="34" charset="0"/>
              </a:rPr>
              <a:t>relaunch</a:t>
            </a:r>
            <a:r>
              <a:rPr lang="en-IN" sz="1600" b="1" i="1" dirty="0" smtClean="0">
                <a:solidFill>
                  <a:schemeClr val="bg1"/>
                </a:solidFill>
                <a:latin typeface="Franklin Gothic Book" pitchFamily="34" charset="0"/>
              </a:rPr>
              <a:t> their brand with revised USPs. The production market is more prone to new ideas and </a:t>
            </a:r>
            <a:r>
              <a:rPr lang="en-IN" sz="1600" b="1" i="1" dirty="0" err="1" smtClean="0">
                <a:solidFill>
                  <a:schemeClr val="bg1"/>
                </a:solidFill>
                <a:latin typeface="Franklin Gothic Book" pitchFamily="34" charset="0"/>
              </a:rPr>
              <a:t>techniques.The</a:t>
            </a:r>
            <a:r>
              <a:rPr lang="en-IN" sz="1600" b="1" i="1" dirty="0" smtClean="0">
                <a:solidFill>
                  <a:schemeClr val="bg1"/>
                </a:solidFill>
                <a:latin typeface="Franklin Gothic Book" pitchFamily="34" charset="0"/>
              </a:rPr>
              <a:t> company needs to raise up to the high competition in the market. Therefore, the immediate need of an hour is to reposition the company which meets the new strategies of the market.</a:t>
            </a:r>
            <a:endParaRPr lang="en-US" sz="1600" b="1" i="1" dirty="0">
              <a:solidFill>
                <a:schemeClr val="bg1"/>
              </a:solidFill>
              <a:latin typeface="Franklin Gothic Book" pitchFamily="34" charset="0"/>
            </a:endParaRPr>
          </a:p>
        </p:txBody>
      </p:sp>
      <p:sp>
        <p:nvSpPr>
          <p:cNvPr id="17" name="Rectangle 16"/>
          <p:cNvSpPr/>
          <p:nvPr/>
        </p:nvSpPr>
        <p:spPr>
          <a:xfrm>
            <a:off x="1" y="1056637"/>
            <a:ext cx="7474856" cy="5863144"/>
          </a:xfrm>
          <a:prstGeom prst="rect">
            <a:avLst/>
          </a:prstGeom>
        </p:spPr>
        <p:txBody>
          <a:bodyPr wrap="square">
            <a:spAutoFit/>
          </a:bodyPr>
          <a:lstStyle/>
          <a:p>
            <a:pPr algn="just"/>
            <a:r>
              <a:rPr lang="en-IN" sz="1500" b="1" i="1" u="sng" dirty="0" smtClean="0">
                <a:solidFill>
                  <a:schemeClr val="accent2"/>
                </a:solidFill>
                <a:latin typeface="Franklin Gothic Book" pitchFamily="34" charset="0"/>
              </a:rPr>
              <a:t>Solutions Planned:</a:t>
            </a:r>
          </a:p>
          <a:p>
            <a:pPr algn="just"/>
            <a:endParaRPr lang="en-IN" sz="1500" b="1" i="1" u="sng" dirty="0" smtClean="0">
              <a:solidFill>
                <a:schemeClr val="accent2"/>
              </a:solidFill>
              <a:latin typeface="Franklin Gothic Book" pitchFamily="34" charset="0"/>
            </a:endParaRPr>
          </a:p>
          <a:p>
            <a:pPr algn="just"/>
            <a:r>
              <a:rPr lang="en-IN" sz="1500" dirty="0" smtClean="0">
                <a:latin typeface="Franklin Gothic Book" pitchFamily="34" charset="0"/>
              </a:rPr>
              <a:t>To announce the </a:t>
            </a:r>
            <a:r>
              <a:rPr lang="en-IN" sz="1500" dirty="0" err="1" smtClean="0">
                <a:latin typeface="Franklin Gothic Book" pitchFamily="34" charset="0"/>
              </a:rPr>
              <a:t>relaunch</a:t>
            </a:r>
            <a:r>
              <a:rPr lang="en-IN" sz="1500" dirty="0" smtClean="0">
                <a:latin typeface="Franklin Gothic Book" pitchFamily="34" charset="0"/>
              </a:rPr>
              <a:t> of the logo and repositioning of the brand, curiosity campaigns were scheduled a week prior to the launch. This was mainly done to built an interest and eagerness among the audience. A few series of creative campaign was involved with pictures and videos which were subjected on the positioning of the statement. </a:t>
            </a:r>
          </a:p>
          <a:p>
            <a:pPr algn="just"/>
            <a:endParaRPr lang="en-IN" sz="1500" dirty="0" smtClean="0">
              <a:latin typeface="Franklin Gothic Book" pitchFamily="34" charset="0"/>
            </a:endParaRPr>
          </a:p>
          <a:p>
            <a:pPr algn="just"/>
            <a:r>
              <a:rPr lang="en-IN" sz="1500" dirty="0" smtClean="0">
                <a:latin typeface="Franklin Gothic Book" pitchFamily="34" charset="0"/>
              </a:rPr>
              <a:t>The functional campaigns were shared in the databases of the distributors and dealers one week before the launch. The online campaign was done in </a:t>
            </a:r>
            <a:r>
              <a:rPr lang="en-IN" sz="1500" dirty="0" err="1" smtClean="0">
                <a:latin typeface="Franklin Gothic Book" pitchFamily="34" charset="0"/>
              </a:rPr>
              <a:t>Facebook</a:t>
            </a:r>
            <a:r>
              <a:rPr lang="en-IN" sz="1500" dirty="0" smtClean="0">
                <a:latin typeface="Franklin Gothic Book" pitchFamily="34" charset="0"/>
              </a:rPr>
              <a:t>, </a:t>
            </a:r>
            <a:r>
              <a:rPr lang="en-IN" sz="1500" dirty="0" err="1" smtClean="0">
                <a:latin typeface="Franklin Gothic Book" pitchFamily="34" charset="0"/>
              </a:rPr>
              <a:t>Instagram</a:t>
            </a:r>
            <a:r>
              <a:rPr lang="en-IN" sz="1500" dirty="0" smtClean="0">
                <a:latin typeface="Franklin Gothic Book" pitchFamily="34" charset="0"/>
              </a:rPr>
              <a:t>, LinkedIn, </a:t>
            </a:r>
            <a:r>
              <a:rPr lang="en-IN" sz="1500" dirty="0" err="1" smtClean="0">
                <a:latin typeface="Franklin Gothic Book" pitchFamily="34" charset="0"/>
              </a:rPr>
              <a:t>Whatsapp</a:t>
            </a:r>
            <a:r>
              <a:rPr lang="en-IN" sz="1500" dirty="0" smtClean="0">
                <a:latin typeface="Franklin Gothic Book" pitchFamily="34" charset="0"/>
              </a:rPr>
              <a:t>, Email, SMS &amp; YouTube which mainly targeted the dealers, distributors &amp; construction oriented audience. There was a special video made exclusively for the launch day which was made viral on all the online channels.</a:t>
            </a:r>
          </a:p>
          <a:p>
            <a:pPr algn="just"/>
            <a:endParaRPr lang="en-IN" sz="1500" dirty="0" smtClean="0">
              <a:latin typeface="Franklin Gothic Book" pitchFamily="34" charset="0"/>
            </a:endParaRPr>
          </a:p>
          <a:p>
            <a:pPr algn="just"/>
            <a:r>
              <a:rPr lang="en-IN" sz="1500" dirty="0" smtClean="0">
                <a:latin typeface="Franklin Gothic Book" pitchFamily="34" charset="0"/>
              </a:rPr>
              <a:t>There was a streaming YouTube ad which also helped in gaining more attention on the </a:t>
            </a:r>
            <a:r>
              <a:rPr lang="en-IN" sz="1500" dirty="0" err="1" smtClean="0">
                <a:latin typeface="Franklin Gothic Book" pitchFamily="34" charset="0"/>
              </a:rPr>
              <a:t>relaunch</a:t>
            </a:r>
            <a:r>
              <a:rPr lang="en-IN" sz="1500" dirty="0" smtClean="0">
                <a:latin typeface="Franklin Gothic Book" pitchFamily="34" charset="0"/>
              </a:rPr>
              <a:t>. After the </a:t>
            </a:r>
            <a:r>
              <a:rPr lang="en-IN" sz="1500" dirty="0" err="1" smtClean="0">
                <a:latin typeface="Franklin Gothic Book" pitchFamily="34" charset="0"/>
              </a:rPr>
              <a:t>relaunch</a:t>
            </a:r>
            <a:r>
              <a:rPr lang="en-IN" sz="1500" dirty="0" smtClean="0">
                <a:latin typeface="Franklin Gothic Book" pitchFamily="34" charset="0"/>
              </a:rPr>
              <a:t>, there were different news articles and reports which were being circulated across the channels. These articles had helped really well in the promotions of the </a:t>
            </a:r>
            <a:r>
              <a:rPr lang="en-IN" sz="1500" dirty="0" err="1" smtClean="0">
                <a:latin typeface="Franklin Gothic Book" pitchFamily="34" charset="0"/>
              </a:rPr>
              <a:t>relaunch</a:t>
            </a:r>
            <a:r>
              <a:rPr lang="en-IN" sz="1500" dirty="0" smtClean="0">
                <a:latin typeface="Franklin Gothic Book" pitchFamily="34" charset="0"/>
              </a:rPr>
              <a:t>. </a:t>
            </a:r>
          </a:p>
          <a:p>
            <a:pPr algn="just"/>
            <a:endParaRPr lang="en-IN" sz="1500" dirty="0" smtClean="0">
              <a:latin typeface="Franklin Gothic Book" pitchFamily="34" charset="0"/>
            </a:endParaRPr>
          </a:p>
          <a:p>
            <a:pPr algn="just"/>
            <a:r>
              <a:rPr lang="en-IN" sz="1500" dirty="0" smtClean="0">
                <a:latin typeface="Franklin Gothic Book" pitchFamily="34" charset="0"/>
              </a:rPr>
              <a:t>Few dedicated landing pages were created for the direct users which helped them to get more information about the </a:t>
            </a:r>
            <a:r>
              <a:rPr lang="en-IN" sz="1500" dirty="0" err="1" smtClean="0">
                <a:latin typeface="Franklin Gothic Book" pitchFamily="34" charset="0"/>
              </a:rPr>
              <a:t>the</a:t>
            </a:r>
            <a:r>
              <a:rPr lang="en-IN" sz="1500" dirty="0" smtClean="0">
                <a:latin typeface="Franklin Gothic Book" pitchFamily="34" charset="0"/>
              </a:rPr>
              <a:t> </a:t>
            </a:r>
            <a:r>
              <a:rPr lang="en-IN" sz="1500" dirty="0" err="1" smtClean="0">
                <a:latin typeface="Franklin Gothic Book" pitchFamily="34" charset="0"/>
              </a:rPr>
              <a:t>potiential</a:t>
            </a:r>
            <a:r>
              <a:rPr lang="en-IN" sz="1500" dirty="0" smtClean="0">
                <a:latin typeface="Franklin Gothic Book" pitchFamily="34" charset="0"/>
              </a:rPr>
              <a:t> customers of the clients who were interested in further proceedings. Furthermore, the company had location based customized campaigns which were narrowed and executed that had helped in the increased purchase from the targeted </a:t>
            </a:r>
            <a:r>
              <a:rPr lang="en-IN" sz="1500" dirty="0" err="1" smtClean="0">
                <a:latin typeface="Franklin Gothic Book" pitchFamily="34" charset="0"/>
              </a:rPr>
              <a:t>geolocations</a:t>
            </a:r>
            <a:r>
              <a:rPr lang="en-IN" sz="1500" dirty="0" smtClean="0">
                <a:latin typeface="Franklin Gothic Book" pitchFamily="34" charset="0"/>
              </a:rPr>
              <a:t>. </a:t>
            </a:r>
          </a:p>
          <a:p>
            <a:pPr algn="just"/>
            <a:endParaRPr lang="en-IN" sz="1500" dirty="0" smtClean="0">
              <a:latin typeface="Franklin Gothic Book" pitchFamily="34" charset="0"/>
            </a:endParaRPr>
          </a:p>
          <a:p>
            <a:pPr algn="just"/>
            <a:r>
              <a:rPr lang="en-IN" sz="1500" dirty="0" smtClean="0">
                <a:latin typeface="Franklin Gothic Book" pitchFamily="34" charset="0"/>
              </a:rPr>
              <a:t>Also, these actions have helped to build a personal relation with the brand.</a:t>
            </a:r>
            <a:endParaRPr lang="en-IN" sz="1500" b="1" i="1" u="sng" dirty="0" smtClean="0">
              <a:solidFill>
                <a:schemeClr val="accent2"/>
              </a:solidFill>
              <a:latin typeface="Franklin Gothic Book" pitchFamily="34" charset="0"/>
            </a:endParaRPr>
          </a:p>
        </p:txBody>
      </p:sp>
      <p:cxnSp>
        <p:nvCxnSpPr>
          <p:cNvPr id="18" name="Straight Connector 17">
            <a:extLst>
              <a:ext uri="{FF2B5EF4-FFF2-40B4-BE49-F238E27FC236}">
                <a16:creationId xmlns="" xmlns:a16="http://schemas.microsoft.com/office/drawing/2014/main" id="{6BD05CA6-F403-49C9-A838-A3905BEB527A}"/>
              </a:ext>
            </a:extLst>
          </p:cNvPr>
          <p:cNvCxnSpPr/>
          <p:nvPr/>
        </p:nvCxnSpPr>
        <p:spPr>
          <a:xfrm rot="5400000">
            <a:off x="4626566" y="3913539"/>
            <a:ext cx="5860531"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xmlns="" id="{A922156B-D91A-EE48-BEC6-6019FB3B8413}"/>
              </a:ext>
            </a:extLst>
          </p:cNvPr>
          <p:cNvSpPr>
            <a:spLocks/>
          </p:cNvSpPr>
          <p:nvPr/>
        </p:nvSpPr>
        <p:spPr>
          <a:xfrm>
            <a:off x="7719098" y="1790338"/>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318K</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REACH</a:t>
            </a:r>
          </a:p>
        </p:txBody>
      </p:sp>
      <p:sp>
        <p:nvSpPr>
          <p:cNvPr id="32" name="Rectangle 31">
            <a:extLst>
              <a:ext uri="{FF2B5EF4-FFF2-40B4-BE49-F238E27FC236}">
                <a16:creationId xmlns:a16="http://schemas.microsoft.com/office/drawing/2014/main" xmlns="" id="{A922156B-D91A-EE48-BEC6-6019FB3B8413}"/>
              </a:ext>
            </a:extLst>
          </p:cNvPr>
          <p:cNvSpPr>
            <a:spLocks/>
          </p:cNvSpPr>
          <p:nvPr/>
        </p:nvSpPr>
        <p:spPr>
          <a:xfrm>
            <a:off x="7719098" y="1265910"/>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42" name="Rectangle 41">
            <a:extLst>
              <a:ext uri="{FF2B5EF4-FFF2-40B4-BE49-F238E27FC236}">
                <a16:creationId xmlns:a16="http://schemas.microsoft.com/office/drawing/2014/main" xmlns="" id="{A922156B-D91A-EE48-BEC6-6019FB3B8413}"/>
              </a:ext>
            </a:extLst>
          </p:cNvPr>
          <p:cNvSpPr>
            <a:spLocks/>
          </p:cNvSpPr>
          <p:nvPr/>
        </p:nvSpPr>
        <p:spPr>
          <a:xfrm>
            <a:off x="7719098" y="3749248"/>
            <a:ext cx="428240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KEY TAKEAWAYS</a:t>
            </a:r>
            <a:endParaRPr lang="en-IN" sz="2000" b="1" spc="75" dirty="0">
              <a:solidFill>
                <a:schemeClr val="tx1"/>
              </a:solidFill>
              <a:effectLst/>
              <a:latin typeface="Franklin Gothic Book" pitchFamily="34" charset="0"/>
              <a:ea typeface="MS Gothic"/>
              <a:cs typeface="Arial" pitchFamily="34" charset="0"/>
            </a:endParaRPr>
          </a:p>
        </p:txBody>
      </p:sp>
      <p:sp>
        <p:nvSpPr>
          <p:cNvPr id="48" name="Rectangle 47">
            <a:extLst>
              <a:ext uri="{FF2B5EF4-FFF2-40B4-BE49-F238E27FC236}">
                <a16:creationId xmlns:a16="http://schemas.microsoft.com/office/drawing/2014/main" xmlns="" id="{A922156B-D91A-EE48-BEC6-6019FB3B8413}"/>
              </a:ext>
            </a:extLst>
          </p:cNvPr>
          <p:cNvSpPr>
            <a:spLocks/>
          </p:cNvSpPr>
          <p:nvPr/>
        </p:nvSpPr>
        <p:spPr>
          <a:xfrm>
            <a:off x="9986048" y="1790338"/>
            <a:ext cx="2015452" cy="83311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latin typeface="Franklin Gothic Book" pitchFamily="34" charset="0"/>
                <a:ea typeface="MS Gothic"/>
                <a:cs typeface="Arial" pitchFamily="34" charset="0"/>
              </a:rPr>
              <a:t>154K</a:t>
            </a:r>
            <a:endParaRPr lang="en-IN" sz="2000" b="1" spc="75" dirty="0" smtClean="0">
              <a:solidFill>
                <a:schemeClr val="tx1"/>
              </a:solidFill>
              <a:effectLst/>
              <a:latin typeface="Franklin Gothic Book" pitchFamily="34" charset="0"/>
              <a:ea typeface="MS Gothic"/>
              <a:cs typeface="Arial" pitchFamily="34" charset="0"/>
            </a:endParaRPr>
          </a:p>
          <a:p>
            <a:pPr algn="ctr">
              <a:spcAft>
                <a:spcPts val="1000"/>
              </a:spcAft>
            </a:pPr>
            <a:r>
              <a:rPr lang="en-IN" sz="1600" b="1" spc="75" dirty="0" smtClean="0">
                <a:solidFill>
                  <a:schemeClr val="tx1"/>
                </a:solidFill>
                <a:effectLst/>
                <a:latin typeface="Franklin Gothic Book" pitchFamily="34" charset="0"/>
                <a:ea typeface="MS Gothic"/>
                <a:cs typeface="Arial" pitchFamily="34" charset="0"/>
              </a:rPr>
              <a:t>VIDEO VIEWS</a:t>
            </a:r>
          </a:p>
        </p:txBody>
      </p:sp>
      <p:sp>
        <p:nvSpPr>
          <p:cNvPr id="49" name="Rectangle 48">
            <a:extLst>
              <a:ext uri="{FF2B5EF4-FFF2-40B4-BE49-F238E27FC236}">
                <a16:creationId xmlns:a16="http://schemas.microsoft.com/office/drawing/2014/main" xmlns="" id="{A922156B-D91A-EE48-BEC6-6019FB3B8413}"/>
              </a:ext>
            </a:extLst>
          </p:cNvPr>
          <p:cNvSpPr>
            <a:spLocks/>
          </p:cNvSpPr>
          <p:nvPr/>
        </p:nvSpPr>
        <p:spPr>
          <a:xfrm>
            <a:off x="7719098" y="2736976"/>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96</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ENQUIRIES</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0" name="Rectangle 49">
            <a:extLst>
              <a:ext uri="{FF2B5EF4-FFF2-40B4-BE49-F238E27FC236}">
                <a16:creationId xmlns:a16="http://schemas.microsoft.com/office/drawing/2014/main" xmlns="" id="{A922156B-D91A-EE48-BEC6-6019FB3B8413}"/>
              </a:ext>
            </a:extLst>
          </p:cNvPr>
          <p:cNvSpPr>
            <a:spLocks/>
          </p:cNvSpPr>
          <p:nvPr/>
        </p:nvSpPr>
        <p:spPr>
          <a:xfrm>
            <a:off x="9986048" y="2736976"/>
            <a:ext cx="2015452" cy="9024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t" anchorCtr="0" forceAA="0" compatLnSpc="1">
            <a:prstTxWarp prst="textNoShape">
              <a:avLst/>
            </a:prstTxWarp>
            <a:noAutofit/>
          </a:bodyPr>
          <a:lstStyle/>
          <a:p>
            <a:pPr algn="ctr">
              <a:spcAft>
                <a:spcPts val="1000"/>
              </a:spcAft>
            </a:pPr>
            <a:r>
              <a:rPr lang="en-IN" sz="2000" b="1" spc="75" dirty="0" smtClean="0">
                <a:solidFill>
                  <a:schemeClr val="tx1"/>
                </a:solidFill>
                <a:effectLst/>
                <a:latin typeface="Franklin Gothic Book" pitchFamily="34" charset="0"/>
                <a:ea typeface="MS Gothic"/>
                <a:cs typeface="Arial" pitchFamily="34" charset="0"/>
              </a:rPr>
              <a:t>401 TONNE</a:t>
            </a:r>
          </a:p>
          <a:p>
            <a:pPr algn="ctr">
              <a:spcAft>
                <a:spcPts val="1000"/>
              </a:spcAft>
            </a:pPr>
            <a:r>
              <a:rPr lang="en-IN" sz="1600" b="1" spc="75" dirty="0" smtClean="0">
                <a:solidFill>
                  <a:schemeClr val="tx1"/>
                </a:solidFill>
                <a:latin typeface="Franklin Gothic Book" pitchFamily="34" charset="0"/>
                <a:ea typeface="MS Gothic"/>
                <a:cs typeface="Arial" pitchFamily="34" charset="0"/>
              </a:rPr>
              <a:t>SALE VALUE</a:t>
            </a:r>
            <a:endParaRPr lang="en-IN" sz="1600" b="1" spc="75" dirty="0" smtClean="0">
              <a:solidFill>
                <a:schemeClr val="tx1"/>
              </a:solidFill>
              <a:effectLst/>
              <a:latin typeface="Franklin Gothic Book" pitchFamily="34" charset="0"/>
              <a:ea typeface="MS Gothic"/>
              <a:cs typeface="Arial" pitchFamily="34" charset="0"/>
            </a:endParaRPr>
          </a:p>
        </p:txBody>
      </p:sp>
      <p:sp>
        <p:nvSpPr>
          <p:cNvPr id="51" name="Rectangle 50"/>
          <p:cNvSpPr/>
          <p:nvPr/>
        </p:nvSpPr>
        <p:spPr>
          <a:xfrm>
            <a:off x="7719098" y="4312553"/>
            <a:ext cx="4282402" cy="2246769"/>
          </a:xfrm>
          <a:prstGeom prst="rect">
            <a:avLst/>
          </a:prstGeom>
        </p:spPr>
        <p:txBody>
          <a:bodyPr wrap="square">
            <a:spAutoFit/>
          </a:bodyPr>
          <a:lstStyle/>
          <a:p>
            <a:pPr marL="342900" indent="-342900">
              <a:buAutoNum type="arabicPeriod"/>
            </a:pPr>
            <a:r>
              <a:rPr lang="en-IN" sz="1400" dirty="0" smtClean="0"/>
              <a:t>The number of plays for the video content was up to 154K </a:t>
            </a:r>
          </a:p>
          <a:p>
            <a:pPr marL="342900" indent="-342900">
              <a:buAutoNum type="arabicPeriod"/>
            </a:pPr>
            <a:r>
              <a:rPr lang="en-IN" sz="1400" dirty="0" smtClean="0"/>
              <a:t>In </a:t>
            </a:r>
            <a:r>
              <a:rPr lang="en-IN" sz="1400" dirty="0" err="1" smtClean="0"/>
              <a:t>Facebook</a:t>
            </a:r>
            <a:r>
              <a:rPr lang="en-IN" sz="1400" dirty="0" smtClean="0"/>
              <a:t>, the total number of plays for the video were over 133K and had impressions up to 255K. Based on this, there happened to be more than 1.3K landing page visits. </a:t>
            </a:r>
          </a:p>
          <a:p>
            <a:pPr marL="342900" indent="-342900">
              <a:buAutoNum type="arabicPeriod"/>
            </a:pPr>
            <a:r>
              <a:rPr lang="en-IN" sz="1400" dirty="0" smtClean="0"/>
              <a:t>The cost obtained for per click was rated at Rs.0.10. </a:t>
            </a:r>
          </a:p>
          <a:p>
            <a:pPr marL="342900" indent="-342900">
              <a:buAutoNum type="arabicPeriod"/>
            </a:pPr>
            <a:r>
              <a:rPr lang="en-IN" sz="1400" dirty="0" smtClean="0"/>
              <a:t> Around 96 enquiries were generated through digital marketing efforts </a:t>
            </a:r>
            <a:br>
              <a:rPr lang="en-IN" sz="1400" dirty="0" smtClean="0"/>
            </a:br>
            <a:endParaRPr lang="en-IN" sz="1400" b="1" dirty="0" smtClean="0">
              <a:latin typeface="Franklin Gothic Book" pitchFamily="34" charset="0"/>
            </a:endParaRPr>
          </a:p>
        </p:txBody>
      </p:sp>
      <p:sp>
        <p:nvSpPr>
          <p:cNvPr id="53" name="Rectangle 52">
            <a:extLst>
              <a:ext uri="{FF2B5EF4-FFF2-40B4-BE49-F238E27FC236}">
                <a16:creationId xmlns:a16="http://schemas.microsoft.com/office/drawing/2014/main" xmlns="" id="{A922156B-D91A-EE48-BEC6-6019FB3B8413}"/>
              </a:ext>
            </a:extLst>
          </p:cNvPr>
          <p:cNvSpPr>
            <a:spLocks/>
          </p:cNvSpPr>
          <p:nvPr/>
        </p:nvSpPr>
        <p:spPr>
          <a:xfrm>
            <a:off x="7719098" y="4166992"/>
            <a:ext cx="4282402" cy="2175748"/>
          </a:xfrm>
          <a:prstGeom prst="rect">
            <a:avLst/>
          </a:prstGeom>
          <a:no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p:txBody>
          <a:bodyPr/>
          <a:lstStyle/>
          <a:p>
            <a:r>
              <a:rPr lang="en-US" dirty="0" smtClean="0">
                <a:latin typeface="Franklin Gothic Medium" charset="0"/>
                <a:ea typeface="Franklin Gothic Medium" charset="0"/>
                <a:cs typeface="Franklin Gothic Medium" charset="0"/>
              </a:rPr>
              <a:t>9</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ONLINE UNIVERSITY - TEXILA</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a:xfrm>
            <a:off x="984563" y="2774071"/>
            <a:ext cx="1642533" cy="1163638"/>
          </a:xfrm>
        </p:spPr>
        <p:txBody>
          <a:bodyPr/>
          <a:lstStyle/>
          <a:p>
            <a:r>
              <a:rPr lang="en-US" dirty="0" smtClean="0">
                <a:latin typeface="Franklin Gothic Medium" charset="0"/>
                <a:ea typeface="Franklin Gothic Medium" charset="0"/>
                <a:cs typeface="Franklin Gothic Medium" charset="0"/>
              </a:rPr>
              <a:t>10</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Internal Brand Activation for a Hotel chain </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10:</a:t>
            </a:r>
            <a:r>
              <a:rPr lang="en-IN" sz="2400" b="1" i="1" dirty="0" smtClean="0">
                <a:latin typeface="Franklin Gothic Book" pitchFamily="34" charset="0"/>
              </a:rPr>
              <a:t>How an internal brand activation process improved the fun element and increased walk-ins to the property.</a:t>
            </a:r>
          </a:p>
        </p:txBody>
      </p:sp>
      <p:sp>
        <p:nvSpPr>
          <p:cNvPr id="17" name="Rectangle 16"/>
          <p:cNvSpPr/>
          <p:nvPr/>
        </p:nvSpPr>
        <p:spPr>
          <a:xfrm>
            <a:off x="7263911" y="2461481"/>
            <a:ext cx="680256" cy="3051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6583655" y="4599851"/>
            <a:ext cx="325145"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10045312" y="4704897"/>
            <a:ext cx="912973" cy="1527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14513" y="1420156"/>
            <a:ext cx="8882745" cy="5078313"/>
          </a:xfrm>
          <a:prstGeom prst="rect">
            <a:avLst/>
          </a:prstGeom>
        </p:spPr>
        <p:txBody>
          <a:bodyPr wrap="square">
            <a:spAutoFit/>
          </a:bodyPr>
          <a:lstStyle/>
          <a:p>
            <a:pPr algn="just"/>
            <a:r>
              <a:rPr lang="en-US" b="1" dirty="0" smtClean="0">
                <a:solidFill>
                  <a:schemeClr val="accent2"/>
                </a:solidFill>
                <a:latin typeface="Franklin Gothic Book" pitchFamily="34" charset="0"/>
                <a:cs typeface="Arial"/>
              </a:rPr>
              <a:t>Problem</a:t>
            </a:r>
            <a:r>
              <a:rPr lang="en-US" dirty="0" smtClean="0">
                <a:latin typeface="Franklin Gothic Book" pitchFamily="34" charset="0"/>
                <a:cs typeface="Arial"/>
              </a:rPr>
              <a:t>: A pan-India hotel chain opened up a new concept hotel and wanted to position it as the Business Hub of the town, where non-resident walk-ins can utilize the property for both work and pleasure.</a:t>
            </a:r>
          </a:p>
          <a:p>
            <a:pPr algn="just"/>
            <a:endParaRPr lang="en-US" dirty="0" smtClean="0">
              <a:latin typeface="Franklin Gothic Book" pitchFamily="34" charset="0"/>
              <a:cs typeface="Arial"/>
            </a:endParaRPr>
          </a:p>
          <a:p>
            <a:pPr algn="just"/>
            <a:r>
              <a:rPr lang="en-US" b="1" dirty="0" smtClean="0">
                <a:solidFill>
                  <a:schemeClr val="accent2"/>
                </a:solidFill>
                <a:latin typeface="Franklin Gothic Book" pitchFamily="34" charset="0"/>
                <a:cs typeface="Arial"/>
              </a:rPr>
              <a:t>Solution</a:t>
            </a:r>
            <a:r>
              <a:rPr lang="en-US" dirty="0" smtClean="0">
                <a:latin typeface="Franklin Gothic Book" pitchFamily="34" charset="0"/>
                <a:cs typeface="Arial"/>
              </a:rPr>
              <a:t>: </a:t>
            </a:r>
            <a:r>
              <a:rPr lang="en-US" dirty="0" err="1" smtClean="0">
                <a:latin typeface="Franklin Gothic Book" pitchFamily="34" charset="0"/>
                <a:cs typeface="Arial"/>
              </a:rPr>
              <a:t>Camdew’s</a:t>
            </a:r>
            <a:r>
              <a:rPr lang="en-US" dirty="0" smtClean="0">
                <a:latin typeface="Franklin Gothic Book" pitchFamily="34" charset="0"/>
                <a:cs typeface="Arial"/>
              </a:rPr>
              <a:t> team understood the concept and identified various channels to communicate key messages about the hotel chain both in-house and online. </a:t>
            </a:r>
            <a:r>
              <a:rPr lang="en-US" dirty="0" err="1" smtClean="0">
                <a:latin typeface="Franklin Gothic Book" pitchFamily="34" charset="0"/>
                <a:cs typeface="Arial"/>
              </a:rPr>
              <a:t>Camdew</a:t>
            </a:r>
            <a:r>
              <a:rPr lang="en-US" dirty="0" smtClean="0">
                <a:latin typeface="Franklin Gothic Book" pitchFamily="34" charset="0"/>
                <a:cs typeface="Arial"/>
              </a:rPr>
              <a:t> team worked closely with the corporate heads of the hotel chain to create both a customer engagement and an employee engagement plan. </a:t>
            </a:r>
            <a:r>
              <a:rPr lang="en-US" dirty="0" err="1" smtClean="0">
                <a:latin typeface="Franklin Gothic Book" pitchFamily="34" charset="0"/>
                <a:cs typeface="Arial"/>
              </a:rPr>
              <a:t>Camdew</a:t>
            </a:r>
            <a:r>
              <a:rPr lang="en-US" dirty="0" smtClean="0">
                <a:latin typeface="Franklin Gothic Book" pitchFamily="34" charset="0"/>
                <a:cs typeface="Arial"/>
              </a:rPr>
              <a:t> also assisted with the execution of the plans with proper measurement metrics in place. </a:t>
            </a:r>
            <a:r>
              <a:rPr lang="en-US" dirty="0" err="1" smtClean="0">
                <a:latin typeface="Franklin Gothic Book" pitchFamily="34" charset="0"/>
                <a:cs typeface="Arial"/>
              </a:rPr>
              <a:t>Camdew</a:t>
            </a:r>
            <a:r>
              <a:rPr lang="en-US" dirty="0" smtClean="0">
                <a:latin typeface="Franklin Gothic Book" pitchFamily="34" charset="0"/>
                <a:cs typeface="Arial"/>
              </a:rPr>
              <a:t> also handled the design and development of the branding elements involved in the process.</a:t>
            </a:r>
          </a:p>
          <a:p>
            <a:pPr algn="just"/>
            <a:endParaRPr lang="en-US" dirty="0" smtClean="0">
              <a:latin typeface="Franklin Gothic Book" pitchFamily="34" charset="0"/>
              <a:cs typeface="Arial"/>
            </a:endParaRPr>
          </a:p>
          <a:p>
            <a:pPr algn="just"/>
            <a:r>
              <a:rPr lang="en-US" b="1" dirty="0" smtClean="0">
                <a:solidFill>
                  <a:schemeClr val="accent2"/>
                </a:solidFill>
                <a:latin typeface="Franklin Gothic Book" pitchFamily="34" charset="0"/>
                <a:cs typeface="Arial"/>
              </a:rPr>
              <a:t>Result: </a:t>
            </a:r>
            <a:r>
              <a:rPr lang="en-US" dirty="0" smtClean="0">
                <a:latin typeface="Franklin Gothic Book" pitchFamily="34" charset="0"/>
                <a:cs typeface="Arial"/>
              </a:rPr>
              <a:t>The programs created were targeted at multiple segments of the local crowd and with effective communication resulted in an average of 100+ walk-ins everyday. The restaurant in the hotel was running at 80% bookings for lunch and 95% bookings for dinner. The brand activation was measured quantitatively and also qualitatively by increasing social engagement in terms of tagging guests on </a:t>
            </a:r>
            <a:r>
              <a:rPr lang="en-US" dirty="0" err="1" smtClean="0">
                <a:latin typeface="Franklin Gothic Book" pitchFamily="34" charset="0"/>
                <a:cs typeface="Arial"/>
              </a:rPr>
              <a:t>Facebook</a:t>
            </a:r>
            <a:r>
              <a:rPr lang="en-US" dirty="0" smtClean="0">
                <a:latin typeface="Franklin Gothic Book" pitchFamily="34" charset="0"/>
                <a:cs typeface="Arial"/>
              </a:rPr>
              <a:t>, </a:t>
            </a:r>
            <a:r>
              <a:rPr lang="en-US" dirty="0" err="1" smtClean="0">
                <a:latin typeface="Franklin Gothic Book" pitchFamily="34" charset="0"/>
                <a:cs typeface="Arial"/>
              </a:rPr>
              <a:t>Instagram</a:t>
            </a:r>
            <a:r>
              <a:rPr lang="en-US" dirty="0" smtClean="0">
                <a:latin typeface="Franklin Gothic Book" pitchFamily="34" charset="0"/>
                <a:cs typeface="Arial"/>
              </a:rPr>
              <a:t> and Twitter. The social engagement program targeted at women, called “Rent a Chef” was also a great success with more than 40 participants.</a:t>
            </a:r>
          </a:p>
        </p:txBody>
      </p:sp>
      <p:sp>
        <p:nvSpPr>
          <p:cNvPr id="24" name="Rectangle 23"/>
          <p:cNvSpPr/>
          <p:nvPr/>
        </p:nvSpPr>
        <p:spPr>
          <a:xfrm>
            <a:off x="9166540" y="1570738"/>
            <a:ext cx="288032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latin typeface="Franklin Gothic Book" pitchFamily="34" charset="0"/>
                <a:cs typeface="Arial"/>
              </a:rPr>
              <a:t>Timeline = 6 months</a:t>
            </a:r>
            <a:endParaRPr lang="en-US" sz="1600" b="1" dirty="0">
              <a:latin typeface="Franklin Gothic Book" pitchFamily="34" charset="0"/>
              <a:cs typeface="Arial"/>
            </a:endParaRPr>
          </a:p>
        </p:txBody>
      </p:sp>
      <p:sp>
        <p:nvSpPr>
          <p:cNvPr id="31" name="Rectangle 30"/>
          <p:cNvSpPr/>
          <p:nvPr/>
        </p:nvSpPr>
        <p:spPr>
          <a:xfrm>
            <a:off x="9166540" y="2400462"/>
            <a:ext cx="288032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latin typeface="Franklin Gothic Book" pitchFamily="34" charset="0"/>
                <a:cs typeface="Arial"/>
              </a:rPr>
              <a:t>Micro campaigns = 120</a:t>
            </a:r>
            <a:endParaRPr lang="en-US" sz="1600" b="1" dirty="0">
              <a:latin typeface="Franklin Gothic Book" pitchFamily="34" charset="0"/>
              <a:cs typeface="Arial"/>
            </a:endParaRPr>
          </a:p>
        </p:txBody>
      </p:sp>
      <p:sp>
        <p:nvSpPr>
          <p:cNvPr id="32" name="Rectangle 31"/>
          <p:cNvSpPr/>
          <p:nvPr/>
        </p:nvSpPr>
        <p:spPr>
          <a:xfrm>
            <a:off x="9166540" y="3213269"/>
            <a:ext cx="288032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latin typeface="Franklin Gothic Book" pitchFamily="34" charset="0"/>
                <a:cs typeface="Arial"/>
              </a:rPr>
              <a:t>100+ walk-ins per day</a:t>
            </a:r>
            <a:endParaRPr lang="en-US" sz="1600" b="1" dirty="0">
              <a:latin typeface="Franklin Gothic Book" pitchFamily="34" charset="0"/>
              <a:cs typeface="Arial"/>
            </a:endParaRPr>
          </a:p>
        </p:txBody>
      </p:sp>
      <p:sp>
        <p:nvSpPr>
          <p:cNvPr id="33" name="Rectangle 32"/>
          <p:cNvSpPr/>
          <p:nvPr/>
        </p:nvSpPr>
        <p:spPr>
          <a:xfrm>
            <a:off x="9166540" y="4042993"/>
            <a:ext cx="288032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latin typeface="Franklin Gothic Book" pitchFamily="34" charset="0"/>
                <a:cs typeface="Arial"/>
              </a:rPr>
              <a:t>Measurable returns for restaurant bookings</a:t>
            </a:r>
            <a:endParaRPr lang="en-US" sz="1600" b="1" dirty="0">
              <a:latin typeface="Franklin Gothic Book" pitchFamily="34" charset="0"/>
              <a:cs typeface="Arial"/>
            </a:endParaRPr>
          </a:p>
        </p:txBody>
      </p:sp>
      <p:sp>
        <p:nvSpPr>
          <p:cNvPr id="34" name="Rectangle 33"/>
          <p:cNvSpPr/>
          <p:nvPr/>
        </p:nvSpPr>
        <p:spPr>
          <a:xfrm>
            <a:off x="9166540" y="4872738"/>
            <a:ext cx="288032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latin typeface="Franklin Gothic Book" pitchFamily="34" charset="0"/>
                <a:cs typeface="Arial"/>
              </a:rPr>
              <a:t>Improved brand presence in Social media</a:t>
            </a:r>
            <a:endParaRPr lang="en-US" sz="1600" b="1" dirty="0">
              <a:latin typeface="Franklin Gothic Book" pitchFamily="34" charset="0"/>
              <a:cs typeface="Arial"/>
            </a:endParaRPr>
          </a:p>
        </p:txBody>
      </p:sp>
      <p:sp>
        <p:nvSpPr>
          <p:cNvPr id="37" name="Rectangle 36"/>
          <p:cNvSpPr/>
          <p:nvPr/>
        </p:nvSpPr>
        <p:spPr>
          <a:xfrm>
            <a:off x="9166540" y="5702462"/>
            <a:ext cx="288032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smtClean="0">
                <a:latin typeface="Franklin Gothic Book" pitchFamily="34" charset="0"/>
                <a:cs typeface="Arial"/>
              </a:rPr>
              <a:t>Increased engagement in social channels</a:t>
            </a:r>
            <a:endParaRPr lang="en-US" sz="1600" b="1" dirty="0">
              <a:latin typeface="Franklin Gothic Book" pitchFamily="34" charset="0"/>
              <a:cs typeface="Arial"/>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a:xfrm>
            <a:off x="925287" y="2774071"/>
            <a:ext cx="1744133" cy="1163638"/>
          </a:xfrm>
        </p:spPr>
        <p:txBody>
          <a:bodyPr/>
          <a:lstStyle/>
          <a:p>
            <a:r>
              <a:rPr lang="en-US" dirty="0" smtClean="0">
                <a:latin typeface="Franklin Gothic Medium" charset="0"/>
                <a:ea typeface="Franklin Gothic Medium" charset="0"/>
                <a:cs typeface="Franklin Gothic Medium" charset="0"/>
              </a:rPr>
              <a:t>11</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COVID DASHBOARD</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a:xfrm>
            <a:off x="925287" y="2774071"/>
            <a:ext cx="1744133" cy="1163638"/>
          </a:xfrm>
        </p:spPr>
        <p:txBody>
          <a:bodyPr/>
          <a:lstStyle/>
          <a:p>
            <a:r>
              <a:rPr lang="en-US" dirty="0" smtClean="0">
                <a:latin typeface="Franklin Gothic Medium" charset="0"/>
                <a:ea typeface="Franklin Gothic Medium" charset="0"/>
                <a:cs typeface="Franklin Gothic Medium" charset="0"/>
              </a:rPr>
              <a:t>12</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669420" y="2774071"/>
            <a:ext cx="9522580" cy="1163638"/>
          </a:xfrm>
        </p:spPr>
        <p:txBody>
          <a:bodyPr/>
          <a:lstStyle/>
          <a:p>
            <a:pPr indent="-228600">
              <a:lnSpc>
                <a:spcPct val="120000"/>
              </a:lnSpc>
              <a:spcAft>
                <a:spcPts val="600"/>
              </a:spcAft>
            </a:pPr>
            <a:r>
              <a:rPr lang="en-IN" sz="2800" b="1" dirty="0" err="1" smtClean="0">
                <a:latin typeface="Franklin Gothic Book" pitchFamily="34" charset="0"/>
                <a:cs typeface="Arial" panose="020B0604020202020204" pitchFamily="34" charset="0"/>
              </a:rPr>
              <a:t>Greenspin</a:t>
            </a:r>
            <a:r>
              <a:rPr lang="en-IN" sz="2800" b="1" dirty="0" smtClean="0">
                <a:latin typeface="Franklin Gothic Book" pitchFamily="34" charset="0"/>
                <a:cs typeface="Arial" panose="020B0604020202020204" pitchFamily="34" charset="0"/>
              </a:rPr>
              <a:t> Campaign </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a:xfrm>
            <a:off x="1045029" y="2774071"/>
            <a:ext cx="1842105" cy="1163638"/>
          </a:xfrm>
        </p:spPr>
        <p:txBody>
          <a:bodyPr/>
          <a:lstStyle/>
          <a:p>
            <a:r>
              <a:rPr lang="en-US" dirty="0" smtClean="0">
                <a:latin typeface="Franklin Gothic Medium" charset="0"/>
                <a:ea typeface="Franklin Gothic Medium" charset="0"/>
                <a:cs typeface="Franklin Gothic Medium" charset="0"/>
              </a:rPr>
              <a:t>13</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887134" y="2803099"/>
            <a:ext cx="8699500" cy="1163638"/>
          </a:xfrm>
        </p:spPr>
        <p:txBody>
          <a:bodyPr/>
          <a:lstStyle/>
          <a:p>
            <a:r>
              <a:rPr lang="en-US" sz="2800" dirty="0" err="1" smtClean="0">
                <a:latin typeface="Franklin Gothic Medium" charset="0"/>
                <a:ea typeface="Franklin Gothic Medium" charset="0"/>
                <a:cs typeface="Franklin Gothic Medium" charset="0"/>
              </a:rPr>
              <a:t>Walkins</a:t>
            </a:r>
            <a:r>
              <a:rPr lang="en-US" sz="2800" dirty="0" smtClean="0">
                <a:latin typeface="Franklin Gothic Medium" charset="0"/>
                <a:ea typeface="Franklin Gothic Medium" charset="0"/>
                <a:cs typeface="Franklin Gothic Medium" charset="0"/>
              </a:rPr>
              <a:t> increased up to 30% for a real estate expo using digital brand awareness program</a:t>
            </a:r>
            <a:endParaRPr lang="en-US" sz="2800" dirty="0">
              <a:latin typeface="Franklin Gothic Medium" charset="0"/>
              <a:ea typeface="Franklin Gothic Medium" charset="0"/>
              <a:cs typeface="Franklin Gothic Medium" charset="0"/>
            </a:endParaRP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athis\Desktop\computer-notebook-laptop-working-wallpaper.jpg"/>
          <p:cNvPicPr>
            <a:picLocks noChangeAspect="1" noChangeArrowheads="1"/>
          </p:cNvPicPr>
          <p:nvPr/>
        </p:nvPicPr>
        <p:blipFill rotWithShape="1">
          <a:blip r:embed="rId2"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descr="tDBlogowhitebg.png"/>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20" name="Rectangle 19"/>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13: </a:t>
            </a:r>
            <a:r>
              <a:rPr lang="en-IN" sz="2400" b="1" i="1" dirty="0" smtClean="0"/>
              <a:t>DIGITAL BRAND AWARENESS INCREASES WALK-INS BY 30%</a:t>
            </a:r>
            <a:endParaRPr lang="en-US" sz="2400" b="1" i="1" dirty="0">
              <a:latin typeface="Franklin Gothic Book" pitchFamily="34" charset="0"/>
            </a:endParaRPr>
          </a:p>
        </p:txBody>
      </p:sp>
      <p:sp>
        <p:nvSpPr>
          <p:cNvPr id="21" name="Rectangle 20"/>
          <p:cNvSpPr/>
          <p:nvPr/>
        </p:nvSpPr>
        <p:spPr>
          <a:xfrm>
            <a:off x="-14515" y="1349898"/>
            <a:ext cx="12206515" cy="2031325"/>
          </a:xfrm>
          <a:prstGeom prst="rect">
            <a:avLst/>
          </a:prstGeom>
        </p:spPr>
        <p:txBody>
          <a:bodyPr wrap="square">
            <a:spAutoFit/>
          </a:bodyPr>
          <a:lstStyle/>
          <a:p>
            <a:r>
              <a:rPr lang="en-IN" b="1" dirty="0" smtClean="0">
                <a:latin typeface="Franklin Gothic Book" pitchFamily="34" charset="0"/>
              </a:rPr>
              <a:t>CLIENT STORY:</a:t>
            </a:r>
          </a:p>
          <a:p>
            <a:r>
              <a:rPr lang="en-IN" dirty="0" smtClean="0">
                <a:solidFill>
                  <a:schemeClr val="accent2"/>
                </a:solidFill>
                <a:latin typeface="Franklin Gothic Book" pitchFamily="34" charset="0"/>
              </a:rPr>
              <a:t/>
            </a:r>
            <a:br>
              <a:rPr lang="en-IN" dirty="0" smtClean="0">
                <a:solidFill>
                  <a:schemeClr val="accent2"/>
                </a:solidFill>
                <a:latin typeface="Franklin Gothic Book" pitchFamily="34" charset="0"/>
              </a:rPr>
            </a:br>
            <a:r>
              <a:rPr lang="en-IN" b="1" dirty="0" smtClean="0">
                <a:solidFill>
                  <a:schemeClr val="accent2"/>
                </a:solidFill>
                <a:latin typeface="Franklin Gothic Book" pitchFamily="34" charset="0"/>
              </a:rPr>
              <a:t>Industry: REAL ESTATE </a:t>
            </a:r>
          </a:p>
          <a:p>
            <a:endParaRPr lang="en-IN" b="1" dirty="0" smtClean="0">
              <a:latin typeface="Franklin Gothic Book" pitchFamily="34" charset="0"/>
            </a:endParaRPr>
          </a:p>
          <a:p>
            <a:r>
              <a:rPr lang="en-IN" dirty="0" smtClean="0">
                <a:latin typeface="Franklin Gothic Book" pitchFamily="34" charset="0"/>
              </a:rPr>
              <a:t>The client is a registered body representing the organized property development sector of a tier 2 city. Also, the client hosts an annual event of over 3 days to showcase the latest developments which provides ample options to select properties for purchasing. This event creates rich dialogues between developers, policy influencers, the media and potential buyers.</a:t>
            </a:r>
            <a:endParaRPr lang="en-IN" dirty="0">
              <a:latin typeface="Franklin Gothic Book" pitchFamily="34" charset="0"/>
            </a:endParaRPr>
          </a:p>
        </p:txBody>
      </p:sp>
      <p:sp>
        <p:nvSpPr>
          <p:cNvPr id="35" name="Rectangle 34"/>
          <p:cNvSpPr/>
          <p:nvPr/>
        </p:nvSpPr>
        <p:spPr>
          <a:xfrm>
            <a:off x="20013172" y="-585583"/>
            <a:ext cx="5143499" cy="338554"/>
          </a:xfrm>
          <a:prstGeom prst="rect">
            <a:avLst/>
          </a:prstGeom>
        </p:spPr>
        <p:txBody>
          <a:bodyPr wrap="square">
            <a:spAutoFit/>
          </a:bodyPr>
          <a:lstStyle/>
          <a:p>
            <a:r>
              <a:rPr lang="en-IN" sz="1600" b="1" i="1" u="sng" dirty="0" smtClean="0">
                <a:latin typeface="Franklin Gothic Book" pitchFamily="34" charset="0"/>
              </a:rPr>
              <a:t>ADVERT USED FOR THE CAMPAIGN</a:t>
            </a:r>
          </a:p>
        </p:txBody>
      </p:sp>
      <p:pic>
        <p:nvPicPr>
          <p:cNvPr id="2050" name="Picture 2"/>
          <p:cNvPicPr>
            <a:picLocks noChangeAspect="1" noChangeArrowheads="1"/>
          </p:cNvPicPr>
          <p:nvPr/>
        </p:nvPicPr>
        <p:blipFill>
          <a:blip r:embed="rId4"/>
          <a:srcRect l="73847" t="38176" r="6250" b="29333"/>
          <a:stretch>
            <a:fillRect/>
          </a:stretch>
        </p:blipFill>
        <p:spPr bwMode="auto">
          <a:xfrm>
            <a:off x="20196346" y="-63542"/>
            <a:ext cx="3701469" cy="3398942"/>
          </a:xfrm>
          <a:prstGeom prst="rect">
            <a:avLst/>
          </a:prstGeom>
          <a:noFill/>
          <a:ln w="9525">
            <a:noFill/>
            <a:miter lim="800000"/>
            <a:headEnd/>
            <a:tailEnd/>
          </a:ln>
          <a:effectLst/>
        </p:spPr>
      </p:pic>
      <p:sp>
        <p:nvSpPr>
          <p:cNvPr id="18" name="Rectangle 17"/>
          <p:cNvSpPr/>
          <p:nvPr/>
        </p:nvSpPr>
        <p:spPr>
          <a:xfrm>
            <a:off x="0" y="3848100"/>
            <a:ext cx="12522200" cy="1200329"/>
          </a:xfrm>
          <a:prstGeom prst="rect">
            <a:avLst/>
          </a:prstGeom>
        </p:spPr>
        <p:txBody>
          <a:bodyPr wrap="square">
            <a:spAutoFit/>
          </a:bodyPr>
          <a:lstStyle/>
          <a:p>
            <a:r>
              <a:rPr lang="en-IN" b="1" dirty="0" smtClean="0">
                <a:solidFill>
                  <a:schemeClr val="accent2"/>
                </a:solidFill>
                <a:latin typeface="Franklin Gothic Book" pitchFamily="34" charset="0"/>
              </a:rPr>
              <a:t>Problem: </a:t>
            </a:r>
            <a:r>
              <a:rPr lang="en-IN" dirty="0" smtClean="0">
                <a:latin typeface="Franklin Gothic Book" pitchFamily="34" charset="0"/>
              </a:rPr>
              <a:t>The client wanted to increase the visibility of the 3-day real estate fair but lacked the proper execution </a:t>
            </a:r>
            <a:r>
              <a:rPr lang="en-IN" dirty="0" err="1" smtClean="0">
                <a:latin typeface="Franklin Gothic Book" pitchFamily="34" charset="0"/>
              </a:rPr>
              <a:t>idealogy</a:t>
            </a:r>
            <a:r>
              <a:rPr lang="en-IN" dirty="0" smtClean="0">
                <a:latin typeface="Franklin Gothic Book" pitchFamily="34" charset="0"/>
              </a:rPr>
              <a:t>. The client needed a sound strategy to increase walk-ins to the event by targeting the new property buyers and returning buyers</a:t>
            </a:r>
          </a:p>
          <a:p>
            <a:endParaRPr lang="en-IN" dirty="0" smtClean="0">
              <a:latin typeface="Franklin Gothic Book" pitchFamily="34" charset="0"/>
            </a:endParaRPr>
          </a:p>
          <a:p>
            <a:r>
              <a:rPr lang="en-IN" dirty="0" smtClean="0">
                <a:latin typeface="Franklin Gothic Book" pitchFamily="34" charset="0"/>
              </a:rPr>
              <a:t>. </a:t>
            </a:r>
            <a:endParaRPr lang="en-IN" dirty="0">
              <a:latin typeface="Franklin Gothic Book" pitchFamily="34" charset="0"/>
            </a:endParaRPr>
          </a:p>
        </p:txBody>
      </p:sp>
      <p:pic>
        <p:nvPicPr>
          <p:cNvPr id="23" name="Picture 22">
            <a:extLst>
              <a:ext uri="{FF2B5EF4-FFF2-40B4-BE49-F238E27FC236}">
                <a16:creationId xmlns="" xmlns:a16="http://schemas.microsoft.com/office/drawing/2014/main" id="{6CE4759C-9294-7B41-BABB-780EEA6D659F}"/>
              </a:ext>
            </a:extLst>
          </p:cNvPr>
          <p:cNvPicPr>
            <a:picLocks noChangeAspect="1"/>
          </p:cNvPicPr>
          <p:nvPr/>
        </p:nvPicPr>
        <p:blipFill>
          <a:blip r:embed="rId5"/>
          <a:srcRect l="8284" r="8365"/>
          <a:stretch>
            <a:fillRect/>
          </a:stretch>
        </p:blipFill>
        <p:spPr>
          <a:xfrm>
            <a:off x="35169" y="5630013"/>
            <a:ext cx="1886857" cy="796505"/>
          </a:xfrm>
          <a:prstGeom prst="rect">
            <a:avLst/>
          </a:prstGeom>
        </p:spPr>
      </p:pic>
      <p:pic>
        <p:nvPicPr>
          <p:cNvPr id="24" name="Picture 23">
            <a:extLst>
              <a:ext uri="{FF2B5EF4-FFF2-40B4-BE49-F238E27FC236}">
                <a16:creationId xmlns="" xmlns:a16="http://schemas.microsoft.com/office/drawing/2014/main" id="{986633B4-000D-E44B-86BA-9A65766C85E2}"/>
              </a:ext>
            </a:extLst>
          </p:cNvPr>
          <p:cNvPicPr>
            <a:picLocks noChangeAspect="1"/>
          </p:cNvPicPr>
          <p:nvPr/>
        </p:nvPicPr>
        <p:blipFill>
          <a:blip r:embed="rId6"/>
          <a:srcRect l="7114" r="10128"/>
          <a:stretch>
            <a:fillRect/>
          </a:stretch>
        </p:blipFill>
        <p:spPr>
          <a:xfrm>
            <a:off x="1992923" y="5630013"/>
            <a:ext cx="1602154" cy="796505"/>
          </a:xfrm>
          <a:prstGeom prst="rect">
            <a:avLst/>
          </a:prstGeom>
        </p:spPr>
      </p:pic>
      <p:pic>
        <p:nvPicPr>
          <p:cNvPr id="31" name="Picture 30">
            <a:extLst>
              <a:ext uri="{FF2B5EF4-FFF2-40B4-BE49-F238E27FC236}">
                <a16:creationId xmlns="" xmlns:a16="http://schemas.microsoft.com/office/drawing/2014/main" id="{1983ADC3-199E-CE46-AB99-10CBCF47E4CC}"/>
              </a:ext>
            </a:extLst>
          </p:cNvPr>
          <p:cNvPicPr>
            <a:picLocks noChangeAspect="1"/>
          </p:cNvPicPr>
          <p:nvPr/>
        </p:nvPicPr>
        <p:blipFill>
          <a:blip r:embed="rId7" cstate="print"/>
          <a:stretch>
            <a:fillRect/>
          </a:stretch>
        </p:blipFill>
        <p:spPr>
          <a:xfrm>
            <a:off x="3657705" y="5617813"/>
            <a:ext cx="1593010" cy="796505"/>
          </a:xfrm>
          <a:prstGeom prst="rect">
            <a:avLst/>
          </a:prstGeom>
        </p:spPr>
      </p:pic>
      <p:pic>
        <p:nvPicPr>
          <p:cNvPr id="32" name="Picture 31">
            <a:extLst>
              <a:ext uri="{FF2B5EF4-FFF2-40B4-BE49-F238E27FC236}">
                <a16:creationId xmlns="" xmlns:a16="http://schemas.microsoft.com/office/drawing/2014/main" id="{3CCFB20E-D026-5044-8A7A-A7CE07E76816}"/>
              </a:ext>
            </a:extLst>
          </p:cNvPr>
          <p:cNvPicPr>
            <a:picLocks noChangeAspect="1"/>
          </p:cNvPicPr>
          <p:nvPr/>
        </p:nvPicPr>
        <p:blipFill>
          <a:blip r:embed="rId8"/>
          <a:srcRect l="23738" t="16555" r="22521" b="18188"/>
          <a:stretch>
            <a:fillRect/>
          </a:stretch>
        </p:blipFill>
        <p:spPr>
          <a:xfrm>
            <a:off x="5288815" y="5666074"/>
            <a:ext cx="1188185" cy="705675"/>
          </a:xfrm>
          <a:prstGeom prst="rect">
            <a:avLst/>
          </a:prstGeom>
        </p:spPr>
      </p:pic>
      <p:pic>
        <p:nvPicPr>
          <p:cNvPr id="33" name="Picture 32">
            <a:extLst>
              <a:ext uri="{FF2B5EF4-FFF2-40B4-BE49-F238E27FC236}">
                <a16:creationId xmlns="" xmlns:a16="http://schemas.microsoft.com/office/drawing/2014/main" id="{D221CD4D-53D2-FB48-951C-530CA9D94F64}"/>
              </a:ext>
            </a:extLst>
          </p:cNvPr>
          <p:cNvPicPr>
            <a:picLocks noChangeAspect="1"/>
          </p:cNvPicPr>
          <p:nvPr/>
        </p:nvPicPr>
        <p:blipFill>
          <a:blip r:embed="rId9"/>
          <a:srcRect t="15592" b="25240"/>
          <a:stretch>
            <a:fillRect/>
          </a:stretch>
        </p:blipFill>
        <p:spPr>
          <a:xfrm>
            <a:off x="8858775" y="5729574"/>
            <a:ext cx="1365534" cy="605187"/>
          </a:xfrm>
          <a:prstGeom prst="rect">
            <a:avLst/>
          </a:prstGeom>
        </p:spPr>
      </p:pic>
      <p:pic>
        <p:nvPicPr>
          <p:cNvPr id="4098" name="Picture 2" descr="C:\Users\Admin\Desktop\Meme\017DmecKscssWFj6CCBVrw9-9.fit_scale.size_1028x578.v_1569480340.jpg"/>
          <p:cNvPicPr>
            <a:picLocks noChangeAspect="1" noChangeArrowheads="1"/>
          </p:cNvPicPr>
          <p:nvPr/>
        </p:nvPicPr>
        <p:blipFill>
          <a:blip r:embed="rId10"/>
          <a:srcRect t="33857" b="38368"/>
          <a:stretch>
            <a:fillRect/>
          </a:stretch>
        </p:blipFill>
        <p:spPr bwMode="auto">
          <a:xfrm>
            <a:off x="6692900" y="5808043"/>
            <a:ext cx="2057301" cy="321913"/>
          </a:xfrm>
          <a:prstGeom prst="rect">
            <a:avLst/>
          </a:prstGeom>
          <a:noFill/>
        </p:spPr>
      </p:pic>
      <p:pic>
        <p:nvPicPr>
          <p:cNvPr id="4099" name="Picture 3" descr="C:\Users\Admin\Desktop\Meme\logo.png"/>
          <p:cNvPicPr>
            <a:picLocks noChangeAspect="1" noChangeArrowheads="1"/>
          </p:cNvPicPr>
          <p:nvPr/>
        </p:nvPicPr>
        <p:blipFill>
          <a:blip r:embed="rId11"/>
          <a:srcRect/>
          <a:stretch>
            <a:fillRect/>
          </a:stretch>
        </p:blipFill>
        <p:spPr bwMode="auto">
          <a:xfrm>
            <a:off x="10440209" y="5745174"/>
            <a:ext cx="1967691" cy="487987"/>
          </a:xfrm>
          <a:prstGeom prst="rect">
            <a:avLst/>
          </a:prstGeom>
          <a:noFill/>
        </p:spPr>
      </p:pic>
      <p:sp>
        <p:nvSpPr>
          <p:cNvPr id="34" name="Rectangle 33"/>
          <p:cNvSpPr/>
          <p:nvPr/>
        </p:nvSpPr>
        <p:spPr>
          <a:xfrm>
            <a:off x="0" y="4827502"/>
            <a:ext cx="12192000" cy="648072"/>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smtClean="0">
                <a:latin typeface="Franklin Gothic Book" pitchFamily="34" charset="0"/>
                <a:cs typeface="Arial"/>
              </a:rPr>
              <a:t>TOOLS PLANNED</a:t>
            </a:r>
            <a:endParaRPr lang="en-US" sz="2000" b="1" dirty="0">
              <a:latin typeface="Franklin Gothic Book" pitchFamily="34" charset="0"/>
              <a:cs typeface="Arial"/>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sp>
        <p:nvSpPr>
          <p:cNvPr id="17" name="Rectangle 16"/>
          <p:cNvSpPr/>
          <p:nvPr/>
        </p:nvSpPr>
        <p:spPr>
          <a:xfrm>
            <a:off x="0" y="0"/>
            <a:ext cx="12192000" cy="5216813"/>
          </a:xfrm>
          <a:prstGeom prst="rect">
            <a:avLst/>
          </a:prstGeom>
        </p:spPr>
        <p:txBody>
          <a:bodyPr wrap="square">
            <a:spAutoFit/>
          </a:bodyPr>
          <a:lstStyle/>
          <a:p>
            <a:pPr algn="just"/>
            <a:r>
              <a:rPr lang="en-IN" sz="1300" b="1" i="1" u="sng" dirty="0" smtClean="0">
                <a:solidFill>
                  <a:schemeClr val="accent2"/>
                </a:solidFill>
                <a:latin typeface="Franklin Gothic Book" pitchFamily="34" charset="0"/>
              </a:rPr>
              <a:t>Solutions Planned:</a:t>
            </a:r>
          </a:p>
          <a:p>
            <a:pPr algn="just"/>
            <a:endParaRPr lang="en-IN" sz="1300" b="1" i="1" u="sng" dirty="0" smtClean="0">
              <a:solidFill>
                <a:schemeClr val="accent2"/>
              </a:solidFill>
              <a:latin typeface="Franklin Gothic Book" pitchFamily="34" charset="0"/>
            </a:endParaRPr>
          </a:p>
          <a:p>
            <a:pPr algn="just"/>
            <a:r>
              <a:rPr lang="en-IN" sz="1400" dirty="0" smtClean="0">
                <a:latin typeface="Franklin Gothic Book" pitchFamily="34" charset="0"/>
              </a:rPr>
              <a:t>The client annually hosts a 3-day event bringing together more than 100 properties from over 35 realtors. The campaign to popularise the 3-day real estate expo was planned to roll out in 3 stages. The 16-day campaign revolved around brand awareness, reaching out to the targets and about the event that was to be held. Targeting the right ICP enabled a 30% increase of walk-ins in just a fortnight. </a:t>
            </a:r>
          </a:p>
          <a:p>
            <a:pPr algn="just"/>
            <a:endParaRPr lang="en-IN" sz="1400" dirty="0" smtClean="0">
              <a:latin typeface="Franklin Gothic Book" pitchFamily="34" charset="0"/>
            </a:endParaRPr>
          </a:p>
          <a:p>
            <a:pPr algn="just"/>
            <a:r>
              <a:rPr lang="en-IN" sz="1400" b="1" dirty="0" smtClean="0">
                <a:latin typeface="Franklin Gothic Book" pitchFamily="34" charset="0"/>
              </a:rPr>
              <a:t>Stage-1, Conducting surveys</a:t>
            </a:r>
            <a:r>
              <a:rPr lang="en-IN" sz="1400" dirty="0" smtClean="0">
                <a:latin typeface="Franklin Gothic Book" pitchFamily="34" charset="0"/>
              </a:rPr>
              <a:t> </a:t>
            </a:r>
            <a:r>
              <a:rPr lang="en-IN" sz="1400" dirty="0" err="1" smtClean="0">
                <a:latin typeface="Franklin Gothic Book" pitchFamily="34" charset="0"/>
              </a:rPr>
              <a:t>Surveys</a:t>
            </a:r>
            <a:r>
              <a:rPr lang="en-IN" sz="1400" dirty="0" smtClean="0">
                <a:latin typeface="Franklin Gothic Book" pitchFamily="34" charset="0"/>
              </a:rPr>
              <a:t> were rolled out to the target profiles across the city. The surveys were done to understand the requirements of the property buyers, and they also served the purpose of branding. The ads were run targeting the audience who were interested in purchasing a property. Around 20% of the online enquiries came from this campaign. </a:t>
            </a:r>
          </a:p>
          <a:p>
            <a:pPr algn="just"/>
            <a:endParaRPr lang="en-IN" sz="1400" dirty="0" smtClean="0">
              <a:latin typeface="Franklin Gothic Book" pitchFamily="34" charset="0"/>
            </a:endParaRPr>
          </a:p>
          <a:p>
            <a:pPr algn="just"/>
            <a:r>
              <a:rPr lang="en-IN" sz="1400" b="1" dirty="0" smtClean="0">
                <a:latin typeface="Franklin Gothic Book" pitchFamily="34" charset="0"/>
              </a:rPr>
              <a:t>Stage-2, Positioning the expo (Do you Know)</a:t>
            </a:r>
            <a:r>
              <a:rPr lang="en-IN" sz="1400" dirty="0" smtClean="0">
                <a:latin typeface="Franklin Gothic Book" pitchFamily="34" charset="0"/>
              </a:rPr>
              <a:t> Branding campaign was initiated on </a:t>
            </a:r>
            <a:r>
              <a:rPr lang="en-IN" sz="1400" dirty="0" err="1" smtClean="0">
                <a:latin typeface="Franklin Gothic Book" pitchFamily="34" charset="0"/>
              </a:rPr>
              <a:t>Facebook</a:t>
            </a:r>
            <a:r>
              <a:rPr lang="en-IN" sz="1400" dirty="0" smtClean="0">
                <a:latin typeface="Franklin Gothic Book" pitchFamily="34" charset="0"/>
              </a:rPr>
              <a:t>, </a:t>
            </a:r>
            <a:r>
              <a:rPr lang="en-IN" sz="1400" dirty="0" err="1" smtClean="0">
                <a:latin typeface="Franklin Gothic Book" pitchFamily="34" charset="0"/>
              </a:rPr>
              <a:t>Instagram</a:t>
            </a:r>
            <a:r>
              <a:rPr lang="en-IN" sz="1400" dirty="0" smtClean="0">
                <a:latin typeface="Franklin Gothic Book" pitchFamily="34" charset="0"/>
              </a:rPr>
              <a:t> and LinkedIn through interest-based targeting. This campaign focused on building trust between realtors and buyers. The </a:t>
            </a:r>
            <a:r>
              <a:rPr lang="en-IN" sz="1400" dirty="0" err="1" smtClean="0">
                <a:latin typeface="Franklin Gothic Book" pitchFamily="34" charset="0"/>
              </a:rPr>
              <a:t>creatives</a:t>
            </a:r>
            <a:r>
              <a:rPr lang="en-IN" sz="1400" dirty="0" smtClean="0">
                <a:latin typeface="Franklin Gothic Book" pitchFamily="34" charset="0"/>
              </a:rPr>
              <a:t> promoted the powers a property buyer enjoys over the promoter and the rules of the regulatory body governing the real estate sector. </a:t>
            </a:r>
          </a:p>
          <a:p>
            <a:pPr algn="just"/>
            <a:endParaRPr lang="en-IN" sz="1400" dirty="0" smtClean="0">
              <a:latin typeface="Franklin Gothic Book" pitchFamily="34" charset="0"/>
            </a:endParaRPr>
          </a:p>
          <a:p>
            <a:pPr algn="just"/>
            <a:r>
              <a:rPr lang="en-IN" sz="1400" b="1" dirty="0" smtClean="0">
                <a:latin typeface="Franklin Gothic Book" pitchFamily="34" charset="0"/>
              </a:rPr>
              <a:t> Stage-3, Event invite</a:t>
            </a:r>
            <a:r>
              <a:rPr lang="en-IN" sz="1400" dirty="0" smtClean="0">
                <a:latin typeface="Franklin Gothic Book" pitchFamily="34" charset="0"/>
              </a:rPr>
              <a:t> Event promotion was the last stage. The 3-day real estate fair was widely promoted across multiple channels, and exclusive event invites were sent out to the target group. SMS, emails and influencer-based promotions were also done to maximise the reach. This campaign had 5.3x engagements than the survey campaign.</a:t>
            </a:r>
          </a:p>
          <a:p>
            <a:pPr algn="just"/>
            <a:endParaRPr lang="en-IN" sz="1400" dirty="0" smtClean="0">
              <a:latin typeface="Franklin Gothic Book" pitchFamily="34" charset="0"/>
            </a:endParaRPr>
          </a:p>
          <a:p>
            <a:pPr algn="just"/>
            <a:r>
              <a:rPr lang="en-IN" sz="1400" dirty="0" smtClean="0">
                <a:latin typeface="Franklin Gothic Book" pitchFamily="34" charset="0"/>
              </a:rPr>
              <a:t> A landing page with complete details about the fair was created to which the ads were redirected upon clicks. The landing page also had lead forms inserted, which contributed to around 40% of the walk-ins. Only image and video ads were used in this campaign, and they were run on </a:t>
            </a:r>
            <a:r>
              <a:rPr lang="en-IN" sz="1400" dirty="0" err="1" smtClean="0">
                <a:latin typeface="Franklin Gothic Book" pitchFamily="34" charset="0"/>
              </a:rPr>
              <a:t>omnichannel</a:t>
            </a:r>
            <a:r>
              <a:rPr lang="en-IN" sz="1400" dirty="0" smtClean="0">
                <a:latin typeface="Franklin Gothic Book" pitchFamily="34" charset="0"/>
              </a:rPr>
              <a:t>. </a:t>
            </a:r>
          </a:p>
          <a:p>
            <a:pPr algn="just"/>
            <a:endParaRPr lang="en-IN" sz="1400" dirty="0" smtClean="0">
              <a:latin typeface="Franklin Gothic Book" pitchFamily="34" charset="0"/>
            </a:endParaRPr>
          </a:p>
          <a:p>
            <a:pPr algn="just"/>
            <a:r>
              <a:rPr lang="en-IN" sz="1400" dirty="0" smtClean="0">
                <a:latin typeface="Franklin Gothic Book" pitchFamily="34" charset="0"/>
              </a:rPr>
              <a:t>A booming 3.7M impression was created at just Rs 0.07 within the campaign length of 16 days. Around 1300+ online enquires were generated across the digital platform under 2 weeks. Also, the 1 </a:t>
            </a:r>
            <a:r>
              <a:rPr lang="en-IN" sz="1400" dirty="0" err="1" smtClean="0">
                <a:latin typeface="Franklin Gothic Book" pitchFamily="34" charset="0"/>
              </a:rPr>
              <a:t>Lakh</a:t>
            </a:r>
            <a:r>
              <a:rPr lang="en-IN" sz="1400" dirty="0" smtClean="0">
                <a:latin typeface="Franklin Gothic Book" pitchFamily="34" charset="0"/>
              </a:rPr>
              <a:t> engagements during the campaign resulted in a 30% rise in the number of walk-ins that year. </a:t>
            </a:r>
            <a:r>
              <a:rPr lang="en-IN" sz="1300" dirty="0" smtClean="0">
                <a:latin typeface="Franklin Gothic Book" pitchFamily="34" charset="0"/>
              </a:rPr>
              <a:t/>
            </a:r>
            <a:br>
              <a:rPr lang="en-IN" sz="1300" dirty="0" smtClean="0">
                <a:latin typeface="Franklin Gothic Book" pitchFamily="34" charset="0"/>
              </a:rPr>
            </a:br>
            <a:endParaRPr lang="en-IN" sz="1300" dirty="0">
              <a:latin typeface="Franklin Gothic Book" pitchFamily="34" charset="0"/>
            </a:endParaRPr>
          </a:p>
        </p:txBody>
      </p:sp>
      <p:pic>
        <p:nvPicPr>
          <p:cNvPr id="19" name="Picture 3" descr="C:\Users\sathis\Desktop\computer-notebook-laptop-working-wallpaper.jp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t="28161" b="56138"/>
          <a:stretch/>
        </p:blipFill>
        <p:spPr bwMode="auto">
          <a:xfrm>
            <a:off x="38555" y="5175445"/>
            <a:ext cx="12188825" cy="1276348"/>
          </a:xfrm>
          <a:prstGeom prst="rect">
            <a:avLst/>
          </a:prstGeom>
          <a:noFill/>
          <a:extLst>
            <a:ext uri="{909E8E84-426E-40DD-AFC4-6F175D3DCCD1}">
              <a14:hiddenFill xmlns:a14="http://schemas.microsoft.com/office/drawing/2010/main" xmlns="">
                <a:solidFill>
                  <a:srgbClr val="FFFFFF"/>
                </a:solidFill>
              </a14:hiddenFill>
            </a:ext>
          </a:extLst>
        </p:spPr>
      </p:pic>
      <p:sp>
        <p:nvSpPr>
          <p:cNvPr id="21" name="Rectangle 20"/>
          <p:cNvSpPr/>
          <p:nvPr/>
        </p:nvSpPr>
        <p:spPr>
          <a:xfrm>
            <a:off x="20865" y="5181551"/>
            <a:ext cx="12206515" cy="1270242"/>
          </a:xfrm>
          <a:prstGeom prst="rect">
            <a:avLst/>
          </a:prstGeom>
          <a:solidFill>
            <a:schemeClr val="accent2">
              <a:alpha val="88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i="1" dirty="0">
              <a:latin typeface="Franklin Gothic Book" pitchFamily="34" charset="0"/>
            </a:endParaRPr>
          </a:p>
        </p:txBody>
      </p:sp>
      <p:sp>
        <p:nvSpPr>
          <p:cNvPr id="23" name="TextBox 22">
            <a:extLst>
              <a:ext uri="{FF2B5EF4-FFF2-40B4-BE49-F238E27FC236}">
                <a16:creationId xmlns="" xmlns:a16="http://schemas.microsoft.com/office/drawing/2014/main" id="{8CDC4FC3-BCCA-49BB-97D6-6CA50D6A35D4}"/>
              </a:ext>
            </a:extLst>
          </p:cNvPr>
          <p:cNvSpPr txBox="1"/>
          <p:nvPr/>
        </p:nvSpPr>
        <p:spPr>
          <a:xfrm>
            <a:off x="325821" y="5414163"/>
            <a:ext cx="1888787"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30%</a:t>
            </a:r>
          </a:p>
          <a:p>
            <a:pPr algn="ctr"/>
            <a:r>
              <a:rPr lang="en-IN" b="1" dirty="0" smtClean="0">
                <a:solidFill>
                  <a:schemeClr val="bg1"/>
                </a:solidFill>
                <a:latin typeface="Franklin Gothic Book" pitchFamily="34" charset="0"/>
                <a:cs typeface="Arial" panose="020B0604020202020204" pitchFamily="34" charset="0"/>
              </a:rPr>
              <a:t>Increase in </a:t>
            </a:r>
            <a:r>
              <a:rPr lang="en-IN" b="1" dirty="0" err="1" smtClean="0">
                <a:solidFill>
                  <a:schemeClr val="bg1"/>
                </a:solidFill>
                <a:latin typeface="Franklin Gothic Book" pitchFamily="34" charset="0"/>
                <a:cs typeface="Arial" panose="020B0604020202020204" pitchFamily="34" charset="0"/>
              </a:rPr>
              <a:t>Walkins</a:t>
            </a:r>
            <a:endParaRPr lang="en-IN" b="1" dirty="0">
              <a:solidFill>
                <a:schemeClr val="bg1"/>
              </a:solidFill>
              <a:latin typeface="Franklin Gothic Book" pitchFamily="34" charset="0"/>
              <a:cs typeface="Arial" panose="020B0604020202020204" pitchFamily="34" charset="0"/>
            </a:endParaRPr>
          </a:p>
        </p:txBody>
      </p:sp>
      <p:sp>
        <p:nvSpPr>
          <p:cNvPr id="24" name="TextBox 23">
            <a:extLst>
              <a:ext uri="{FF2B5EF4-FFF2-40B4-BE49-F238E27FC236}">
                <a16:creationId xmlns="" xmlns:a16="http://schemas.microsoft.com/office/drawing/2014/main" id="{8CDC4FC3-BCCA-49BB-97D6-6CA50D6A35D4}"/>
              </a:ext>
            </a:extLst>
          </p:cNvPr>
          <p:cNvSpPr txBox="1"/>
          <p:nvPr/>
        </p:nvSpPr>
        <p:spPr>
          <a:xfrm>
            <a:off x="3609040" y="5414163"/>
            <a:ext cx="1354538"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3286+</a:t>
            </a:r>
          </a:p>
          <a:p>
            <a:pPr algn="ctr"/>
            <a:r>
              <a:rPr lang="en-IN" b="1" dirty="0" smtClean="0">
                <a:solidFill>
                  <a:schemeClr val="bg1"/>
                </a:solidFill>
                <a:latin typeface="Franklin Gothic Book" pitchFamily="34" charset="0"/>
                <a:cs typeface="Arial" panose="020B0604020202020204" pitchFamily="34" charset="0"/>
              </a:rPr>
              <a:t>Enquiry</a:t>
            </a:r>
            <a:endParaRPr lang="en-IN" b="1" dirty="0">
              <a:solidFill>
                <a:schemeClr val="bg1"/>
              </a:solidFill>
              <a:latin typeface="Franklin Gothic Book" pitchFamily="34" charset="0"/>
              <a:cs typeface="Arial" panose="020B0604020202020204" pitchFamily="34" charset="0"/>
            </a:endParaRPr>
          </a:p>
        </p:txBody>
      </p:sp>
      <p:sp>
        <p:nvSpPr>
          <p:cNvPr id="25" name="TextBox 24">
            <a:extLst>
              <a:ext uri="{FF2B5EF4-FFF2-40B4-BE49-F238E27FC236}">
                <a16:creationId xmlns="" xmlns:a16="http://schemas.microsoft.com/office/drawing/2014/main" id="{8CDC4FC3-BCCA-49BB-97D6-6CA50D6A35D4}"/>
              </a:ext>
            </a:extLst>
          </p:cNvPr>
          <p:cNvSpPr txBox="1"/>
          <p:nvPr/>
        </p:nvSpPr>
        <p:spPr>
          <a:xfrm>
            <a:off x="9438680" y="5414163"/>
            <a:ext cx="1850956"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15</a:t>
            </a:r>
          </a:p>
          <a:p>
            <a:pPr algn="ctr"/>
            <a:r>
              <a:rPr lang="en-IN" b="1" dirty="0" smtClean="0">
                <a:solidFill>
                  <a:schemeClr val="bg1"/>
                </a:solidFill>
                <a:latin typeface="Franklin Gothic Book" pitchFamily="34" charset="0"/>
                <a:cs typeface="Arial" panose="020B0604020202020204" pitchFamily="34" charset="0"/>
              </a:rPr>
              <a:t>Days as time taken</a:t>
            </a:r>
            <a:endParaRPr lang="en-IN" b="1" dirty="0">
              <a:solidFill>
                <a:schemeClr val="bg1"/>
              </a:solidFill>
              <a:latin typeface="Franklin Gothic Book" pitchFamily="34" charset="0"/>
              <a:cs typeface="Arial" panose="020B0604020202020204" pitchFamily="34" charset="0"/>
            </a:endParaRPr>
          </a:p>
        </p:txBody>
      </p:sp>
      <p:sp>
        <p:nvSpPr>
          <p:cNvPr id="26" name="TextBox 25">
            <a:extLst>
              <a:ext uri="{FF2B5EF4-FFF2-40B4-BE49-F238E27FC236}">
                <a16:creationId xmlns="" xmlns:a16="http://schemas.microsoft.com/office/drawing/2014/main" id="{8CDC4FC3-BCCA-49BB-97D6-6CA50D6A35D4}"/>
              </a:ext>
            </a:extLst>
          </p:cNvPr>
          <p:cNvSpPr txBox="1"/>
          <p:nvPr/>
        </p:nvSpPr>
        <p:spPr>
          <a:xfrm>
            <a:off x="6323775" y="5414163"/>
            <a:ext cx="1184171" cy="923330"/>
          </a:xfrm>
          <a:prstGeom prst="rect">
            <a:avLst/>
          </a:prstGeom>
          <a:noFill/>
        </p:spPr>
        <p:txBody>
          <a:bodyPr wrap="none" lIns="0" rIns="0" rtlCol="0">
            <a:spAutoFit/>
          </a:bodyPr>
          <a:lstStyle/>
          <a:p>
            <a:pPr algn="ctr"/>
            <a:r>
              <a:rPr lang="en-IN" sz="3600" b="1" dirty="0" smtClean="0">
                <a:solidFill>
                  <a:schemeClr val="bg1"/>
                </a:solidFill>
                <a:latin typeface="Franklin Gothic Book" pitchFamily="34" charset="0"/>
                <a:cs typeface="Arial" panose="020B0604020202020204" pitchFamily="34" charset="0"/>
              </a:rPr>
              <a:t>3.7M</a:t>
            </a:r>
          </a:p>
          <a:p>
            <a:pPr algn="ctr"/>
            <a:r>
              <a:rPr lang="en-IN" b="1" dirty="0" smtClean="0">
                <a:solidFill>
                  <a:schemeClr val="bg1"/>
                </a:solidFill>
                <a:latin typeface="Franklin Gothic Book" pitchFamily="34" charset="0"/>
                <a:cs typeface="Arial" panose="020B0604020202020204" pitchFamily="34" charset="0"/>
              </a:rPr>
              <a:t>Impressions</a:t>
            </a:r>
            <a:endParaRPr lang="en-IN" b="1" dirty="0">
              <a:solidFill>
                <a:schemeClr val="bg1"/>
              </a:solidFill>
              <a:latin typeface="Franklin Gothic Book" pitchFamily="34" charset="0"/>
              <a:cs typeface="Arial" panose="020B0604020202020204"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3412" y="2182901"/>
            <a:ext cx="12720918" cy="2492200"/>
          </a:xfrm>
          <a:prstGeom prst="rect">
            <a:avLst/>
          </a:prstGeom>
          <a:solidFill>
            <a:srgbClr val="F7761F"/>
          </a:solidFill>
          <a:ln w="76200" cmpd="sng">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 Placeholder 1"/>
          <p:cNvSpPr>
            <a:spLocks noGrp="1"/>
          </p:cNvSpPr>
          <p:nvPr>
            <p:ph type="body" sz="quarter" idx="11"/>
          </p:nvPr>
        </p:nvSpPr>
        <p:spPr>
          <a:xfrm>
            <a:off x="925287" y="2774071"/>
            <a:ext cx="1744133" cy="1163638"/>
          </a:xfrm>
        </p:spPr>
        <p:txBody>
          <a:bodyPr/>
          <a:lstStyle/>
          <a:p>
            <a:r>
              <a:rPr lang="en-US" dirty="0" smtClean="0">
                <a:latin typeface="Franklin Gothic Medium" charset="0"/>
                <a:ea typeface="Franklin Gothic Medium" charset="0"/>
                <a:cs typeface="Franklin Gothic Medium" charset="0"/>
              </a:rPr>
              <a:t>14</a:t>
            </a:r>
            <a:endParaRPr lang="en-US" dirty="0">
              <a:latin typeface="Franklin Gothic Medium" charset="0"/>
              <a:ea typeface="Franklin Gothic Medium" charset="0"/>
              <a:cs typeface="Franklin Gothic Medium" charset="0"/>
            </a:endParaRPr>
          </a:p>
        </p:txBody>
      </p:sp>
      <p:sp>
        <p:nvSpPr>
          <p:cNvPr id="3" name="Text Placeholder 2"/>
          <p:cNvSpPr>
            <a:spLocks noGrp="1"/>
          </p:cNvSpPr>
          <p:nvPr>
            <p:ph type="body" sz="quarter" idx="14"/>
          </p:nvPr>
        </p:nvSpPr>
        <p:spPr>
          <a:xfrm>
            <a:off x="2794926" y="2774071"/>
            <a:ext cx="9522580" cy="1163638"/>
          </a:xfrm>
        </p:spPr>
        <p:txBody>
          <a:bodyPr/>
          <a:lstStyle/>
          <a:p>
            <a:pPr indent="-228600">
              <a:lnSpc>
                <a:spcPct val="120000"/>
              </a:lnSpc>
              <a:spcAft>
                <a:spcPts val="600"/>
              </a:spcAft>
            </a:pPr>
            <a:r>
              <a:rPr lang="en-IN" sz="2800" b="1" dirty="0" smtClean="0">
                <a:latin typeface="Franklin Gothic Book" pitchFamily="34" charset="0"/>
                <a:cs typeface="Arial" panose="020B0604020202020204" pitchFamily="34" charset="0"/>
              </a:rPr>
              <a:t>B2B Lead Generation campaigns using LinkedIn Bots</a:t>
            </a:r>
          </a:p>
        </p:txBody>
      </p:sp>
    </p:spTree>
    <p:extLst>
      <p:ext uri="{BB962C8B-B14F-4D97-AF65-F5344CB8AC3E}">
        <p14:creationId xmlns:p14="http://schemas.microsoft.com/office/powerpoint/2010/main" xmlns="" val="200499625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99147"/>
            <a:ext cx="1443139" cy="244656"/>
          </a:xfrm>
          <a:prstGeom prst="rect">
            <a:avLst/>
          </a:prstGeom>
        </p:spPr>
      </p:pic>
      <p:pic>
        <p:nvPicPr>
          <p:cNvPr id="3" name="Picture 3" descr="C:\Users\sathis\Desktop\computer-notebook-laptop-working-wallpaper.jpg"/>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26" t="9608" b="74691"/>
          <a:stretch/>
        </p:blipFill>
        <p:spPr bwMode="auto">
          <a:xfrm>
            <a:off x="0" y="0"/>
            <a:ext cx="12192000" cy="127635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14515" y="2"/>
            <a:ext cx="12206515" cy="1276348"/>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i="1" dirty="0" smtClean="0">
                <a:latin typeface="Franklin Gothic Book" pitchFamily="34" charset="0"/>
              </a:rPr>
              <a:t>CASE STUDY 14: Usage of AI technology helped organization to increase up  to 1K business connections in LinkedIn from which  resulted in 14% conversion rate.</a:t>
            </a:r>
            <a:endParaRPr lang="en-US" sz="2400" b="1" i="1" dirty="0">
              <a:latin typeface="Franklin Gothic Book" pitchFamily="34" charset="0"/>
            </a:endParaRPr>
          </a:p>
        </p:txBody>
      </p:sp>
      <p:pic>
        <p:nvPicPr>
          <p:cNvPr id="5" name="Picture 2"/>
          <p:cNvPicPr>
            <a:picLocks noChangeAspect="1" noChangeArrowheads="1"/>
          </p:cNvPicPr>
          <p:nvPr/>
        </p:nvPicPr>
        <p:blipFill>
          <a:blip r:embed="rId4"/>
          <a:srcRect l="17619" t="20995" r="29469" b="47298"/>
          <a:stretch>
            <a:fillRect/>
          </a:stretch>
        </p:blipFill>
        <p:spPr bwMode="auto">
          <a:xfrm>
            <a:off x="5065485" y="1929011"/>
            <a:ext cx="6983862" cy="2354091"/>
          </a:xfrm>
          <a:prstGeom prst="rect">
            <a:avLst/>
          </a:prstGeom>
          <a:noFill/>
          <a:ln w="9525">
            <a:noFill/>
            <a:miter lim="800000"/>
            <a:headEnd/>
            <a:tailEnd/>
          </a:ln>
          <a:effectLst/>
        </p:spPr>
      </p:pic>
      <p:pic>
        <p:nvPicPr>
          <p:cNvPr id="6" name="Picture 2"/>
          <p:cNvPicPr>
            <a:picLocks noChangeAspect="1" noChangeArrowheads="1"/>
          </p:cNvPicPr>
          <p:nvPr/>
        </p:nvPicPr>
        <p:blipFill>
          <a:blip r:embed="rId4"/>
          <a:srcRect l="23618" t="53257" r="35272" b="27534"/>
          <a:stretch>
            <a:fillRect/>
          </a:stretch>
        </p:blipFill>
        <p:spPr bwMode="auto">
          <a:xfrm>
            <a:off x="5065485" y="4386303"/>
            <a:ext cx="6983862" cy="1835585"/>
          </a:xfrm>
          <a:prstGeom prst="rect">
            <a:avLst/>
          </a:prstGeom>
          <a:noFill/>
          <a:ln w="9525">
            <a:noFill/>
            <a:miter lim="800000"/>
            <a:headEnd/>
            <a:tailEnd/>
          </a:ln>
          <a:effectLst/>
        </p:spPr>
      </p:pic>
      <p:sp>
        <p:nvSpPr>
          <p:cNvPr id="7" name="Rectangle 6">
            <a:extLst>
              <a:ext uri="{FF2B5EF4-FFF2-40B4-BE49-F238E27FC236}">
                <a16:creationId xmlns:a16="http://schemas.microsoft.com/office/drawing/2014/main" xmlns="" id="{A922156B-D91A-EE48-BEC6-6019FB3B8413}"/>
              </a:ext>
            </a:extLst>
          </p:cNvPr>
          <p:cNvSpPr>
            <a:spLocks/>
          </p:cNvSpPr>
          <p:nvPr/>
        </p:nvSpPr>
        <p:spPr>
          <a:xfrm>
            <a:off x="5065485" y="1485222"/>
            <a:ext cx="698386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RESULTS ACHIEVED </a:t>
            </a:r>
            <a:endParaRPr lang="en-IN" sz="2000" b="1" spc="75" dirty="0">
              <a:solidFill>
                <a:schemeClr val="tx1"/>
              </a:solidFill>
              <a:effectLst/>
              <a:latin typeface="Franklin Gothic Book" pitchFamily="34" charset="0"/>
              <a:ea typeface="MS Gothic"/>
              <a:cs typeface="Arial" pitchFamily="34" charset="0"/>
            </a:endParaRPr>
          </a:p>
        </p:txBody>
      </p:sp>
      <p:sp>
        <p:nvSpPr>
          <p:cNvPr id="8" name="Rectangle 7">
            <a:extLst>
              <a:ext uri="{FF2B5EF4-FFF2-40B4-BE49-F238E27FC236}">
                <a16:creationId xmlns:a16="http://schemas.microsoft.com/office/drawing/2014/main" xmlns="" id="{A922156B-D91A-EE48-BEC6-6019FB3B8413}"/>
              </a:ext>
            </a:extLst>
          </p:cNvPr>
          <p:cNvSpPr>
            <a:spLocks/>
          </p:cNvSpPr>
          <p:nvPr/>
        </p:nvSpPr>
        <p:spPr>
          <a:xfrm>
            <a:off x="5065485" y="3968560"/>
            <a:ext cx="698386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TOOLS USED </a:t>
            </a:r>
            <a:endParaRPr lang="en-IN" sz="2000" b="1" spc="75" dirty="0">
              <a:solidFill>
                <a:schemeClr val="tx1"/>
              </a:solidFill>
              <a:effectLst/>
              <a:latin typeface="Franklin Gothic Book" pitchFamily="34" charset="0"/>
              <a:ea typeface="MS Gothic"/>
              <a:cs typeface="Arial" pitchFamily="34" charset="0"/>
            </a:endParaRPr>
          </a:p>
        </p:txBody>
      </p:sp>
      <p:sp>
        <p:nvSpPr>
          <p:cNvPr id="9" name="Rectangle 8"/>
          <p:cNvSpPr/>
          <p:nvPr/>
        </p:nvSpPr>
        <p:spPr>
          <a:xfrm>
            <a:off x="115277" y="1635928"/>
            <a:ext cx="4698024" cy="4708981"/>
          </a:xfrm>
          <a:prstGeom prst="rect">
            <a:avLst/>
          </a:prstGeom>
        </p:spPr>
        <p:txBody>
          <a:bodyPr wrap="square">
            <a:spAutoFit/>
          </a:bodyPr>
          <a:lstStyle/>
          <a:p>
            <a:pPr algn="just"/>
            <a:r>
              <a:rPr lang="en-IN" sz="2000" b="1" dirty="0" smtClean="0">
                <a:latin typeface="Franklin Gothic Book" pitchFamily="34" charset="0"/>
              </a:rPr>
              <a:t>CLIENT STORY:</a:t>
            </a:r>
          </a:p>
          <a:p>
            <a:pPr algn="just"/>
            <a:r>
              <a:rPr lang="en-IN" sz="2000" dirty="0" smtClean="0">
                <a:solidFill>
                  <a:schemeClr val="accent2"/>
                </a:solidFill>
                <a:latin typeface="Franklin Gothic Book" pitchFamily="34" charset="0"/>
              </a:rPr>
              <a:t/>
            </a:r>
            <a:br>
              <a:rPr lang="en-IN" sz="2000" dirty="0" smtClean="0">
                <a:solidFill>
                  <a:schemeClr val="accent2"/>
                </a:solidFill>
                <a:latin typeface="Franklin Gothic Book" pitchFamily="34" charset="0"/>
              </a:rPr>
            </a:br>
            <a:r>
              <a:rPr lang="en-IN" sz="2000" b="1" dirty="0" smtClean="0">
                <a:solidFill>
                  <a:schemeClr val="accent2"/>
                </a:solidFill>
                <a:latin typeface="Franklin Gothic Book" pitchFamily="34" charset="0"/>
              </a:rPr>
              <a:t>Industry: Manufacturing</a:t>
            </a:r>
          </a:p>
          <a:p>
            <a:pPr algn="just"/>
            <a:r>
              <a:rPr lang="en-IN" sz="2000" b="1" dirty="0" smtClean="0">
                <a:solidFill>
                  <a:schemeClr val="accent2"/>
                </a:solidFill>
                <a:latin typeface="Franklin Gothic Book" pitchFamily="34" charset="0"/>
              </a:rPr>
              <a:t>Turn over: 1200 </a:t>
            </a:r>
            <a:r>
              <a:rPr lang="en-IN" sz="2000" b="1" dirty="0" err="1" smtClean="0">
                <a:solidFill>
                  <a:schemeClr val="accent2"/>
                </a:solidFill>
                <a:latin typeface="Franklin Gothic Book" pitchFamily="34" charset="0"/>
              </a:rPr>
              <a:t>Crores</a:t>
            </a:r>
            <a:endParaRPr lang="en-IN" sz="2000" b="1" dirty="0" smtClean="0">
              <a:solidFill>
                <a:schemeClr val="accent2"/>
              </a:solidFill>
              <a:latin typeface="Franklin Gothic Book" pitchFamily="34" charset="0"/>
            </a:endParaRPr>
          </a:p>
          <a:p>
            <a:pPr algn="just"/>
            <a:endParaRPr lang="en-IN" sz="2000" b="1" dirty="0" smtClean="0">
              <a:latin typeface="Franklin Gothic Book" pitchFamily="34" charset="0"/>
            </a:endParaRPr>
          </a:p>
          <a:p>
            <a:r>
              <a:rPr lang="en-IN" sz="2000" dirty="0" smtClean="0">
                <a:latin typeface="Franklin Gothic Book" pitchFamily="34" charset="0"/>
              </a:rPr>
              <a:t>A multi-winged organization headquartered in the Manchester of South India manufactures and delivers perfectly engineered water pumping products to over 120 countries across the globe. With cutting-edge technology and state-of-the-art machinery, the client designs fluid management systems for residential, agricultural, industrial and commercial applications.</a:t>
            </a:r>
            <a:endParaRPr lang="en-IN" sz="2000" dirty="0">
              <a:latin typeface="Franklin Gothic Book" pitchFamily="34" charset="0"/>
            </a:endParaRPr>
          </a:p>
        </p:txBody>
      </p:sp>
      <p:cxnSp>
        <p:nvCxnSpPr>
          <p:cNvPr id="10" name="Straight Connector 9">
            <a:extLst>
              <a:ext uri="{FF2B5EF4-FFF2-40B4-BE49-F238E27FC236}">
                <a16:creationId xmlns="" xmlns:a16="http://schemas.microsoft.com/office/drawing/2014/main" id="{6BD05CA6-F403-49C9-A838-A3905BEB527A}"/>
              </a:ext>
            </a:extLst>
          </p:cNvPr>
          <p:cNvCxnSpPr/>
          <p:nvPr/>
        </p:nvCxnSpPr>
        <p:spPr>
          <a:xfrm rot="5400000">
            <a:off x="2524126" y="3692525"/>
            <a:ext cx="4679949"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A922156B-D91A-EE48-BEC6-6019FB3B8413}"/>
              </a:ext>
            </a:extLst>
          </p:cNvPr>
          <p:cNvSpPr>
            <a:spLocks/>
          </p:cNvSpPr>
          <p:nvPr/>
        </p:nvSpPr>
        <p:spPr>
          <a:xfrm>
            <a:off x="4864895" y="6033294"/>
            <a:ext cx="7184452" cy="417744"/>
          </a:xfrm>
          <a:prstGeom prst="rect">
            <a:avLst/>
          </a:prstGeom>
          <a:solidFill>
            <a:schemeClr val="accent2"/>
          </a:solidFill>
          <a:ln>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82880" tIns="45720" rIns="182880" bIns="45720" numCol="1" spcCol="0" rtlCol="0" fromWordArt="0" anchor="ctr" anchorCtr="0" forceAA="0" compatLnSpc="1">
            <a:prstTxWarp prst="textNoShape">
              <a:avLst/>
            </a:prstTxWarp>
            <a:noAutofit/>
          </a:bodyPr>
          <a:lstStyle/>
          <a:p>
            <a:pPr algn="ctr">
              <a:lnSpc>
                <a:spcPct val="115000"/>
              </a:lnSpc>
              <a:spcAft>
                <a:spcPts val="1000"/>
              </a:spcAft>
            </a:pPr>
            <a:r>
              <a:rPr lang="en-IN" sz="2000" b="1" spc="75" dirty="0" smtClean="0">
                <a:solidFill>
                  <a:schemeClr val="tx1"/>
                </a:solidFill>
                <a:latin typeface="Franklin Gothic Book" pitchFamily="34" charset="0"/>
                <a:ea typeface="MS Gothic"/>
                <a:cs typeface="Arial" pitchFamily="34" charset="0"/>
              </a:rPr>
              <a:t>DURATION – 2 MONTHS</a:t>
            </a:r>
            <a:endParaRPr lang="en-IN" sz="2000" b="1" spc="75" dirty="0">
              <a:solidFill>
                <a:schemeClr val="tx1"/>
              </a:solidFill>
              <a:effectLst/>
              <a:latin typeface="Franklin Gothic Book" pitchFamily="34" charset="0"/>
              <a:ea typeface="MS Gothic"/>
              <a:cs typeface="Arial"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tDBlogowhitebg.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48861" y="6584633"/>
            <a:ext cx="1443139" cy="244656"/>
          </a:xfrm>
          <a:prstGeom prst="rect">
            <a:avLst/>
          </a:prstGeom>
        </p:spPr>
      </p:pic>
      <p:pic>
        <p:nvPicPr>
          <p:cNvPr id="3074" name="Picture 2"/>
          <p:cNvPicPr>
            <a:picLocks noChangeAspect="1" noChangeArrowheads="1"/>
          </p:cNvPicPr>
          <p:nvPr/>
        </p:nvPicPr>
        <p:blipFill>
          <a:blip r:embed="rId3"/>
          <a:srcRect l="20667" t="36063" r="31714" b="15005"/>
          <a:stretch>
            <a:fillRect/>
          </a:stretch>
        </p:blipFill>
        <p:spPr bwMode="auto">
          <a:xfrm>
            <a:off x="1038799" y="846381"/>
            <a:ext cx="9927772" cy="5738251"/>
          </a:xfrm>
          <a:prstGeom prst="rect">
            <a:avLst/>
          </a:prstGeom>
          <a:noFill/>
          <a:ln w="9525">
            <a:noFill/>
            <a:miter lim="800000"/>
            <a:headEnd/>
            <a:tailEnd/>
          </a:ln>
          <a:effectLst/>
        </p:spPr>
      </p:pic>
      <p:sp>
        <p:nvSpPr>
          <p:cNvPr id="4" name="Rectangle 3"/>
          <p:cNvSpPr/>
          <p:nvPr/>
        </p:nvSpPr>
        <p:spPr>
          <a:xfrm>
            <a:off x="0" y="0"/>
            <a:ext cx="12192000" cy="566057"/>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smtClean="0">
                <a:latin typeface="Franklin Gothic Book" pitchFamily="34" charset="0"/>
              </a:rPr>
              <a:t>BOTS IN ACTION</a:t>
            </a:r>
            <a:endParaRPr lang="en-IN" sz="2800" b="1" dirty="0">
              <a:latin typeface="Franklin Gothic Book" pitchFamily="34" charset="0"/>
            </a:endParaRPr>
          </a:p>
        </p:txBody>
      </p:sp>
    </p:spTree>
    <p:extLst>
      <p:ext uri="{BB962C8B-B14F-4D97-AF65-F5344CB8AC3E}">
        <p14:creationId xmlns:p14="http://schemas.microsoft.com/office/powerpoint/2010/main" xmlns="" val="40301730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iStock_000009311809Large_BackgroundRemoval.png"/>
          <p:cNvPicPr>
            <a:picLocks noChangeAspect="1"/>
          </p:cNvPicPr>
          <p:nvPr/>
        </p:nvPicPr>
        <p:blipFill>
          <a:blip r:embed="rId2" cstate="email">
            <a:extLst>
              <a:ext uri="{28A0092B-C50C-407E-A947-70E740481C1C}">
                <a14:useLocalDpi xmlns:a14="http://schemas.microsoft.com/office/drawing/2010/main" xmlns=""/>
              </a:ext>
            </a:extLst>
          </a:blip>
          <a:stretch>
            <a:fillRect/>
          </a:stretch>
        </p:blipFill>
        <p:spPr>
          <a:xfrm>
            <a:off x="2832236" y="1624061"/>
            <a:ext cx="9359764" cy="6364337"/>
          </a:xfrm>
          <a:prstGeom prst="rect">
            <a:avLst/>
          </a:prstGeom>
        </p:spPr>
      </p:pic>
      <p:sp>
        <p:nvSpPr>
          <p:cNvPr id="19" name="TextBox 18"/>
          <p:cNvSpPr txBox="1"/>
          <p:nvPr/>
        </p:nvSpPr>
        <p:spPr>
          <a:xfrm>
            <a:off x="2092326" y="782139"/>
            <a:ext cx="8093075" cy="1015663"/>
          </a:xfrm>
          <a:prstGeom prst="rect">
            <a:avLst/>
          </a:prstGeom>
          <a:noFill/>
        </p:spPr>
        <p:txBody>
          <a:bodyPr wrap="square" rtlCol="0">
            <a:spAutoFit/>
          </a:bodyPr>
          <a:lstStyle/>
          <a:p>
            <a:pPr>
              <a:lnSpc>
                <a:spcPct val="80000"/>
              </a:lnSpc>
            </a:pPr>
            <a:r>
              <a:rPr lang="en-US" sz="7200" dirty="0">
                <a:solidFill>
                  <a:srgbClr val="414141"/>
                </a:solidFill>
                <a:latin typeface="Franklin Gothic Book" charset="0"/>
                <a:ea typeface="Franklin Gothic Book" charset="0"/>
                <a:cs typeface="Franklin Gothic Book" charset="0"/>
              </a:rPr>
              <a:t>Questions?</a:t>
            </a:r>
          </a:p>
        </p:txBody>
      </p:sp>
    </p:spTree>
    <p:extLst>
      <p:ext uri="{BB962C8B-B14F-4D97-AF65-F5344CB8AC3E}">
        <p14:creationId xmlns:p14="http://schemas.microsoft.com/office/powerpoint/2010/main" xmlns="" val="668847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5672</TotalTime>
  <Words>5067</Words>
  <Application>Microsoft Macintosh PowerPoint</Application>
  <PresentationFormat>Custom</PresentationFormat>
  <Paragraphs>434</Paragraphs>
  <Slides>44</Slides>
  <Notes>1</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OAP Training  Program on  Digital Marketing</dc:title>
  <dc:creator>Ashish Rohilla</dc:creator>
  <cp:lastModifiedBy>Admin</cp:lastModifiedBy>
  <cp:revision>183</cp:revision>
  <dcterms:created xsi:type="dcterms:W3CDTF">2018-12-14T12:42:09Z</dcterms:created>
  <dcterms:modified xsi:type="dcterms:W3CDTF">2021-03-17T11:51:47Z</dcterms:modified>
</cp:coreProperties>
</file>