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5"/>
  </p:notesMasterIdLst>
  <p:sldIdLst>
    <p:sldId id="1370" r:id="rId3"/>
    <p:sldId id="480" r:id="rId4"/>
    <p:sldId id="481" r:id="rId5"/>
    <p:sldId id="479" r:id="rId6"/>
    <p:sldId id="271" r:id="rId7"/>
    <p:sldId id="262" r:id="rId8"/>
    <p:sldId id="1354" r:id="rId9"/>
    <p:sldId id="303" r:id="rId10"/>
    <p:sldId id="1366" r:id="rId11"/>
    <p:sldId id="1371" r:id="rId12"/>
    <p:sldId id="1372" r:id="rId13"/>
    <p:sldId id="269" r:id="rId14"/>
    <p:sldId id="270" r:id="rId15"/>
    <p:sldId id="276" r:id="rId16"/>
    <p:sldId id="1367" r:id="rId17"/>
    <p:sldId id="259" r:id="rId18"/>
    <p:sldId id="476" r:id="rId19"/>
    <p:sldId id="477" r:id="rId20"/>
    <p:sldId id="478" r:id="rId21"/>
    <p:sldId id="461" r:id="rId22"/>
    <p:sldId id="457" r:id="rId23"/>
    <p:sldId id="28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D7E7C2-C475-2AB6-B8EC-2A108681D918}" v="3" dt="2026-06-30T11:09:36.1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48"/>
  </p:normalViewPr>
  <p:slideViewPr>
    <p:cSldViewPr snapToGrid="0">
      <p:cViewPr varScale="1">
        <p:scale>
          <a:sx n="117" d="100"/>
          <a:sy n="117" d="100"/>
        </p:scale>
        <p:origin x="176"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shanth S" userId="S::prashanth@digifyce.com::01550403-d621-448f-bf16-38df520d6ebc" providerId="AD" clId="Web-{CAD7E7C2-C475-2AB6-B8EC-2A108681D918}"/>
    <pc:docChg chg="modSld">
      <pc:chgData name="Prashanth S" userId="S::prashanth@digifyce.com::01550403-d621-448f-bf16-38df520d6ebc" providerId="AD" clId="Web-{CAD7E7C2-C475-2AB6-B8EC-2A108681D918}" dt="2026-06-30T11:09:36.122" v="2" actId="1076"/>
      <pc:docMkLst>
        <pc:docMk/>
      </pc:docMkLst>
      <pc:sldChg chg="modSp">
        <pc:chgData name="Prashanth S" userId="S::prashanth@digifyce.com::01550403-d621-448f-bf16-38df520d6ebc" providerId="AD" clId="Web-{CAD7E7C2-C475-2AB6-B8EC-2A108681D918}" dt="2026-06-30T11:09:36.122" v="2" actId="1076"/>
        <pc:sldMkLst>
          <pc:docMk/>
          <pc:sldMk cId="4131440553" sldId="457"/>
        </pc:sldMkLst>
        <pc:spChg chg="mod">
          <ac:chgData name="Prashanth S" userId="S::prashanth@digifyce.com::01550403-d621-448f-bf16-38df520d6ebc" providerId="AD" clId="Web-{CAD7E7C2-C475-2AB6-B8EC-2A108681D918}" dt="2026-06-30T11:09:36.122" v="2" actId="1076"/>
          <ac:spMkLst>
            <pc:docMk/>
            <pc:sldMk cId="4131440553" sldId="457"/>
            <ac:spMk id="2" creationId="{07BA9C46-B67C-39EB-EC88-61346AB55274}"/>
          </ac:spMkLst>
        </pc:spChg>
        <pc:cxnChg chg="mod">
          <ac:chgData name="Prashanth S" userId="S::prashanth@digifyce.com::01550403-d621-448f-bf16-38df520d6ebc" providerId="AD" clId="Web-{CAD7E7C2-C475-2AB6-B8EC-2A108681D918}" dt="2026-06-30T11:09:36.122" v="2" actId="1076"/>
          <ac:cxnSpMkLst>
            <pc:docMk/>
            <pc:sldMk cId="4131440553" sldId="457"/>
            <ac:cxnSpMk id="5" creationId="{3A541029-AFD3-305A-6D66-3EC831DD6777}"/>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6"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IN" sz="4400" b="0" strike="noStrike" spc="-1">
                <a:latin typeface="Arial"/>
              </a:rPr>
              <a:t>Click to move the slide</a:t>
            </a:r>
          </a:p>
        </p:txBody>
      </p:sp>
      <p:sp>
        <p:nvSpPr>
          <p:cNvPr id="7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r>
              <a:rPr lang="en-IN" sz="2000" b="0" strike="noStrike" spc="-1">
                <a:latin typeface="Arial"/>
              </a:rPr>
              <a:t>Click to edit the notes format</a:t>
            </a:r>
          </a:p>
        </p:txBody>
      </p:sp>
      <p:sp>
        <p:nvSpPr>
          <p:cNvPr id="7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r>
              <a:rPr lang="en-IN" sz="1400" b="0" strike="noStrike" spc="-1">
                <a:latin typeface="Times New Roman"/>
              </a:rPr>
              <a:t>&lt;header&gt;</a:t>
            </a:r>
          </a:p>
        </p:txBody>
      </p:sp>
      <p:sp>
        <p:nvSpPr>
          <p:cNvPr id="79" name="PlaceHolder 4"/>
          <p:cNvSpPr>
            <a:spLocks noGrp="1"/>
          </p:cNvSpPr>
          <p:nvPr>
            <p:ph type="dt"/>
          </p:nvPr>
        </p:nvSpPr>
        <p:spPr>
          <a:xfrm>
            <a:off x="4278960" y="0"/>
            <a:ext cx="3280680" cy="534240"/>
          </a:xfrm>
          <a:prstGeom prst="rect">
            <a:avLst/>
          </a:prstGeom>
          <a:noFill/>
          <a:ln w="0">
            <a:noFill/>
          </a:ln>
        </p:spPr>
        <p:txBody>
          <a:bodyPr lIns="0" tIns="0" rIns="0" bIns="0" anchor="t">
            <a:noAutofit/>
          </a:bodyPr>
          <a:lstStyle/>
          <a:p>
            <a:pPr algn="r"/>
            <a:r>
              <a:rPr lang="en-IN" sz="1400" b="0" strike="noStrike" spc="-1">
                <a:latin typeface="Times New Roman"/>
              </a:rPr>
              <a:t>&lt;date/time&gt;</a:t>
            </a:r>
          </a:p>
        </p:txBody>
      </p:sp>
      <p:sp>
        <p:nvSpPr>
          <p:cNvPr id="80" name="PlaceHolder 5"/>
          <p:cNvSpPr>
            <a:spLocks noGrp="1"/>
          </p:cNvSpPr>
          <p:nvPr>
            <p:ph type="ftr"/>
          </p:nvPr>
        </p:nvSpPr>
        <p:spPr>
          <a:xfrm>
            <a:off x="0" y="10157400"/>
            <a:ext cx="3280680" cy="534240"/>
          </a:xfrm>
          <a:prstGeom prst="rect">
            <a:avLst/>
          </a:prstGeom>
          <a:noFill/>
          <a:ln w="0">
            <a:noFill/>
          </a:ln>
        </p:spPr>
        <p:txBody>
          <a:bodyPr lIns="0" tIns="0" rIns="0" bIns="0" anchor="b">
            <a:noAutofit/>
          </a:bodyPr>
          <a:lstStyle/>
          <a:p>
            <a:r>
              <a:rPr lang="en-IN" sz="1400" b="0" strike="noStrike" spc="-1">
                <a:latin typeface="Times New Roman"/>
              </a:rPr>
              <a:t>&lt;footer&gt;</a:t>
            </a:r>
          </a:p>
        </p:txBody>
      </p:sp>
      <p:sp>
        <p:nvSpPr>
          <p:cNvPr id="81" name="PlaceHolder 6"/>
          <p:cNvSpPr>
            <a:spLocks noGrp="1"/>
          </p:cNvSpPr>
          <p:nvPr>
            <p:ph type="sldNum"/>
          </p:nvPr>
        </p:nvSpPr>
        <p:spPr>
          <a:xfrm>
            <a:off x="4278960" y="10157400"/>
            <a:ext cx="3280680" cy="534240"/>
          </a:xfrm>
          <a:prstGeom prst="rect">
            <a:avLst/>
          </a:prstGeom>
          <a:noFill/>
          <a:ln w="0">
            <a:noFill/>
          </a:ln>
        </p:spPr>
        <p:txBody>
          <a:bodyPr lIns="0" tIns="0" rIns="0" bIns="0" anchor="b">
            <a:noAutofit/>
          </a:bodyPr>
          <a:lstStyle/>
          <a:p>
            <a:pPr algn="r"/>
            <a:fld id="{36D6E032-CEAA-4C0B-A9F4-0C93B2C2356C}" type="slidenum">
              <a:rPr lang="en-IN" sz="1400" b="0" strike="noStrike" spc="-1">
                <a:latin typeface="Times New Roman"/>
              </a:rPr>
              <a:t>‹#›</a:t>
            </a:fld>
            <a:endParaRPr lang="en-IN"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af24537bf9_1_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6" name="Google Shape;186;g2af24537bf9_1_77:notes"/>
          <p:cNvSpPr txBox="1">
            <a:spLocks noGrp="1"/>
          </p:cNvSpPr>
          <p:nvPr>
            <p:ph type="body" idx="1"/>
          </p:nvPr>
        </p:nvSpPr>
        <p:spPr>
          <a:xfrm>
            <a:off x="685800" y="4400640"/>
            <a:ext cx="5485680" cy="3599640"/>
          </a:xfrm>
          <a:prstGeom prst="rect">
            <a:avLst/>
          </a:prstGeom>
          <a:noFill/>
          <a:ln>
            <a:noFill/>
          </a:ln>
        </p:spPr>
        <p:txBody>
          <a:bodyPr spcFirstLastPara="1" wrap="square" lIns="0" tIns="0" rIns="0" bIns="0" anchor="t" anchorCtr="0">
            <a:noAutofit/>
          </a:bodyPr>
          <a:lstStyle/>
          <a:p>
            <a:pPr marL="216000" lvl="0" indent="-215639" algn="l" rtl="0">
              <a:lnSpc>
                <a:spcPct val="100000"/>
              </a:lnSpc>
              <a:spcBef>
                <a:spcPts val="0"/>
              </a:spcBef>
              <a:spcAft>
                <a:spcPts val="0"/>
              </a:spcAft>
              <a:buNone/>
            </a:pPr>
            <a:r>
              <a:rPr lang="en" sz="2000" b="0" strike="noStrike">
                <a:latin typeface="Arial"/>
                <a:ea typeface="Arial"/>
                <a:cs typeface="Arial"/>
                <a:sym typeface="Arial"/>
              </a:rPr>
              <a:t>Introduce yourself to get things started.</a:t>
            </a:r>
            <a:endParaRPr sz="2000" b="0" strike="noStrike">
              <a:latin typeface="Arial"/>
              <a:ea typeface="Arial"/>
              <a:cs typeface="Arial"/>
              <a:sym typeface="Arial"/>
            </a:endParaRPr>
          </a:p>
        </p:txBody>
      </p:sp>
      <p:sp>
        <p:nvSpPr>
          <p:cNvPr id="187" name="Google Shape;187;g2af24537bf9_1_77:notes"/>
          <p:cNvSpPr/>
          <p:nvPr/>
        </p:nvSpPr>
        <p:spPr>
          <a:xfrm>
            <a:off x="3884760" y="8685360"/>
            <a:ext cx="2971080" cy="457920"/>
          </a:xfrm>
          <a:prstGeom prst="rect">
            <a:avLst/>
          </a:prstGeom>
          <a:noFill/>
          <a:ln>
            <a:noFill/>
          </a:ln>
        </p:spPr>
        <p:txBody>
          <a:bodyPr spcFirstLastPara="1" wrap="square" lIns="90000" tIns="45000" rIns="90000" bIns="450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af24537bf9_1_90: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2af24537bf9_1_90: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2743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af24537bf9_1_90: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2af24537bf9_1_90: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98377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2af24537bf9_1_90: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2af24537bf9_1_90: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62264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2b241187c14_0_55: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g2b241187c14_0_55: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0705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805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af24537bf9_1_136: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g2af24537bf9_1_136: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39123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65c6a0f227_0_0:notes"/>
          <p:cNvSpPr txBox="1">
            <a:spLocks noGrp="1"/>
          </p:cNvSpPr>
          <p:nvPr>
            <p:ph type="body" idx="1"/>
          </p:nvPr>
        </p:nvSpPr>
        <p:spPr>
          <a:xfrm>
            <a:off x="756000" y="5078520"/>
            <a:ext cx="6047700" cy="481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0" name="Google Shape;250;g265c6a0f227_0_0: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01623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2af24537bf9_1_369:notes"/>
          <p:cNvSpPr txBox="1">
            <a:spLocks noGrp="1"/>
          </p:cNvSpPr>
          <p:nvPr>
            <p:ph type="body" idx="1"/>
          </p:nvPr>
        </p:nvSpPr>
        <p:spPr>
          <a:xfrm>
            <a:off x="756000" y="5078520"/>
            <a:ext cx="6047640" cy="481104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3" name="Google Shape;483;g2af24537bf9_1_369:notes"/>
          <p:cNvSpPr>
            <a:spLocks noGrp="1" noRot="1" noChangeAspect="1"/>
          </p:cNvSpPr>
          <p:nvPr>
            <p:ph type="sldImg" idx="2"/>
          </p:nvPr>
        </p:nvSpPr>
        <p:spPr>
          <a:xfrm>
            <a:off x="217488" y="812800"/>
            <a:ext cx="7124700" cy="400843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3"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5"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7"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8"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12"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3"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4"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16"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18"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2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2"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24"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5"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27"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8"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29"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0"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32"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3"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4"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5"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6"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37"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41"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4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4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4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IN"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5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5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6"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5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5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0"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62"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3"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6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68"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endParaRPr lang="en-IN" sz="4400" b="0" strike="noStrike" spc="-1">
              <a:latin typeface="Arial"/>
            </a:endParaRPr>
          </a:p>
        </p:txBody>
      </p:sp>
      <p:sp>
        <p:nvSpPr>
          <p:cNvPr id="70"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1"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2"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3"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4"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
        <p:nvSpPr>
          <p:cNvPr id="75"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IN"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r>
              <a:rPr lang="en-IN" sz="4400" b="0" strike="noStrike" spc="-1">
                <a:latin typeface="Arial"/>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algn="ctr"/>
            <a:r>
              <a:rPr lang="en-IN" sz="4400" b="0" strike="noStrike" spc="-1">
                <a:latin typeface="Arial"/>
              </a:rPr>
              <a:t>Click to edit the title text format</a:t>
            </a:r>
          </a:p>
        </p:txBody>
      </p:sp>
      <p:sp>
        <p:nvSpPr>
          <p:cNvPr id="39"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latin typeface="Arial"/>
              </a:rPr>
              <a:t>Second Outline Level</a:t>
            </a:r>
          </a:p>
          <a:p>
            <a:pPr marL="1296000" lvl="2" indent="-288000">
              <a:spcBef>
                <a:spcPts val="850"/>
              </a:spcBef>
              <a:buClr>
                <a:srgbClr val="000000"/>
              </a:buClr>
              <a:buSzPct val="45000"/>
              <a:buFont typeface="Wingdings" charset="2"/>
              <a:buChar char=""/>
            </a:pPr>
            <a:r>
              <a:rPr lang="en-IN" sz="2400" b="0" strike="noStrike" spc="-1">
                <a:latin typeface="Arial"/>
              </a:rPr>
              <a:t>Third Outline Level</a:t>
            </a:r>
          </a:p>
          <a:p>
            <a:pPr marL="1728000" lvl="3" indent="-216000">
              <a:spcBef>
                <a:spcPts val="567"/>
              </a:spcBef>
              <a:buClr>
                <a:srgbClr val="000000"/>
              </a:buClr>
              <a:buSzPct val="75000"/>
              <a:buFont typeface="Symbol" charset="2"/>
              <a:buChar char=""/>
            </a:pPr>
            <a:r>
              <a:rPr lang="en-IN" sz="2000" b="0" strike="noStrike" spc="-1">
                <a:latin typeface="Arial"/>
              </a:rPr>
              <a:t>Fourth Outline Level</a:t>
            </a:r>
          </a:p>
          <a:p>
            <a:pPr marL="2160000" lvl="4" indent="-216000">
              <a:spcBef>
                <a:spcPts val="283"/>
              </a:spcBef>
              <a:buClr>
                <a:srgbClr val="000000"/>
              </a:buClr>
              <a:buSzPct val="45000"/>
              <a:buFont typeface="Wingdings" charset="2"/>
              <a:buChar char=""/>
            </a:pPr>
            <a:r>
              <a:rPr lang="en-IN" sz="2000" b="0" strike="noStrike" spc="-1">
                <a:latin typeface="Arial"/>
              </a:rPr>
              <a:t>Fifth Outline Level</a:t>
            </a:r>
          </a:p>
          <a:p>
            <a:pPr marL="2592000" lvl="5" indent="-216000">
              <a:spcBef>
                <a:spcPts val="283"/>
              </a:spcBef>
              <a:buClr>
                <a:srgbClr val="000000"/>
              </a:buClr>
              <a:buSzPct val="45000"/>
              <a:buFont typeface="Wingdings" charset="2"/>
              <a:buChar char=""/>
            </a:pPr>
            <a:r>
              <a:rPr lang="en-IN" sz="2000" b="0" strike="noStrike" spc="-1">
                <a:latin typeface="Arial"/>
              </a:rPr>
              <a:t>Sixth Outline Level</a:t>
            </a:r>
          </a:p>
          <a:p>
            <a:pPr marL="3024000" lvl="6" indent="-216000">
              <a:spcBef>
                <a:spcPts val="283"/>
              </a:spcBef>
              <a:buClr>
                <a:srgbClr val="000000"/>
              </a:buClr>
              <a:buSzPct val="45000"/>
              <a:buFont typeface="Wingdings" charset="2"/>
              <a:buChar char=""/>
            </a:pPr>
            <a:r>
              <a:rPr lang="en-IN"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jpeg"/><Relationship Id="rId5" Type="http://schemas.openxmlformats.org/officeDocument/2006/relationships/image" Target="../media/image4.jpe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8" Type="http://schemas.openxmlformats.org/officeDocument/2006/relationships/image" Target="../media/image9.jpg"/><Relationship Id="rId13" Type="http://schemas.openxmlformats.org/officeDocument/2006/relationships/image" Target="../media/image14.jpeg"/><Relationship Id="rId18" Type="http://schemas.openxmlformats.org/officeDocument/2006/relationships/image" Target="../media/image18.png"/><Relationship Id="rId3" Type="http://schemas.openxmlformats.org/officeDocument/2006/relationships/image" Target="../media/image5.png"/><Relationship Id="rId7" Type="http://schemas.openxmlformats.org/officeDocument/2006/relationships/image" Target="../media/image8.png"/><Relationship Id="rId12" Type="http://schemas.openxmlformats.org/officeDocument/2006/relationships/image" Target="../media/image13.jpeg"/><Relationship Id="rId17" Type="http://schemas.openxmlformats.org/officeDocument/2006/relationships/image" Target="../media/image17.png"/><Relationship Id="rId2" Type="http://schemas.openxmlformats.org/officeDocument/2006/relationships/notesSlide" Target="../notesSlides/notesSlide3.xml"/><Relationship Id="rId16" Type="http://schemas.openxmlformats.org/officeDocument/2006/relationships/image" Target="../media/image16.jpeg"/><Relationship Id="rId1" Type="http://schemas.openxmlformats.org/officeDocument/2006/relationships/slideLayout" Target="../slideLayouts/slideLayout1.xml"/><Relationship Id="rId6" Type="http://schemas.openxmlformats.org/officeDocument/2006/relationships/image" Target="../media/image7.jp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5.png"/><Relationship Id="rId10" Type="http://schemas.openxmlformats.org/officeDocument/2006/relationships/image" Target="../media/image11.png"/><Relationship Id="rId19" Type="http://schemas.openxmlformats.org/officeDocument/2006/relationships/image" Target="../media/image19.png"/><Relationship Id="rId4" Type="http://schemas.openxmlformats.org/officeDocument/2006/relationships/hyperlink" Target="https://www.pa.gov.sg/" TargetMode="External"/><Relationship Id="rId9" Type="http://schemas.openxmlformats.org/officeDocument/2006/relationships/image" Target="../media/image10.jpeg"/><Relationship Id="rId1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jp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4.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1.jpeg"/><Relationship Id="rId4" Type="http://schemas.openxmlformats.org/officeDocument/2006/relationships/image" Target="../media/image26.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8.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3.xml"/><Relationship Id="rId5" Type="http://schemas.openxmlformats.org/officeDocument/2006/relationships/image" Target="../media/image1.jpeg"/><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hyperlink" Target="mailto:ragav@digifyce.com"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1.jpeg"/><Relationship Id="rId5" Type="http://schemas.openxmlformats.org/officeDocument/2006/relationships/hyperlink" Target="mailto:rajkumar@digifyce.com" TargetMode="External"/><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40"/>
          <p:cNvSpPr/>
          <p:nvPr/>
        </p:nvSpPr>
        <p:spPr>
          <a:xfrm>
            <a:off x="0" y="0"/>
            <a:ext cx="12192000" cy="6858000"/>
          </a:xfrm>
          <a:prstGeom prst="rect">
            <a:avLst/>
          </a:prstGeom>
          <a:solidFill>
            <a:schemeClr val="lt1"/>
          </a:solidFill>
          <a:ln>
            <a:noFill/>
          </a:ln>
        </p:spPr>
        <p:txBody>
          <a:bodyPr spcFirstLastPara="1" wrap="square" lIns="91433" tIns="45700" rIns="91433" bIns="45700" anchor="ctr" anchorCtr="0">
            <a:noAutofit/>
          </a:bodyPr>
          <a:lstStyle/>
          <a:p>
            <a:pPr algn="ctr"/>
            <a:endParaRPr sz="1867">
              <a:solidFill>
                <a:schemeClr val="lt1"/>
              </a:solidFill>
              <a:latin typeface="Calibri"/>
              <a:ea typeface="Calibri"/>
              <a:cs typeface="Calibri"/>
              <a:sym typeface="Calibri"/>
            </a:endParaRPr>
          </a:p>
        </p:txBody>
      </p:sp>
      <p:sp>
        <p:nvSpPr>
          <p:cNvPr id="190" name="Google Shape;190;p40"/>
          <p:cNvSpPr/>
          <p:nvPr/>
        </p:nvSpPr>
        <p:spPr>
          <a:xfrm>
            <a:off x="1" y="0"/>
            <a:ext cx="6346370" cy="6858000"/>
          </a:xfrm>
          <a:custGeom>
            <a:avLst/>
            <a:gdLst/>
            <a:ahLst/>
            <a:cxnLst/>
            <a:rect l="l" t="t" r="r" b="b"/>
            <a:pathLst>
              <a:path w="6096000" h="6858000" extrusionOk="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4901"/>
            </a:srgbClr>
          </a:solidFill>
          <a:ln>
            <a:noFill/>
          </a:ln>
        </p:spPr>
        <p:txBody>
          <a:bodyPr spcFirstLastPara="1" wrap="square" lIns="91433" tIns="45700" rIns="91433" bIns="45700" anchor="ctr" anchorCtr="0">
            <a:noAutofit/>
          </a:bodyPr>
          <a:lstStyle/>
          <a:p>
            <a:pPr algn="ctr"/>
            <a:endParaRPr sz="1867">
              <a:solidFill>
                <a:schemeClr val="lt1"/>
              </a:solidFill>
              <a:latin typeface="Calibri"/>
              <a:ea typeface="Calibri"/>
              <a:cs typeface="Calibri"/>
              <a:sym typeface="Calibri"/>
            </a:endParaRPr>
          </a:p>
        </p:txBody>
      </p:sp>
      <p:sp>
        <p:nvSpPr>
          <p:cNvPr id="191" name="Google Shape;191;p40"/>
          <p:cNvSpPr/>
          <p:nvPr/>
        </p:nvSpPr>
        <p:spPr>
          <a:xfrm>
            <a:off x="6716786" y="1269513"/>
            <a:ext cx="4127540" cy="1330839"/>
          </a:xfrm>
          <a:prstGeom prst="rect">
            <a:avLst/>
          </a:prstGeom>
          <a:noFill/>
          <a:ln>
            <a:noFill/>
          </a:ln>
        </p:spPr>
        <p:txBody>
          <a:bodyPr spcFirstLastPara="1" wrap="square" lIns="91433" tIns="45700" rIns="91433" bIns="45700" anchor="ctr" anchorCtr="0">
            <a:noAutofit/>
          </a:bodyPr>
          <a:lstStyle/>
          <a:p>
            <a:pPr algn="ctr">
              <a:lnSpc>
                <a:spcPct val="90000"/>
              </a:lnSpc>
            </a:pPr>
            <a:r>
              <a:rPr lang="en" sz="2400" dirty="0">
                <a:solidFill>
                  <a:srgbClr val="3F3F3F"/>
                </a:solidFill>
                <a:latin typeface="Libre Franklin Medium"/>
                <a:ea typeface="Libre Franklin Medium"/>
                <a:cs typeface="Libre Franklin Medium"/>
                <a:sym typeface="Libre Franklin Medium"/>
              </a:rPr>
              <a:t>NURTURING ORGANIZATIONS TO THRIVE DIGITALLY</a:t>
            </a:r>
            <a:endParaRPr sz="2400" b="1" dirty="0">
              <a:solidFill>
                <a:srgbClr val="3F3F3F"/>
              </a:solidFill>
              <a:latin typeface="Libre Franklin Medium"/>
              <a:ea typeface="Libre Franklin Medium"/>
              <a:cs typeface="Libre Franklin Medium"/>
              <a:sym typeface="Libre Franklin Medium"/>
            </a:endParaRPr>
          </a:p>
        </p:txBody>
      </p:sp>
      <p:sp>
        <p:nvSpPr>
          <p:cNvPr id="192" name="Google Shape;192;p40"/>
          <p:cNvSpPr/>
          <p:nvPr/>
        </p:nvSpPr>
        <p:spPr>
          <a:xfrm>
            <a:off x="217714" y="2501828"/>
            <a:ext cx="4663395" cy="1203732"/>
          </a:xfrm>
          <a:prstGeom prst="rect">
            <a:avLst/>
          </a:prstGeom>
          <a:noFill/>
          <a:ln>
            <a:noFill/>
          </a:ln>
        </p:spPr>
        <p:txBody>
          <a:bodyPr spcFirstLastPara="1" wrap="square" lIns="67500" tIns="33767" rIns="67500" bIns="33767" anchor="t" anchorCtr="0">
            <a:noAutofit/>
          </a:bodyPr>
          <a:lstStyle/>
          <a:p>
            <a:pPr algn="ctr">
              <a:lnSpc>
                <a:spcPct val="90000"/>
              </a:lnSpc>
            </a:pPr>
            <a:r>
              <a:rPr lang="en" sz="2400" b="1" dirty="0">
                <a:solidFill>
                  <a:srgbClr val="3F3F3F"/>
                </a:solidFill>
                <a:latin typeface="Libre Franklin Medium"/>
                <a:ea typeface="Libre Franklin Medium"/>
                <a:cs typeface="Libre Franklin Medium"/>
                <a:sym typeface="Libre Franklin Medium"/>
              </a:rPr>
              <a:t>POA &amp; PROPOSAL FOR PADMVATI CONSTRUCTION</a:t>
            </a:r>
            <a:endParaRPr sz="4400" b="1" dirty="0">
              <a:solidFill>
                <a:srgbClr val="3F3F3F"/>
              </a:solidFill>
              <a:latin typeface="Libre Franklin Medium"/>
              <a:ea typeface="Libre Franklin Medium"/>
              <a:cs typeface="Libre Franklin Medium"/>
              <a:sym typeface="Libre Franklin Medium"/>
            </a:endParaRPr>
          </a:p>
        </p:txBody>
      </p:sp>
      <p:sp>
        <p:nvSpPr>
          <p:cNvPr id="193" name="Google Shape;193;p40"/>
          <p:cNvSpPr/>
          <p:nvPr/>
        </p:nvSpPr>
        <p:spPr>
          <a:xfrm>
            <a:off x="1293729" y="3497341"/>
            <a:ext cx="1990084" cy="640168"/>
          </a:xfrm>
          <a:prstGeom prst="rect">
            <a:avLst/>
          </a:prstGeom>
          <a:noFill/>
          <a:ln>
            <a:noFill/>
          </a:ln>
        </p:spPr>
        <p:txBody>
          <a:bodyPr spcFirstLastPara="1" wrap="square" lIns="67500" tIns="33767" rIns="67500" bIns="33767" anchor="t" anchorCtr="0">
            <a:noAutofit/>
          </a:bodyPr>
          <a:lstStyle/>
          <a:p>
            <a:pPr algn="ctr">
              <a:lnSpc>
                <a:spcPct val="90000"/>
              </a:lnSpc>
            </a:pPr>
            <a:endParaRPr sz="2400" b="1" dirty="0">
              <a:solidFill>
                <a:srgbClr val="3F3F3F"/>
              </a:solidFill>
              <a:latin typeface="Libre Franklin"/>
              <a:ea typeface="Libre Franklin"/>
              <a:cs typeface="Libre Franklin"/>
              <a:sym typeface="Libre Franklin"/>
            </a:endParaRPr>
          </a:p>
          <a:p>
            <a:pPr algn="ctr">
              <a:lnSpc>
                <a:spcPct val="90000"/>
              </a:lnSpc>
            </a:pPr>
            <a:r>
              <a:rPr lang="en" sz="1867" b="1" dirty="0">
                <a:solidFill>
                  <a:srgbClr val="3F3F3F"/>
                </a:solidFill>
                <a:latin typeface="Libre Franklin"/>
                <a:ea typeface="Libre Franklin"/>
                <a:cs typeface="Libre Franklin"/>
                <a:sym typeface="Libre Franklin"/>
              </a:rPr>
              <a:t>#Strategy</a:t>
            </a:r>
            <a:endParaRPr sz="1467" dirty="0"/>
          </a:p>
          <a:p>
            <a:pPr algn="ctr">
              <a:lnSpc>
                <a:spcPct val="90000"/>
              </a:lnSpc>
              <a:spcBef>
                <a:spcPts val="400"/>
              </a:spcBef>
            </a:pPr>
            <a:r>
              <a:rPr lang="en" sz="1867" b="1" dirty="0">
                <a:solidFill>
                  <a:srgbClr val="3F3F3F"/>
                </a:solidFill>
                <a:latin typeface="Libre Franklin"/>
                <a:ea typeface="Libre Franklin"/>
                <a:cs typeface="Libre Franklin"/>
                <a:sym typeface="Libre Franklin"/>
              </a:rPr>
              <a:t>#Digital</a:t>
            </a:r>
            <a:endParaRPr sz="1467" dirty="0"/>
          </a:p>
          <a:p>
            <a:pPr algn="ctr">
              <a:lnSpc>
                <a:spcPct val="90000"/>
              </a:lnSpc>
              <a:spcBef>
                <a:spcPts val="400"/>
              </a:spcBef>
            </a:pPr>
            <a:r>
              <a:rPr lang="en" sz="1867" b="1" dirty="0">
                <a:solidFill>
                  <a:srgbClr val="3F3F3F"/>
                </a:solidFill>
                <a:latin typeface="Libre Franklin"/>
                <a:ea typeface="Libre Franklin"/>
                <a:cs typeface="Libre Franklin"/>
                <a:sym typeface="Libre Franklin"/>
              </a:rPr>
              <a:t>#</a:t>
            </a:r>
            <a:r>
              <a:rPr lang="en" sz="1867" b="1" dirty="0" err="1">
                <a:solidFill>
                  <a:srgbClr val="3F3F3F"/>
                </a:solidFill>
                <a:latin typeface="Libre Franklin"/>
                <a:ea typeface="Libre Franklin"/>
                <a:cs typeface="Libre Franklin"/>
                <a:sym typeface="Libre Franklin"/>
              </a:rPr>
              <a:t>MarTech</a:t>
            </a:r>
            <a:endParaRPr sz="3600" b="1" dirty="0">
              <a:solidFill>
                <a:srgbClr val="3F3F3F"/>
              </a:solidFill>
              <a:latin typeface="Libre Franklin"/>
              <a:ea typeface="Libre Franklin"/>
              <a:cs typeface="Libre Franklin"/>
              <a:sym typeface="Libre Franklin"/>
            </a:endParaRPr>
          </a:p>
        </p:txBody>
      </p:sp>
      <p:sp>
        <p:nvSpPr>
          <p:cNvPr id="194" name="Google Shape;194;p40"/>
          <p:cNvSpPr/>
          <p:nvPr/>
        </p:nvSpPr>
        <p:spPr>
          <a:xfrm>
            <a:off x="0" y="6531539"/>
            <a:ext cx="12192000" cy="326461"/>
          </a:xfrm>
          <a:prstGeom prst="rect">
            <a:avLst/>
          </a:prstGeom>
          <a:solidFill>
            <a:srgbClr val="8DA9DB"/>
          </a:solidFill>
          <a:ln>
            <a:noFill/>
          </a:ln>
        </p:spPr>
        <p:txBody>
          <a:bodyPr spcFirstLastPara="1" wrap="square" lIns="91433" tIns="45700" rIns="91433" bIns="45700" anchor="ctr" anchorCtr="0">
            <a:noAutofit/>
          </a:bodyPr>
          <a:lstStyle/>
          <a:p>
            <a:pPr algn="ctr"/>
            <a:r>
              <a:rPr lang="en" sz="1067" b="1" dirty="0">
                <a:solidFill>
                  <a:schemeClr val="dk1"/>
                </a:solidFill>
                <a:latin typeface="Libre Franklin"/>
                <a:ea typeface="Libre Franklin"/>
                <a:cs typeface="Libre Franklin"/>
                <a:sym typeface="Libre Franklin"/>
              </a:rPr>
              <a:t>Confidential @ </a:t>
            </a:r>
            <a:r>
              <a:rPr lang="en" sz="1067" b="1" dirty="0" err="1">
                <a:solidFill>
                  <a:schemeClr val="dk1"/>
                </a:solidFill>
                <a:latin typeface="Libre Franklin"/>
                <a:ea typeface="Libre Franklin"/>
                <a:cs typeface="Libre Franklin"/>
                <a:sym typeface="Libre Franklin"/>
              </a:rPr>
              <a:t>Digifyce</a:t>
            </a:r>
            <a:endParaRPr sz="2400" b="1" dirty="0">
              <a:solidFill>
                <a:schemeClr val="dk1"/>
              </a:solidFill>
              <a:latin typeface="Libre Franklin"/>
              <a:ea typeface="Libre Franklin"/>
              <a:cs typeface="Libre Franklin"/>
              <a:sym typeface="Libre Franklin"/>
            </a:endParaRPr>
          </a:p>
        </p:txBody>
      </p:sp>
      <p:sp>
        <p:nvSpPr>
          <p:cNvPr id="196" name="Google Shape;196;p40"/>
          <p:cNvSpPr/>
          <p:nvPr/>
        </p:nvSpPr>
        <p:spPr>
          <a:xfrm>
            <a:off x="7330387" y="4842933"/>
            <a:ext cx="4127540" cy="1203732"/>
          </a:xfrm>
          <a:prstGeom prst="rect">
            <a:avLst/>
          </a:prstGeom>
          <a:noFill/>
          <a:ln>
            <a:noFill/>
          </a:ln>
        </p:spPr>
        <p:txBody>
          <a:bodyPr spcFirstLastPara="1" wrap="square" lIns="67500" tIns="33767" rIns="67500" bIns="33767" anchor="t" anchorCtr="0">
            <a:noAutofit/>
          </a:bodyPr>
          <a:lstStyle/>
          <a:p>
            <a:r>
              <a:rPr lang="en" sz="1867">
                <a:solidFill>
                  <a:srgbClr val="3F3F3F"/>
                </a:solidFill>
                <a:latin typeface="Libre Franklin Medium"/>
                <a:ea typeface="Libre Franklin Medium"/>
                <a:cs typeface="Libre Franklin Medium"/>
                <a:sym typeface="Libre Franklin Medium"/>
              </a:rPr>
              <a:t>We Formulate Digital Identities</a:t>
            </a:r>
            <a:endParaRPr sz="1867" b="1">
              <a:solidFill>
                <a:srgbClr val="3F3F3F"/>
              </a:solidFill>
              <a:latin typeface="Libre Franklin Medium"/>
              <a:ea typeface="Libre Franklin Medium"/>
              <a:cs typeface="Libre Franklin Medium"/>
              <a:sym typeface="Libre Franklin Medium"/>
            </a:endParaRPr>
          </a:p>
        </p:txBody>
      </p:sp>
      <p:pic>
        <p:nvPicPr>
          <p:cNvPr id="3" name="Picture 2" descr="A logo with a blue arrow pointing up&#10;&#10;Description automatically generated">
            <a:extLst>
              <a:ext uri="{FF2B5EF4-FFF2-40B4-BE49-F238E27FC236}">
                <a16:creationId xmlns:a16="http://schemas.microsoft.com/office/drawing/2014/main" id="{44B50CAF-4F92-D46D-F7DD-B5050BFF704F}"/>
              </a:ext>
            </a:extLst>
          </p:cNvPr>
          <p:cNvPicPr>
            <a:picLocks noChangeAspect="1"/>
          </p:cNvPicPr>
          <p:nvPr/>
        </p:nvPicPr>
        <p:blipFill>
          <a:blip r:embed="rId3"/>
          <a:stretch>
            <a:fillRect/>
          </a:stretch>
        </p:blipFill>
        <p:spPr>
          <a:xfrm>
            <a:off x="7822163" y="2609126"/>
            <a:ext cx="2201112" cy="21928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2" name="Google Shape;202;p41"/>
          <p:cNvSpPr/>
          <p:nvPr/>
        </p:nvSpPr>
        <p:spPr>
          <a:xfrm>
            <a:off x="3231296" y="196183"/>
            <a:ext cx="6503961" cy="444823"/>
          </a:xfrm>
          <a:prstGeom prst="rect">
            <a:avLst/>
          </a:prstGeom>
          <a:noFill/>
          <a:ln>
            <a:noFill/>
          </a:ln>
        </p:spPr>
        <p:txBody>
          <a:bodyPr spcFirstLastPara="1" wrap="square" lIns="90000" tIns="45000" rIns="90000" bIns="45000" anchor="t" anchorCtr="0">
            <a:noAutofit/>
          </a:bodyPr>
          <a:lstStyle/>
          <a:p>
            <a:r>
              <a:rPr lang="en-IN" sz="2667" b="1" dirty="0" err="1">
                <a:solidFill>
                  <a:schemeClr val="accent1">
                    <a:lumMod val="60000"/>
                    <a:lumOff val="40000"/>
                  </a:schemeClr>
                </a:solidFill>
                <a:latin typeface="Montserrat" pitchFamily="2" charset="77"/>
                <a:ea typeface="Libre Franklin"/>
                <a:cs typeface="Libre Franklin"/>
                <a:sym typeface="Libre Franklin"/>
              </a:rPr>
              <a:t>Digifyce</a:t>
            </a:r>
            <a:r>
              <a:rPr lang="en" sz="2267" b="1" dirty="0">
                <a:solidFill>
                  <a:srgbClr val="262626"/>
                </a:solidFill>
                <a:latin typeface="Montserrat" pitchFamily="2" charset="77"/>
                <a:ea typeface="Libre Franklin"/>
                <a:cs typeface="Libre Franklin"/>
                <a:sym typeface="Libre Franklin"/>
              </a:rPr>
              <a:t>, We formulate Digital Identities</a:t>
            </a:r>
            <a:endParaRPr sz="2267" dirty="0">
              <a:solidFill>
                <a:srgbClr val="262626"/>
              </a:solidFill>
              <a:latin typeface="Montserrat" pitchFamily="2" charset="77"/>
              <a:ea typeface="Libre Franklin"/>
              <a:cs typeface="Libre Franklin"/>
              <a:sym typeface="Libre Franklin"/>
            </a:endParaRPr>
          </a:p>
        </p:txBody>
      </p:sp>
      <p:sp>
        <p:nvSpPr>
          <p:cNvPr id="203" name="Google Shape;203;p41"/>
          <p:cNvSpPr/>
          <p:nvPr/>
        </p:nvSpPr>
        <p:spPr>
          <a:xfrm>
            <a:off x="0" y="6597749"/>
            <a:ext cx="12192000" cy="260252"/>
          </a:xfrm>
          <a:prstGeom prst="rect">
            <a:avLst/>
          </a:prstGeom>
          <a:solidFill>
            <a:srgbClr val="8DA9DB"/>
          </a:solidFill>
          <a:ln>
            <a:noFill/>
          </a:ln>
        </p:spPr>
        <p:txBody>
          <a:bodyPr spcFirstLastPara="1" wrap="square" lIns="91433" tIns="45700" rIns="91433" bIns="45700" anchor="ctr" anchorCtr="0">
            <a:noAutofit/>
          </a:bodyPr>
          <a:lstStyle/>
          <a:p>
            <a:pPr algn="ctr">
              <a:buClr>
                <a:schemeClr val="dk1"/>
              </a:buClr>
              <a:buSzPts val="900"/>
            </a:pPr>
            <a:r>
              <a:rPr lang="en" sz="1200" b="1" dirty="0">
                <a:solidFill>
                  <a:schemeClr val="dk1"/>
                </a:solidFill>
                <a:latin typeface="Montserrat" pitchFamily="2" charset="77"/>
                <a:ea typeface="Libre Franklin"/>
                <a:cs typeface="Libre Franklin"/>
                <a:sym typeface="Libre Franklin"/>
              </a:rPr>
              <a:t>Confidential @ </a:t>
            </a:r>
            <a:r>
              <a:rPr lang="en-IN" sz="1200" b="1" dirty="0" err="1">
                <a:solidFill>
                  <a:schemeClr val="dk1"/>
                </a:solidFill>
                <a:latin typeface="Montserrat" pitchFamily="2" charset="77"/>
                <a:ea typeface="Libre Franklin"/>
                <a:cs typeface="Libre Franklin"/>
                <a:sym typeface="Libre Franklin"/>
              </a:rPr>
              <a:t>Digifyce</a:t>
            </a:r>
            <a:endParaRPr sz="1200" b="1" dirty="0">
              <a:solidFill>
                <a:schemeClr val="dk1"/>
              </a:solidFill>
              <a:latin typeface="Montserrat" pitchFamily="2" charset="77"/>
              <a:ea typeface="Libre Franklin"/>
              <a:cs typeface="Libre Franklin"/>
              <a:sym typeface="Libre Franklin"/>
            </a:endParaRPr>
          </a:p>
        </p:txBody>
      </p:sp>
      <p:sp>
        <p:nvSpPr>
          <p:cNvPr id="11" name="AutoShape 18">
            <a:extLst>
              <a:ext uri="{FF2B5EF4-FFF2-40B4-BE49-F238E27FC236}">
                <a16:creationId xmlns:a16="http://schemas.microsoft.com/office/drawing/2014/main" id="{945C5E2C-5C8C-B3E1-41F6-1B3150872B06}"/>
              </a:ext>
            </a:extLst>
          </p:cNvPr>
          <p:cNvSpPr>
            <a:spLocks noChangeAspect="1" noChangeArrowheads="1"/>
          </p:cNvSpPr>
          <p:nvPr/>
        </p:nvSpPr>
        <p:spPr bwMode="auto">
          <a:xfrm>
            <a:off x="6804270" y="2170201"/>
            <a:ext cx="1562095" cy="15620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a:latin typeface="Montserrat" pitchFamily="2" charset="77"/>
            </a:endParaRPr>
          </a:p>
        </p:txBody>
      </p:sp>
      <p:pic>
        <p:nvPicPr>
          <p:cNvPr id="1066" name="Picture 42" descr="MBA - Master of Business Administration icons set . MBA - Master of  Business Administration pack symbol vector elements for infographic web  9922346 Vector Art at Vecteezy">
            <a:extLst>
              <a:ext uri="{FF2B5EF4-FFF2-40B4-BE49-F238E27FC236}">
                <a16:creationId xmlns:a16="http://schemas.microsoft.com/office/drawing/2014/main" id="{728E9928-1DA5-7F9B-F18C-5A621AD0C2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6267" t="8377" r="4216" b="57807"/>
          <a:stretch/>
        </p:blipFill>
        <p:spPr bwMode="auto">
          <a:xfrm>
            <a:off x="9712399" y="3963837"/>
            <a:ext cx="1169663" cy="101327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2" descr="MBA - Master of Business Administration icons set . MBA - Master of  Business Administration pack symbol vector elements for infographic web  9922346 Vector Art at Vecteezy">
            <a:extLst>
              <a:ext uri="{FF2B5EF4-FFF2-40B4-BE49-F238E27FC236}">
                <a16:creationId xmlns:a16="http://schemas.microsoft.com/office/drawing/2014/main" id="{1511BB3A-2D71-0D78-9349-3AFF36F6AE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344" t="9052" r="52984" b="58014"/>
          <a:stretch/>
        </p:blipFill>
        <p:spPr bwMode="auto">
          <a:xfrm>
            <a:off x="7060749" y="4092371"/>
            <a:ext cx="1148996" cy="101327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42" descr="MBA - Master of Business Administration icons set . MBA - Master of  Business Administration pack symbol vector elements for infographic web  9922346 Vector Art at Vecteezy">
            <a:extLst>
              <a:ext uri="{FF2B5EF4-FFF2-40B4-BE49-F238E27FC236}">
                <a16:creationId xmlns:a16="http://schemas.microsoft.com/office/drawing/2014/main" id="{7164F9D1-D292-E05E-C682-5D6098FC44F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3776" t="55879" r="26588" b="8723"/>
          <a:stretch/>
        </p:blipFill>
        <p:spPr bwMode="auto">
          <a:xfrm>
            <a:off x="765174" y="4048958"/>
            <a:ext cx="1307292" cy="1178337"/>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42" descr="MBA - Master of Business Administration icons set . MBA - Master of  Business Administration pack symbol vector elements for infographic web  9922346 Vector Art at Vecteezy">
            <a:extLst>
              <a:ext uri="{FF2B5EF4-FFF2-40B4-BE49-F238E27FC236}">
                <a16:creationId xmlns:a16="http://schemas.microsoft.com/office/drawing/2014/main" id="{326FA849-8B77-3CB6-9049-E8B31791F4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636" t="55425" r="53765" b="11641"/>
          <a:stretch/>
        </p:blipFill>
        <p:spPr bwMode="auto">
          <a:xfrm>
            <a:off x="7008054" y="2170201"/>
            <a:ext cx="1044127" cy="976932"/>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MBA - Master of Business Administration icons set . MBA - Master of  Business Administration pack symbol vector elements for infographic web  9922346 Vector Art at Vecteezy">
            <a:extLst>
              <a:ext uri="{FF2B5EF4-FFF2-40B4-BE49-F238E27FC236}">
                <a16:creationId xmlns:a16="http://schemas.microsoft.com/office/drawing/2014/main" id="{ABC4DED3-6336-CDD8-A0CA-6C184BA5F42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11" t="10542" r="78388" b="58807"/>
          <a:stretch/>
        </p:blipFill>
        <p:spPr bwMode="auto">
          <a:xfrm>
            <a:off x="9659551" y="2151412"/>
            <a:ext cx="1307296" cy="1171595"/>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46" descr="MBA - Master of Business Administration icons set . MBA - Master of  Business Administration pack symbol vector elements for infographic web  9922346 Vector Art at Vecteezy">
            <a:extLst>
              <a:ext uri="{FF2B5EF4-FFF2-40B4-BE49-F238E27FC236}">
                <a16:creationId xmlns:a16="http://schemas.microsoft.com/office/drawing/2014/main" id="{94576107-26E8-339D-D63D-3017658B3E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2638" t="9598" r="27362" b="61028"/>
          <a:stretch/>
        </p:blipFill>
        <p:spPr bwMode="auto">
          <a:xfrm>
            <a:off x="3653649" y="2223515"/>
            <a:ext cx="1214820" cy="892092"/>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1B935A3E-F59F-7DE6-86C6-995483009C7D}"/>
              </a:ext>
            </a:extLst>
          </p:cNvPr>
          <p:cNvSpPr txBox="1"/>
          <p:nvPr/>
        </p:nvSpPr>
        <p:spPr>
          <a:xfrm>
            <a:off x="7010892" y="5079758"/>
            <a:ext cx="1767848" cy="523220"/>
          </a:xfrm>
          <a:prstGeom prst="rect">
            <a:avLst/>
          </a:prstGeom>
          <a:noFill/>
        </p:spPr>
        <p:txBody>
          <a:bodyPr wrap="square">
            <a:spAutoFit/>
          </a:bodyPr>
          <a:lstStyle/>
          <a:p>
            <a:r>
              <a:rPr lang="en" sz="1400" b="1" dirty="0">
                <a:solidFill>
                  <a:srgbClr val="262626"/>
                </a:solidFill>
                <a:latin typeface="Montserrat" pitchFamily="2" charset="77"/>
                <a:ea typeface="Libre Franklin"/>
                <a:cs typeface="Libre Franklin"/>
                <a:sym typeface="Libre Franklin"/>
              </a:rPr>
              <a:t>20+ DIGITAL MARKETERS</a:t>
            </a:r>
          </a:p>
        </p:txBody>
      </p:sp>
      <p:sp>
        <p:nvSpPr>
          <p:cNvPr id="23" name="TextBox 22">
            <a:extLst>
              <a:ext uri="{FF2B5EF4-FFF2-40B4-BE49-F238E27FC236}">
                <a16:creationId xmlns:a16="http://schemas.microsoft.com/office/drawing/2014/main" id="{4954BC95-254D-6D42-1D45-F9EB7A30045B}"/>
              </a:ext>
            </a:extLst>
          </p:cNvPr>
          <p:cNvSpPr txBox="1"/>
          <p:nvPr/>
        </p:nvSpPr>
        <p:spPr>
          <a:xfrm>
            <a:off x="3565642" y="3147133"/>
            <a:ext cx="2081581" cy="502573"/>
          </a:xfrm>
          <a:prstGeom prst="rect">
            <a:avLst/>
          </a:prstGeom>
          <a:noFill/>
        </p:spPr>
        <p:txBody>
          <a:bodyPr wrap="square">
            <a:spAutoFit/>
          </a:bodyPr>
          <a:lstStyle/>
          <a:p>
            <a:r>
              <a:rPr lang="en" sz="1333" b="1" dirty="0">
                <a:solidFill>
                  <a:srgbClr val="262626"/>
                </a:solidFill>
                <a:latin typeface="Montserrat" pitchFamily="2" charset="77"/>
                <a:sym typeface="Libre Franklin"/>
              </a:rPr>
              <a:t>STRATEGICAL APPROACH</a:t>
            </a:r>
            <a:endParaRPr lang="en-US" sz="1333" dirty="0">
              <a:latin typeface="Montserrat" pitchFamily="2" charset="77"/>
            </a:endParaRPr>
          </a:p>
        </p:txBody>
      </p:sp>
      <p:sp>
        <p:nvSpPr>
          <p:cNvPr id="24" name="TextBox 23">
            <a:extLst>
              <a:ext uri="{FF2B5EF4-FFF2-40B4-BE49-F238E27FC236}">
                <a16:creationId xmlns:a16="http://schemas.microsoft.com/office/drawing/2014/main" id="{95B8ACFC-498C-EF12-7A52-E40DBF829C8B}"/>
              </a:ext>
            </a:extLst>
          </p:cNvPr>
          <p:cNvSpPr txBox="1"/>
          <p:nvPr/>
        </p:nvSpPr>
        <p:spPr>
          <a:xfrm>
            <a:off x="7032464" y="3187174"/>
            <a:ext cx="1897045" cy="502573"/>
          </a:xfrm>
          <a:prstGeom prst="rect">
            <a:avLst/>
          </a:prstGeom>
          <a:noFill/>
        </p:spPr>
        <p:txBody>
          <a:bodyPr wrap="square">
            <a:spAutoFit/>
          </a:bodyPr>
          <a:lstStyle/>
          <a:p>
            <a:r>
              <a:rPr lang="en" sz="1333" b="1" dirty="0">
                <a:solidFill>
                  <a:srgbClr val="262626"/>
                </a:solidFill>
                <a:latin typeface="Montserrat" pitchFamily="2" charset="77"/>
                <a:sym typeface="Libre Franklin"/>
              </a:rPr>
              <a:t>CREATIVE </a:t>
            </a:r>
          </a:p>
          <a:p>
            <a:r>
              <a:rPr lang="en" sz="1333" b="1" dirty="0">
                <a:solidFill>
                  <a:srgbClr val="262626"/>
                </a:solidFill>
                <a:latin typeface="Montserrat" pitchFamily="2" charset="77"/>
                <a:sym typeface="Libre Franklin"/>
              </a:rPr>
              <a:t>DIRECTORS</a:t>
            </a:r>
            <a:endParaRPr lang="en-US" sz="1333" dirty="0">
              <a:latin typeface="Montserrat" pitchFamily="2" charset="77"/>
            </a:endParaRPr>
          </a:p>
        </p:txBody>
      </p:sp>
      <p:sp>
        <p:nvSpPr>
          <p:cNvPr id="25" name="TextBox 24">
            <a:extLst>
              <a:ext uri="{FF2B5EF4-FFF2-40B4-BE49-F238E27FC236}">
                <a16:creationId xmlns:a16="http://schemas.microsoft.com/office/drawing/2014/main" id="{7F8A525E-F3D9-6E3E-BA81-758CAF1CC784}"/>
              </a:ext>
            </a:extLst>
          </p:cNvPr>
          <p:cNvSpPr txBox="1"/>
          <p:nvPr/>
        </p:nvSpPr>
        <p:spPr>
          <a:xfrm>
            <a:off x="3678870" y="5196596"/>
            <a:ext cx="1968353" cy="502573"/>
          </a:xfrm>
          <a:prstGeom prst="rect">
            <a:avLst/>
          </a:prstGeom>
          <a:noFill/>
        </p:spPr>
        <p:txBody>
          <a:bodyPr wrap="square">
            <a:spAutoFit/>
          </a:bodyPr>
          <a:lstStyle/>
          <a:p>
            <a:r>
              <a:rPr lang="en" sz="1333" b="1" dirty="0">
                <a:solidFill>
                  <a:srgbClr val="262626"/>
                </a:solidFill>
                <a:latin typeface="Montserrat" pitchFamily="2" charset="77"/>
                <a:sym typeface="Libre Franklin"/>
              </a:rPr>
              <a:t>DATA </a:t>
            </a:r>
          </a:p>
          <a:p>
            <a:r>
              <a:rPr lang="en" sz="1333" b="1" dirty="0">
                <a:solidFill>
                  <a:srgbClr val="262626"/>
                </a:solidFill>
                <a:latin typeface="Montserrat" pitchFamily="2" charset="77"/>
                <a:sym typeface="Libre Franklin"/>
              </a:rPr>
              <a:t>DRIVEN DECISIONS</a:t>
            </a:r>
            <a:endParaRPr lang="en-US" sz="1333" dirty="0">
              <a:latin typeface="Montserrat" pitchFamily="2" charset="77"/>
            </a:endParaRPr>
          </a:p>
        </p:txBody>
      </p:sp>
      <p:sp>
        <p:nvSpPr>
          <p:cNvPr id="26" name="TextBox 25">
            <a:extLst>
              <a:ext uri="{FF2B5EF4-FFF2-40B4-BE49-F238E27FC236}">
                <a16:creationId xmlns:a16="http://schemas.microsoft.com/office/drawing/2014/main" id="{6523A16E-9B61-D45B-403B-E0B663CA67DB}"/>
              </a:ext>
            </a:extLst>
          </p:cNvPr>
          <p:cNvSpPr txBox="1"/>
          <p:nvPr/>
        </p:nvSpPr>
        <p:spPr>
          <a:xfrm>
            <a:off x="9672117" y="3215533"/>
            <a:ext cx="1858640" cy="502573"/>
          </a:xfrm>
          <a:prstGeom prst="rect">
            <a:avLst/>
          </a:prstGeom>
          <a:noFill/>
        </p:spPr>
        <p:txBody>
          <a:bodyPr wrap="square">
            <a:spAutoFit/>
          </a:bodyPr>
          <a:lstStyle/>
          <a:p>
            <a:r>
              <a:rPr lang="en" sz="1333" b="1" dirty="0">
                <a:solidFill>
                  <a:srgbClr val="262626"/>
                </a:solidFill>
                <a:latin typeface="Montserrat" pitchFamily="2" charset="77"/>
                <a:sym typeface="Libre Franklin"/>
              </a:rPr>
              <a:t>MARTECH SPECIALISTS</a:t>
            </a:r>
            <a:endParaRPr lang="en-US" sz="1333" dirty="0">
              <a:latin typeface="Montserrat" pitchFamily="2" charset="77"/>
            </a:endParaRPr>
          </a:p>
        </p:txBody>
      </p:sp>
      <p:sp>
        <p:nvSpPr>
          <p:cNvPr id="27" name="TextBox 26">
            <a:extLst>
              <a:ext uri="{FF2B5EF4-FFF2-40B4-BE49-F238E27FC236}">
                <a16:creationId xmlns:a16="http://schemas.microsoft.com/office/drawing/2014/main" id="{AE951248-BC88-E9CF-1F52-85636CABC9B9}"/>
              </a:ext>
            </a:extLst>
          </p:cNvPr>
          <p:cNvSpPr txBox="1"/>
          <p:nvPr/>
        </p:nvSpPr>
        <p:spPr>
          <a:xfrm>
            <a:off x="9735262" y="5006296"/>
            <a:ext cx="2112295" cy="523220"/>
          </a:xfrm>
          <a:prstGeom prst="rect">
            <a:avLst/>
          </a:prstGeom>
          <a:noFill/>
        </p:spPr>
        <p:txBody>
          <a:bodyPr wrap="square">
            <a:spAutoFit/>
          </a:bodyPr>
          <a:lstStyle/>
          <a:p>
            <a:r>
              <a:rPr lang="en" sz="1400" b="1" dirty="0">
                <a:solidFill>
                  <a:srgbClr val="262626"/>
                </a:solidFill>
                <a:latin typeface="Montserrat" pitchFamily="2" charset="77"/>
                <a:ea typeface="Libre Franklin"/>
                <a:cs typeface="Libre Franklin"/>
                <a:sym typeface="Libre Franklin"/>
              </a:rPr>
              <a:t>150+ CERTIFICATIONS</a:t>
            </a:r>
          </a:p>
        </p:txBody>
      </p:sp>
      <p:pic>
        <p:nvPicPr>
          <p:cNvPr id="5122" name="Picture 2" descr="KPI Dashboard icon 27526325 Vector Art at Vecteezy">
            <a:extLst>
              <a:ext uri="{FF2B5EF4-FFF2-40B4-BE49-F238E27FC236}">
                <a16:creationId xmlns:a16="http://schemas.microsoft.com/office/drawing/2014/main" id="{7C446754-D02A-0631-A51D-E40A64C2CB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3873" y="2101789"/>
            <a:ext cx="813007" cy="89209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3896A88-D7FF-7E0E-03ED-5575B4606005}"/>
              </a:ext>
            </a:extLst>
          </p:cNvPr>
          <p:cNvSpPr txBox="1"/>
          <p:nvPr/>
        </p:nvSpPr>
        <p:spPr>
          <a:xfrm>
            <a:off x="765174" y="3066604"/>
            <a:ext cx="1897045" cy="502573"/>
          </a:xfrm>
          <a:prstGeom prst="rect">
            <a:avLst/>
          </a:prstGeom>
          <a:noFill/>
        </p:spPr>
        <p:txBody>
          <a:bodyPr wrap="square">
            <a:spAutoFit/>
          </a:bodyPr>
          <a:lstStyle/>
          <a:p>
            <a:r>
              <a:rPr lang="en" sz="1333" b="1" dirty="0">
                <a:solidFill>
                  <a:srgbClr val="262626"/>
                </a:solidFill>
                <a:latin typeface="Montserrat" pitchFamily="2" charset="77"/>
                <a:sym typeface="Libre Franklin"/>
              </a:rPr>
              <a:t>MARKET RESEARCH STUDY</a:t>
            </a:r>
            <a:endParaRPr lang="en-US" sz="1333" dirty="0">
              <a:latin typeface="Montserrat" pitchFamily="2" charset="77"/>
            </a:endParaRPr>
          </a:p>
        </p:txBody>
      </p:sp>
      <p:pic>
        <p:nvPicPr>
          <p:cNvPr id="5124" name="Picture 4" descr="Data Icon Images – Browse 3,712,520 Stock Photos, Vectors, and Video |  Adobe Stock">
            <a:extLst>
              <a:ext uri="{FF2B5EF4-FFF2-40B4-BE49-F238E27FC236}">
                <a16:creationId xmlns:a16="http://schemas.microsoft.com/office/drawing/2014/main" id="{CC0E732A-6017-7C47-9123-2693774742B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3782" t="49999" r="74645" b="3376"/>
          <a:stretch/>
        </p:blipFill>
        <p:spPr bwMode="auto">
          <a:xfrm>
            <a:off x="3774665" y="4251003"/>
            <a:ext cx="944995" cy="95182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FB0E330-6FB7-B593-41BF-AE5DA5A266A4}"/>
              </a:ext>
            </a:extLst>
          </p:cNvPr>
          <p:cNvSpPr txBox="1"/>
          <p:nvPr/>
        </p:nvSpPr>
        <p:spPr>
          <a:xfrm>
            <a:off x="630995" y="5196596"/>
            <a:ext cx="2081581" cy="502573"/>
          </a:xfrm>
          <a:prstGeom prst="rect">
            <a:avLst/>
          </a:prstGeom>
          <a:noFill/>
        </p:spPr>
        <p:txBody>
          <a:bodyPr wrap="square">
            <a:spAutoFit/>
          </a:bodyPr>
          <a:lstStyle/>
          <a:p>
            <a:r>
              <a:rPr lang="en" sz="1333" b="1" dirty="0">
                <a:solidFill>
                  <a:srgbClr val="262626"/>
                </a:solidFill>
                <a:latin typeface="Montserrat" pitchFamily="2" charset="77"/>
                <a:sym typeface="Libre Franklin"/>
              </a:rPr>
              <a:t>ROI DRIVEN METHODOLOGY</a:t>
            </a:r>
            <a:endParaRPr lang="en-US" sz="1333" dirty="0">
              <a:latin typeface="Montserrat" pitchFamily="2" charset="77"/>
            </a:endParaRPr>
          </a:p>
        </p:txBody>
      </p:sp>
      <p:pic>
        <p:nvPicPr>
          <p:cNvPr id="12" name="Picture 11" descr="A logo with a blue arrow pointing up&#10;&#10;Description automatically generated">
            <a:extLst>
              <a:ext uri="{FF2B5EF4-FFF2-40B4-BE49-F238E27FC236}">
                <a16:creationId xmlns:a16="http://schemas.microsoft.com/office/drawing/2014/main" id="{C64CBB65-6622-1571-AC62-B2A6A5E4B639}"/>
              </a:ext>
            </a:extLst>
          </p:cNvPr>
          <p:cNvPicPr>
            <a:picLocks noChangeAspect="1"/>
          </p:cNvPicPr>
          <p:nvPr/>
        </p:nvPicPr>
        <p:blipFill rotWithShape="1">
          <a:blip r:embed="rId6"/>
          <a:srcRect l="9248" r="27480" b="47937"/>
          <a:stretch/>
        </p:blipFill>
        <p:spPr>
          <a:xfrm>
            <a:off x="11297920" y="30644"/>
            <a:ext cx="812421" cy="665984"/>
          </a:xfrm>
          <a:prstGeom prst="rect">
            <a:avLst/>
          </a:prstGeom>
        </p:spPr>
      </p:pic>
      <p:cxnSp>
        <p:nvCxnSpPr>
          <p:cNvPr id="13" name="Google Shape;219;p41">
            <a:extLst>
              <a:ext uri="{FF2B5EF4-FFF2-40B4-BE49-F238E27FC236}">
                <a16:creationId xmlns:a16="http://schemas.microsoft.com/office/drawing/2014/main" id="{4A0BF132-D7B0-9BC0-65A2-43B22EF7C259}"/>
              </a:ext>
            </a:extLst>
          </p:cNvPr>
          <p:cNvCxnSpPr>
            <a:cxnSpLocks/>
          </p:cNvCxnSpPr>
          <p:nvPr/>
        </p:nvCxnSpPr>
        <p:spPr>
          <a:xfrm>
            <a:off x="6187308" y="1426209"/>
            <a:ext cx="0" cy="4558288"/>
          </a:xfrm>
          <a:prstGeom prst="straightConnector1">
            <a:avLst/>
          </a:prstGeom>
          <a:noFill/>
          <a:ln w="9525" cap="flat" cmpd="sng">
            <a:solidFill>
              <a:srgbClr val="BFBFBF"/>
            </a:solidFill>
            <a:prstDash val="dash"/>
            <a:miter lim="800000"/>
            <a:headEnd type="none" w="sm" len="sm"/>
            <a:tailEnd type="none" w="sm" len="sm"/>
          </a:ln>
        </p:spPr>
      </p:cxnSp>
      <p:sp>
        <p:nvSpPr>
          <p:cNvPr id="15" name="TextBox 14">
            <a:extLst>
              <a:ext uri="{FF2B5EF4-FFF2-40B4-BE49-F238E27FC236}">
                <a16:creationId xmlns:a16="http://schemas.microsoft.com/office/drawing/2014/main" id="{F4C068F3-A1AE-7DED-1918-4E368E342388}"/>
              </a:ext>
            </a:extLst>
          </p:cNvPr>
          <p:cNvSpPr txBox="1"/>
          <p:nvPr/>
        </p:nvSpPr>
        <p:spPr>
          <a:xfrm>
            <a:off x="2139087" y="1426210"/>
            <a:ext cx="3112881" cy="461665"/>
          </a:xfrm>
          <a:prstGeom prst="rect">
            <a:avLst/>
          </a:prstGeom>
          <a:noFill/>
        </p:spPr>
        <p:txBody>
          <a:bodyPr wrap="square">
            <a:spAutoFit/>
          </a:bodyPr>
          <a:lstStyle/>
          <a:p>
            <a:r>
              <a:rPr lang="en" sz="2400" b="1" u="sng" dirty="0">
                <a:solidFill>
                  <a:srgbClr val="262626"/>
                </a:solidFill>
                <a:latin typeface="Montserrat" pitchFamily="2" charset="77"/>
                <a:sym typeface="Libre Franklin"/>
              </a:rPr>
              <a:t>OUR APPROACH</a:t>
            </a:r>
            <a:endParaRPr lang="en-US" sz="2400" u="sng" dirty="0">
              <a:latin typeface="Montserrat" pitchFamily="2" charset="77"/>
            </a:endParaRPr>
          </a:p>
        </p:txBody>
      </p:sp>
      <p:sp>
        <p:nvSpPr>
          <p:cNvPr id="16" name="TextBox 15">
            <a:extLst>
              <a:ext uri="{FF2B5EF4-FFF2-40B4-BE49-F238E27FC236}">
                <a16:creationId xmlns:a16="http://schemas.microsoft.com/office/drawing/2014/main" id="{3751846C-BE69-1078-115A-A2CCBBFDC341}"/>
              </a:ext>
            </a:extLst>
          </p:cNvPr>
          <p:cNvSpPr txBox="1"/>
          <p:nvPr/>
        </p:nvSpPr>
        <p:spPr>
          <a:xfrm>
            <a:off x="7318454" y="1458489"/>
            <a:ext cx="4212303" cy="461665"/>
          </a:xfrm>
          <a:prstGeom prst="rect">
            <a:avLst/>
          </a:prstGeom>
          <a:noFill/>
        </p:spPr>
        <p:txBody>
          <a:bodyPr wrap="square">
            <a:spAutoFit/>
          </a:bodyPr>
          <a:lstStyle/>
          <a:p>
            <a:r>
              <a:rPr lang="en" sz="2400" b="1" u="sng" dirty="0">
                <a:solidFill>
                  <a:srgbClr val="262626"/>
                </a:solidFill>
                <a:latin typeface="Montserrat" pitchFamily="2" charset="77"/>
                <a:sym typeface="Libre Franklin"/>
              </a:rPr>
              <a:t>TEAM SPECIALIZATIONS</a:t>
            </a:r>
            <a:endParaRPr lang="en-US" sz="2400" u="sng" dirty="0">
              <a:latin typeface="Montserrat" pitchFamily="2" charset="77"/>
            </a:endParaRPr>
          </a:p>
        </p:txBody>
      </p:sp>
      <p:sp>
        <p:nvSpPr>
          <p:cNvPr id="30" name="Google Shape;201;p41">
            <a:extLst>
              <a:ext uri="{FF2B5EF4-FFF2-40B4-BE49-F238E27FC236}">
                <a16:creationId xmlns:a16="http://schemas.microsoft.com/office/drawing/2014/main" id="{C75C33B1-8707-C791-6225-321CFDD275EB}"/>
              </a:ext>
            </a:extLst>
          </p:cNvPr>
          <p:cNvSpPr txBox="1"/>
          <p:nvPr/>
        </p:nvSpPr>
        <p:spPr>
          <a:xfrm>
            <a:off x="123460" y="5863178"/>
            <a:ext cx="7679421" cy="861721"/>
          </a:xfrm>
          <a:prstGeom prst="rect">
            <a:avLst/>
          </a:prstGeom>
          <a:noFill/>
          <a:ln>
            <a:noFill/>
          </a:ln>
        </p:spPr>
        <p:txBody>
          <a:bodyPr spcFirstLastPara="1" wrap="square" lIns="91433" tIns="45700" rIns="91433" bIns="45700" anchor="t" anchorCtr="0">
            <a:noAutofit/>
          </a:bodyPr>
          <a:lstStyle/>
          <a:p>
            <a:pPr algn="just">
              <a:spcBef>
                <a:spcPts val="1067"/>
              </a:spcBef>
              <a:buSzPts val="1200"/>
            </a:pPr>
            <a:endParaRPr sz="1200" b="1" i="1" dirty="0">
              <a:latin typeface="Montserrat" pitchFamily="2" charset="77"/>
            </a:endParaRPr>
          </a:p>
        </p:txBody>
      </p:sp>
    </p:spTree>
    <p:extLst>
      <p:ext uri="{BB962C8B-B14F-4D97-AF65-F5344CB8AC3E}">
        <p14:creationId xmlns:p14="http://schemas.microsoft.com/office/powerpoint/2010/main" val="1563480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41"/>
          <p:cNvSpPr txBox="1"/>
          <p:nvPr/>
        </p:nvSpPr>
        <p:spPr>
          <a:xfrm>
            <a:off x="1740110" y="622010"/>
            <a:ext cx="9029319" cy="688909"/>
          </a:xfrm>
          <a:prstGeom prst="rect">
            <a:avLst/>
          </a:prstGeom>
          <a:noFill/>
          <a:ln>
            <a:noFill/>
          </a:ln>
        </p:spPr>
        <p:txBody>
          <a:bodyPr spcFirstLastPara="1" wrap="square" lIns="91433" tIns="45700" rIns="91433" bIns="45700" anchor="t" anchorCtr="0">
            <a:noAutofit/>
          </a:bodyPr>
          <a:lstStyle/>
          <a:p>
            <a:pPr algn="just">
              <a:spcBef>
                <a:spcPts val="1067"/>
              </a:spcBef>
              <a:buSzPts val="1200"/>
            </a:pPr>
            <a:r>
              <a:rPr lang="en-IN" sz="3200" b="1" dirty="0">
                <a:solidFill>
                  <a:srgbClr val="262626"/>
                </a:solidFill>
                <a:latin typeface="Montserrat" pitchFamily="2" charset="77"/>
                <a:ea typeface="Libre Franklin Medium"/>
                <a:cs typeface="Libre Franklin Medium"/>
                <a:sym typeface="Libre Franklin Medium"/>
              </a:rPr>
              <a:t>“Our customer retention is our strength”</a:t>
            </a:r>
          </a:p>
          <a:p>
            <a:pPr algn="just">
              <a:spcBef>
                <a:spcPts val="1067"/>
              </a:spcBef>
              <a:buSzPts val="1200"/>
            </a:pPr>
            <a:r>
              <a:rPr lang="en-IN" sz="1600" b="1" dirty="0">
                <a:solidFill>
                  <a:srgbClr val="262626"/>
                </a:solidFill>
                <a:latin typeface="Montserrat" pitchFamily="2" charset="77"/>
                <a:cs typeface="Libre Franklin Medium"/>
                <a:sym typeface="Libre Franklin Medium"/>
              </a:rPr>
              <a:t>As we are ROI driven, we help our clients in adding value to their businesses</a:t>
            </a:r>
            <a:endParaRPr lang="en-IN" sz="1467" b="1" dirty="0">
              <a:latin typeface="Montserrat" pitchFamily="2" charset="77"/>
            </a:endParaRPr>
          </a:p>
        </p:txBody>
      </p:sp>
      <p:sp>
        <p:nvSpPr>
          <p:cNvPr id="203" name="Google Shape;203;p41"/>
          <p:cNvSpPr/>
          <p:nvPr/>
        </p:nvSpPr>
        <p:spPr>
          <a:xfrm>
            <a:off x="0" y="6597749"/>
            <a:ext cx="12192000" cy="260252"/>
          </a:xfrm>
          <a:prstGeom prst="rect">
            <a:avLst/>
          </a:prstGeom>
          <a:solidFill>
            <a:srgbClr val="8DA9DB"/>
          </a:solidFill>
          <a:ln>
            <a:noFill/>
          </a:ln>
        </p:spPr>
        <p:txBody>
          <a:bodyPr spcFirstLastPara="1" wrap="square" lIns="91433" tIns="45700" rIns="91433" bIns="45700" anchor="ctr" anchorCtr="0">
            <a:noAutofit/>
          </a:bodyPr>
          <a:lstStyle/>
          <a:p>
            <a:pPr algn="ctr">
              <a:buClr>
                <a:schemeClr val="dk1"/>
              </a:buClr>
              <a:buSzPts val="900"/>
            </a:pPr>
            <a:r>
              <a:rPr lang="en" sz="1200" b="1" dirty="0">
                <a:solidFill>
                  <a:schemeClr val="dk1"/>
                </a:solidFill>
                <a:latin typeface="Montserrat" pitchFamily="2" charset="77"/>
                <a:ea typeface="Libre Franklin"/>
                <a:cs typeface="Libre Franklin"/>
                <a:sym typeface="Libre Franklin"/>
              </a:rPr>
              <a:t>Confidential @ </a:t>
            </a:r>
            <a:r>
              <a:rPr lang="en-IN" sz="1200" b="1" dirty="0" err="1">
                <a:solidFill>
                  <a:schemeClr val="dk1"/>
                </a:solidFill>
                <a:latin typeface="Montserrat" pitchFamily="2" charset="77"/>
                <a:ea typeface="Libre Franklin"/>
                <a:cs typeface="Libre Franklin"/>
                <a:sym typeface="Libre Franklin"/>
              </a:rPr>
              <a:t>Digifyce</a:t>
            </a:r>
            <a:endParaRPr sz="1200" b="1" dirty="0">
              <a:solidFill>
                <a:schemeClr val="dk1"/>
              </a:solidFill>
              <a:latin typeface="Montserrat" pitchFamily="2" charset="77"/>
              <a:ea typeface="Libre Franklin"/>
              <a:cs typeface="Libre Franklin"/>
              <a:sym typeface="Libre Franklin"/>
            </a:endParaRPr>
          </a:p>
        </p:txBody>
      </p:sp>
      <p:pic>
        <p:nvPicPr>
          <p:cNvPr id="204" name="Google Shape;204;p41"/>
          <p:cNvPicPr preferRelativeResize="0"/>
          <p:nvPr/>
        </p:nvPicPr>
        <p:blipFill rotWithShape="1">
          <a:blip r:embed="rId3">
            <a:alphaModFix/>
          </a:blip>
          <a:srcRect t="-11320" b="11319"/>
          <a:stretch/>
        </p:blipFill>
        <p:spPr>
          <a:xfrm>
            <a:off x="7247150" y="1913141"/>
            <a:ext cx="897765" cy="897767"/>
          </a:xfrm>
          <a:prstGeom prst="rect">
            <a:avLst/>
          </a:prstGeom>
          <a:noFill/>
          <a:ln>
            <a:noFill/>
          </a:ln>
        </p:spPr>
      </p:pic>
      <p:pic>
        <p:nvPicPr>
          <p:cNvPr id="209" name="Google Shape;209;p41" descr="A red logo with black background&#10;&#10;Description automatically generated">
            <a:hlinkClick r:id="rId4"/>
          </p:cNvPr>
          <p:cNvPicPr preferRelativeResize="0"/>
          <p:nvPr/>
        </p:nvPicPr>
        <p:blipFill rotWithShape="1">
          <a:blip r:embed="rId5">
            <a:alphaModFix/>
          </a:blip>
          <a:srcRect/>
          <a:stretch/>
        </p:blipFill>
        <p:spPr>
          <a:xfrm>
            <a:off x="8713076" y="2086001"/>
            <a:ext cx="897765" cy="819935"/>
          </a:xfrm>
          <a:prstGeom prst="rect">
            <a:avLst/>
          </a:prstGeom>
          <a:noFill/>
          <a:ln>
            <a:noFill/>
          </a:ln>
        </p:spPr>
      </p:pic>
      <p:pic>
        <p:nvPicPr>
          <p:cNvPr id="218" name="Google Shape;218;p41" descr="Mahindra SUV Logo PNG vector in SVG, PDF, AI, CDR format"/>
          <p:cNvPicPr preferRelativeResize="0"/>
          <p:nvPr/>
        </p:nvPicPr>
        <p:blipFill rotWithShape="1">
          <a:blip r:embed="rId6">
            <a:alphaModFix/>
          </a:blip>
          <a:srcRect/>
          <a:stretch/>
        </p:blipFill>
        <p:spPr>
          <a:xfrm>
            <a:off x="5473721" y="3132387"/>
            <a:ext cx="1562100" cy="939800"/>
          </a:xfrm>
          <a:prstGeom prst="rect">
            <a:avLst/>
          </a:prstGeom>
          <a:noFill/>
          <a:ln>
            <a:noFill/>
          </a:ln>
        </p:spPr>
      </p:pic>
      <p:pic>
        <p:nvPicPr>
          <p:cNvPr id="3" name="Picture 2" descr="A black background with white text and grey triangle&#10;&#10;Description automatically generated">
            <a:extLst>
              <a:ext uri="{FF2B5EF4-FFF2-40B4-BE49-F238E27FC236}">
                <a16:creationId xmlns:a16="http://schemas.microsoft.com/office/drawing/2014/main" id="{D799486E-848A-E4E2-EBED-02EA20EAE836}"/>
              </a:ext>
            </a:extLst>
          </p:cNvPr>
          <p:cNvPicPr>
            <a:picLocks noChangeAspect="1"/>
          </p:cNvPicPr>
          <p:nvPr/>
        </p:nvPicPr>
        <p:blipFill>
          <a:blip r:embed="rId7"/>
          <a:stretch>
            <a:fillRect/>
          </a:stretch>
        </p:blipFill>
        <p:spPr>
          <a:xfrm>
            <a:off x="3822266" y="3292606"/>
            <a:ext cx="1641649" cy="797372"/>
          </a:xfrm>
          <a:prstGeom prst="rect">
            <a:avLst/>
          </a:prstGeom>
        </p:spPr>
      </p:pic>
      <p:pic>
        <p:nvPicPr>
          <p:cNvPr id="5" name="Picture 4" descr="A logo for a real estate insider&#10;&#10;Description automatically generated">
            <a:extLst>
              <a:ext uri="{FF2B5EF4-FFF2-40B4-BE49-F238E27FC236}">
                <a16:creationId xmlns:a16="http://schemas.microsoft.com/office/drawing/2014/main" id="{E58B9C7F-FB0E-E7CA-E68F-5F31779EE11E}"/>
              </a:ext>
            </a:extLst>
          </p:cNvPr>
          <p:cNvPicPr>
            <a:picLocks noChangeAspect="1"/>
          </p:cNvPicPr>
          <p:nvPr/>
        </p:nvPicPr>
        <p:blipFill>
          <a:blip r:embed="rId8"/>
          <a:stretch>
            <a:fillRect/>
          </a:stretch>
        </p:blipFill>
        <p:spPr>
          <a:xfrm>
            <a:off x="2068034" y="2215625"/>
            <a:ext cx="897767" cy="897767"/>
          </a:xfrm>
          <a:prstGeom prst="rect">
            <a:avLst/>
          </a:prstGeom>
        </p:spPr>
      </p:pic>
      <p:pic>
        <p:nvPicPr>
          <p:cNvPr id="1026" name="Picture 2" descr="6 Figure Property Profits Logo">
            <a:extLst>
              <a:ext uri="{FF2B5EF4-FFF2-40B4-BE49-F238E27FC236}">
                <a16:creationId xmlns:a16="http://schemas.microsoft.com/office/drawing/2014/main" id="{B41165A6-39CE-3B4B-A121-C4EBF909AAD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91294" y="2366869"/>
            <a:ext cx="1632273" cy="52227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Lion Dates Buy Online">
            <a:extLst>
              <a:ext uri="{FF2B5EF4-FFF2-40B4-BE49-F238E27FC236}">
                <a16:creationId xmlns:a16="http://schemas.microsoft.com/office/drawing/2014/main" id="{A1239F97-EA61-A32D-4976-B2ED391C73B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07793" y="3209115"/>
            <a:ext cx="1276671" cy="85377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upload.wikimedia.org/wikipedia/commons/thumb/b/b3/...">
            <a:extLst>
              <a:ext uri="{FF2B5EF4-FFF2-40B4-BE49-F238E27FC236}">
                <a16:creationId xmlns:a16="http://schemas.microsoft.com/office/drawing/2014/main" id="{06E2630C-542F-F80A-6066-47E789E384E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290458" y="4237998"/>
            <a:ext cx="1156853" cy="908215"/>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doctor_towel_it's_safe_logo">
            <a:extLst>
              <a:ext uri="{FF2B5EF4-FFF2-40B4-BE49-F238E27FC236}">
                <a16:creationId xmlns:a16="http://schemas.microsoft.com/office/drawing/2014/main" id="{A6DA4FB4-B463-FF0E-48BF-7F393B778A1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14600" y="2253026"/>
            <a:ext cx="1632275" cy="652909"/>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descr="Triggerjeans">
            <a:extLst>
              <a:ext uri="{FF2B5EF4-FFF2-40B4-BE49-F238E27FC236}">
                <a16:creationId xmlns:a16="http://schemas.microsoft.com/office/drawing/2014/main" id="{B2D970BF-103C-32EA-B76D-B2B1F0CA380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548870" y="3465384"/>
            <a:ext cx="1483177" cy="4030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logo with a blue arrow pointing up&#10;&#10;Description automatically generated">
            <a:extLst>
              <a:ext uri="{FF2B5EF4-FFF2-40B4-BE49-F238E27FC236}">
                <a16:creationId xmlns:a16="http://schemas.microsoft.com/office/drawing/2014/main" id="{0E3A6077-1E0D-779C-FCD1-18F0B94CB67A}"/>
              </a:ext>
            </a:extLst>
          </p:cNvPr>
          <p:cNvPicPr>
            <a:picLocks noChangeAspect="1"/>
          </p:cNvPicPr>
          <p:nvPr/>
        </p:nvPicPr>
        <p:blipFill rotWithShape="1">
          <a:blip r:embed="rId14"/>
          <a:srcRect l="9248" r="27480" b="47937"/>
          <a:stretch/>
        </p:blipFill>
        <p:spPr>
          <a:xfrm>
            <a:off x="11097352" y="30644"/>
            <a:ext cx="1012989" cy="830400"/>
          </a:xfrm>
          <a:prstGeom prst="rect">
            <a:avLst/>
          </a:prstGeom>
        </p:spPr>
      </p:pic>
      <p:sp>
        <p:nvSpPr>
          <p:cNvPr id="6" name="Rectangle 5">
            <a:extLst>
              <a:ext uri="{FF2B5EF4-FFF2-40B4-BE49-F238E27FC236}">
                <a16:creationId xmlns:a16="http://schemas.microsoft.com/office/drawing/2014/main" id="{C240D0DE-56CE-B44A-4CF3-F8E548F0F59A}"/>
              </a:ext>
            </a:extLst>
          </p:cNvPr>
          <p:cNvSpPr/>
          <p:nvPr/>
        </p:nvSpPr>
        <p:spPr>
          <a:xfrm>
            <a:off x="2068034" y="3255036"/>
            <a:ext cx="1465928" cy="88793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a:extLst>
              <a:ext uri="{FF2B5EF4-FFF2-40B4-BE49-F238E27FC236}">
                <a16:creationId xmlns:a16="http://schemas.microsoft.com/office/drawing/2014/main" id="{57252FF1-400D-7EDA-292A-A3E8776CF6C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46320" y="3320020"/>
            <a:ext cx="1460120" cy="7428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Urbanrise">
            <a:extLst>
              <a:ext uri="{FF2B5EF4-FFF2-40B4-BE49-F238E27FC236}">
                <a16:creationId xmlns:a16="http://schemas.microsoft.com/office/drawing/2014/main" id="{9DFC0F85-BBBB-3343-6107-11D1597F95A6}"/>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46320" y="4601726"/>
            <a:ext cx="1458902" cy="50840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ogo">
            <a:extLst>
              <a:ext uri="{FF2B5EF4-FFF2-40B4-BE49-F238E27FC236}">
                <a16:creationId xmlns:a16="http://schemas.microsoft.com/office/drawing/2014/main" id="{E91E0E50-2146-8BA8-3FAE-ED4FA2528B9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80535" y="4295493"/>
            <a:ext cx="1593186" cy="96882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E230B93F-E851-2D11-B074-DE8FD5D2450A}"/>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843854" y="4448145"/>
            <a:ext cx="1853950" cy="66071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VIP Housing and Properties">
            <a:extLst>
              <a:ext uri="{FF2B5EF4-FFF2-40B4-BE49-F238E27FC236}">
                <a16:creationId xmlns:a16="http://schemas.microsoft.com/office/drawing/2014/main" id="{E9C3F0E0-34F3-2C0E-1451-84AC962DBC4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891093" y="4252890"/>
            <a:ext cx="1206076" cy="1206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643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2" name="Google Shape;202;p41"/>
          <p:cNvSpPr/>
          <p:nvPr/>
        </p:nvSpPr>
        <p:spPr>
          <a:xfrm>
            <a:off x="4155628" y="182653"/>
            <a:ext cx="5187976" cy="444823"/>
          </a:xfrm>
          <a:prstGeom prst="rect">
            <a:avLst/>
          </a:prstGeom>
          <a:noFill/>
          <a:ln>
            <a:noFill/>
          </a:ln>
        </p:spPr>
        <p:txBody>
          <a:bodyPr spcFirstLastPara="1" wrap="square" lIns="90000" tIns="45000" rIns="90000" bIns="45000" anchor="t" anchorCtr="0">
            <a:noAutofit/>
          </a:bodyPr>
          <a:lstStyle/>
          <a:p>
            <a:r>
              <a:rPr lang="en-IN" sz="2267" b="1" dirty="0" err="1">
                <a:solidFill>
                  <a:schemeClr val="accent1">
                    <a:lumMod val="60000"/>
                    <a:lumOff val="40000"/>
                  </a:schemeClr>
                </a:solidFill>
                <a:latin typeface="Montserrat" pitchFamily="2" charset="77"/>
                <a:ea typeface="Libre Franklin"/>
                <a:cs typeface="Libre Franklin"/>
                <a:sym typeface="Libre Franklin"/>
              </a:rPr>
              <a:t>Digifyce</a:t>
            </a:r>
            <a:r>
              <a:rPr lang="en" sz="2267" b="1" dirty="0">
                <a:solidFill>
                  <a:schemeClr val="accent1">
                    <a:lumMod val="60000"/>
                    <a:lumOff val="40000"/>
                  </a:schemeClr>
                </a:solidFill>
                <a:latin typeface="Montserrat" pitchFamily="2" charset="77"/>
                <a:ea typeface="Libre Franklin"/>
                <a:cs typeface="Libre Franklin"/>
                <a:sym typeface="Libre Franklin"/>
              </a:rPr>
              <a:t>, </a:t>
            </a:r>
            <a:r>
              <a:rPr lang="en" sz="2267" b="1" dirty="0">
                <a:solidFill>
                  <a:srgbClr val="262626"/>
                </a:solidFill>
                <a:latin typeface="Montserrat" pitchFamily="2" charset="77"/>
                <a:ea typeface="Libre Franklin"/>
                <a:cs typeface="Libre Franklin"/>
                <a:sym typeface="Libre Franklin"/>
              </a:rPr>
              <a:t>our partnerships</a:t>
            </a:r>
            <a:endParaRPr sz="2267" dirty="0">
              <a:solidFill>
                <a:srgbClr val="262626"/>
              </a:solidFill>
              <a:latin typeface="Montserrat" pitchFamily="2" charset="77"/>
              <a:ea typeface="Libre Franklin"/>
              <a:cs typeface="Libre Franklin"/>
              <a:sym typeface="Libre Franklin"/>
            </a:endParaRPr>
          </a:p>
        </p:txBody>
      </p:sp>
      <p:sp>
        <p:nvSpPr>
          <p:cNvPr id="203" name="Google Shape;203;p41"/>
          <p:cNvSpPr/>
          <p:nvPr/>
        </p:nvSpPr>
        <p:spPr>
          <a:xfrm>
            <a:off x="0" y="6597749"/>
            <a:ext cx="12192000" cy="260252"/>
          </a:xfrm>
          <a:prstGeom prst="rect">
            <a:avLst/>
          </a:prstGeom>
          <a:solidFill>
            <a:srgbClr val="8DA9DB"/>
          </a:solidFill>
          <a:ln>
            <a:noFill/>
          </a:ln>
        </p:spPr>
        <p:txBody>
          <a:bodyPr spcFirstLastPara="1" wrap="square" lIns="91433" tIns="45700" rIns="91433" bIns="45700" anchor="ctr" anchorCtr="0">
            <a:noAutofit/>
          </a:bodyPr>
          <a:lstStyle/>
          <a:p>
            <a:pPr algn="ctr">
              <a:buClr>
                <a:schemeClr val="dk1"/>
              </a:buClr>
              <a:buSzPts val="900"/>
            </a:pPr>
            <a:r>
              <a:rPr lang="en" sz="1200" b="1" dirty="0">
                <a:solidFill>
                  <a:schemeClr val="dk1"/>
                </a:solidFill>
                <a:latin typeface="Montserrat" pitchFamily="2" charset="77"/>
                <a:ea typeface="Libre Franklin"/>
                <a:cs typeface="Libre Franklin"/>
                <a:sym typeface="Libre Franklin"/>
              </a:rPr>
              <a:t>Confidential @ </a:t>
            </a:r>
            <a:r>
              <a:rPr lang="en-IN" sz="1200" b="1" dirty="0" err="1">
                <a:solidFill>
                  <a:schemeClr val="dk1"/>
                </a:solidFill>
                <a:latin typeface="Montserrat" pitchFamily="2" charset="77"/>
                <a:ea typeface="Libre Franklin"/>
                <a:cs typeface="Libre Franklin"/>
                <a:sym typeface="Libre Franklin"/>
              </a:rPr>
              <a:t>Digifyce</a:t>
            </a:r>
            <a:endParaRPr sz="1200" b="1" dirty="0">
              <a:solidFill>
                <a:schemeClr val="dk1"/>
              </a:solidFill>
              <a:latin typeface="Montserrat" pitchFamily="2" charset="77"/>
              <a:ea typeface="Libre Franklin"/>
              <a:cs typeface="Libre Franklin"/>
              <a:sym typeface="Libre Franklin"/>
            </a:endParaRPr>
          </a:p>
        </p:txBody>
      </p:sp>
      <p:sp>
        <p:nvSpPr>
          <p:cNvPr id="11" name="AutoShape 18">
            <a:extLst>
              <a:ext uri="{FF2B5EF4-FFF2-40B4-BE49-F238E27FC236}">
                <a16:creationId xmlns:a16="http://schemas.microsoft.com/office/drawing/2014/main" id="{945C5E2C-5C8C-B3E1-41F6-1B3150872B06}"/>
              </a:ext>
            </a:extLst>
          </p:cNvPr>
          <p:cNvSpPr>
            <a:spLocks noChangeAspect="1" noChangeArrowheads="1"/>
          </p:cNvSpPr>
          <p:nvPr/>
        </p:nvSpPr>
        <p:spPr bwMode="auto">
          <a:xfrm>
            <a:off x="6472362" y="3237411"/>
            <a:ext cx="1562095" cy="15620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2400">
              <a:latin typeface="Montserrat" pitchFamily="2" charset="77"/>
            </a:endParaRPr>
          </a:p>
        </p:txBody>
      </p:sp>
      <p:pic>
        <p:nvPicPr>
          <p:cNvPr id="14" name="Picture 13" descr="A white rectangular sign with blue and green text&#10;&#10;Description automatically generated">
            <a:extLst>
              <a:ext uri="{FF2B5EF4-FFF2-40B4-BE49-F238E27FC236}">
                <a16:creationId xmlns:a16="http://schemas.microsoft.com/office/drawing/2014/main" id="{40C88037-B7A3-662A-4A12-B5C633B7DF62}"/>
              </a:ext>
            </a:extLst>
          </p:cNvPr>
          <p:cNvPicPr>
            <a:picLocks noChangeAspect="1"/>
          </p:cNvPicPr>
          <p:nvPr/>
        </p:nvPicPr>
        <p:blipFill>
          <a:blip r:embed="rId3"/>
          <a:stretch>
            <a:fillRect/>
          </a:stretch>
        </p:blipFill>
        <p:spPr>
          <a:xfrm>
            <a:off x="1056268" y="2457980"/>
            <a:ext cx="1969944" cy="1502995"/>
          </a:xfrm>
          <a:prstGeom prst="rect">
            <a:avLst/>
          </a:prstGeom>
        </p:spPr>
      </p:pic>
      <p:pic>
        <p:nvPicPr>
          <p:cNvPr id="16" name="Picture 15" descr="A logo for a company&#10;&#10;Description automatically generated">
            <a:extLst>
              <a:ext uri="{FF2B5EF4-FFF2-40B4-BE49-F238E27FC236}">
                <a16:creationId xmlns:a16="http://schemas.microsoft.com/office/drawing/2014/main" id="{BB3A6F3E-2E40-3A47-A8A1-485364AB7A64}"/>
              </a:ext>
            </a:extLst>
          </p:cNvPr>
          <p:cNvPicPr>
            <a:picLocks noChangeAspect="1"/>
          </p:cNvPicPr>
          <p:nvPr/>
        </p:nvPicPr>
        <p:blipFill rotWithShape="1">
          <a:blip r:embed="rId4"/>
          <a:srcRect l="12445" t="1447" r="14718" b="8427"/>
          <a:stretch/>
        </p:blipFill>
        <p:spPr>
          <a:xfrm>
            <a:off x="1260198" y="572683"/>
            <a:ext cx="1562079" cy="1845455"/>
          </a:xfrm>
          <a:prstGeom prst="rect">
            <a:avLst/>
          </a:prstGeom>
        </p:spPr>
      </p:pic>
      <p:pic>
        <p:nvPicPr>
          <p:cNvPr id="1046" name="Picture 22" descr="Tinuiti Selected As Meta Business Partner | Tinuiti">
            <a:extLst>
              <a:ext uri="{FF2B5EF4-FFF2-40B4-BE49-F238E27FC236}">
                <a16:creationId xmlns:a16="http://schemas.microsoft.com/office/drawing/2014/main" id="{E18862F9-B329-04CB-A5FC-7D327A2629F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53" t="10459" r="4669" b="10459"/>
          <a:stretch/>
        </p:blipFill>
        <p:spPr bwMode="auto">
          <a:xfrm>
            <a:off x="1056265" y="4195920"/>
            <a:ext cx="1969948" cy="998669"/>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Why you need a HubSpot Certified ...">
            <a:extLst>
              <a:ext uri="{FF2B5EF4-FFF2-40B4-BE49-F238E27FC236}">
                <a16:creationId xmlns:a16="http://schemas.microsoft.com/office/drawing/2014/main" id="{7E10C505-155B-BFF7-3CB8-C2E58FA638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636" y="5489351"/>
            <a:ext cx="2721209" cy="1042005"/>
          </a:xfrm>
          <a:prstGeom prst="rect">
            <a:avLst/>
          </a:prstGeom>
          <a:noFill/>
          <a:extLst>
            <a:ext uri="{909E8E84-426E-40DD-AFC4-6F175D3DCCD1}">
              <a14:hiddenFill xmlns:a14="http://schemas.microsoft.com/office/drawing/2010/main">
                <a:solidFill>
                  <a:srgbClr val="FFFFFF"/>
                </a:solidFill>
              </a14:hiddenFill>
            </a:ext>
          </a:extLst>
        </p:spPr>
      </p:pic>
      <p:cxnSp>
        <p:nvCxnSpPr>
          <p:cNvPr id="4" name="Google Shape;219;p41">
            <a:extLst>
              <a:ext uri="{FF2B5EF4-FFF2-40B4-BE49-F238E27FC236}">
                <a16:creationId xmlns:a16="http://schemas.microsoft.com/office/drawing/2014/main" id="{8E5CFAE1-7D50-56EF-6761-8DC934150243}"/>
              </a:ext>
            </a:extLst>
          </p:cNvPr>
          <p:cNvCxnSpPr>
            <a:cxnSpLocks/>
          </p:cNvCxnSpPr>
          <p:nvPr/>
        </p:nvCxnSpPr>
        <p:spPr>
          <a:xfrm flipH="1">
            <a:off x="0" y="2392753"/>
            <a:ext cx="12192000" cy="0"/>
          </a:xfrm>
          <a:prstGeom prst="straightConnector1">
            <a:avLst/>
          </a:prstGeom>
          <a:noFill/>
          <a:ln w="9525" cap="flat" cmpd="sng">
            <a:solidFill>
              <a:srgbClr val="BFBFBF"/>
            </a:solidFill>
            <a:prstDash val="dash"/>
            <a:miter lim="800000"/>
            <a:headEnd type="none" w="sm" len="sm"/>
            <a:tailEnd type="none" w="sm" len="sm"/>
          </a:ln>
        </p:spPr>
      </p:cxnSp>
      <p:cxnSp>
        <p:nvCxnSpPr>
          <p:cNvPr id="12" name="Google Shape;219;p41">
            <a:extLst>
              <a:ext uri="{FF2B5EF4-FFF2-40B4-BE49-F238E27FC236}">
                <a16:creationId xmlns:a16="http://schemas.microsoft.com/office/drawing/2014/main" id="{47FB4B5F-FA9A-C142-C213-11928541A0E2}"/>
              </a:ext>
            </a:extLst>
          </p:cNvPr>
          <p:cNvCxnSpPr>
            <a:cxnSpLocks/>
          </p:cNvCxnSpPr>
          <p:nvPr/>
        </p:nvCxnSpPr>
        <p:spPr>
          <a:xfrm flipH="1">
            <a:off x="101072" y="3974745"/>
            <a:ext cx="12192000" cy="0"/>
          </a:xfrm>
          <a:prstGeom prst="straightConnector1">
            <a:avLst/>
          </a:prstGeom>
          <a:noFill/>
          <a:ln w="9525" cap="flat" cmpd="sng">
            <a:solidFill>
              <a:srgbClr val="BFBFBF"/>
            </a:solidFill>
            <a:prstDash val="dash"/>
            <a:miter lim="800000"/>
            <a:headEnd type="none" w="sm" len="sm"/>
            <a:tailEnd type="none" w="sm" len="sm"/>
          </a:ln>
        </p:spPr>
      </p:cxnSp>
      <p:cxnSp>
        <p:nvCxnSpPr>
          <p:cNvPr id="13" name="Google Shape;219;p41">
            <a:extLst>
              <a:ext uri="{FF2B5EF4-FFF2-40B4-BE49-F238E27FC236}">
                <a16:creationId xmlns:a16="http://schemas.microsoft.com/office/drawing/2014/main" id="{5CC5154D-CC4E-7718-F10C-D0BF363BF3E5}"/>
              </a:ext>
            </a:extLst>
          </p:cNvPr>
          <p:cNvCxnSpPr>
            <a:cxnSpLocks/>
          </p:cNvCxnSpPr>
          <p:nvPr/>
        </p:nvCxnSpPr>
        <p:spPr>
          <a:xfrm flipH="1">
            <a:off x="0" y="5356505"/>
            <a:ext cx="12192000" cy="0"/>
          </a:xfrm>
          <a:prstGeom prst="straightConnector1">
            <a:avLst/>
          </a:prstGeom>
          <a:noFill/>
          <a:ln w="9525" cap="flat" cmpd="sng">
            <a:solidFill>
              <a:srgbClr val="BFBFBF"/>
            </a:solidFill>
            <a:prstDash val="dash"/>
            <a:miter lim="800000"/>
            <a:headEnd type="none" w="sm" len="sm"/>
            <a:tailEnd type="none" w="sm" len="sm"/>
          </a:ln>
        </p:spPr>
      </p:cxnSp>
      <p:pic>
        <p:nvPicPr>
          <p:cNvPr id="15" name="Picture 14" descr="A logo with a blue arrow pointing up&#10;&#10;Description automatically generated">
            <a:extLst>
              <a:ext uri="{FF2B5EF4-FFF2-40B4-BE49-F238E27FC236}">
                <a16:creationId xmlns:a16="http://schemas.microsoft.com/office/drawing/2014/main" id="{C2A458B6-3428-7120-C684-8858623E90C9}"/>
              </a:ext>
            </a:extLst>
          </p:cNvPr>
          <p:cNvPicPr>
            <a:picLocks noChangeAspect="1"/>
          </p:cNvPicPr>
          <p:nvPr/>
        </p:nvPicPr>
        <p:blipFill rotWithShape="1">
          <a:blip r:embed="rId7"/>
          <a:srcRect l="9248" r="27480" b="47937"/>
          <a:stretch/>
        </p:blipFill>
        <p:spPr>
          <a:xfrm>
            <a:off x="11097352" y="30644"/>
            <a:ext cx="1012989" cy="830400"/>
          </a:xfrm>
          <a:prstGeom prst="rect">
            <a:avLst/>
          </a:prstGeom>
        </p:spPr>
      </p:pic>
      <p:sp>
        <p:nvSpPr>
          <p:cNvPr id="17" name="TextBox 16">
            <a:extLst>
              <a:ext uri="{FF2B5EF4-FFF2-40B4-BE49-F238E27FC236}">
                <a16:creationId xmlns:a16="http://schemas.microsoft.com/office/drawing/2014/main" id="{C9B716B3-359A-DCE5-7031-25350865DDCE}"/>
              </a:ext>
            </a:extLst>
          </p:cNvPr>
          <p:cNvSpPr txBox="1"/>
          <p:nvPr/>
        </p:nvSpPr>
        <p:spPr>
          <a:xfrm>
            <a:off x="4243336" y="1269055"/>
            <a:ext cx="2081581"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10K+ </a:t>
            </a:r>
          </a:p>
          <a:p>
            <a:r>
              <a:rPr lang="en" sz="1333" b="1" dirty="0">
                <a:solidFill>
                  <a:srgbClr val="262626"/>
                </a:solidFill>
                <a:latin typeface="Montserrat" pitchFamily="2" charset="77"/>
                <a:sym typeface="Libre Franklin"/>
              </a:rPr>
              <a:t>CAMPAIGNS</a:t>
            </a:r>
            <a:endParaRPr lang="en-US" sz="1333" dirty="0">
              <a:latin typeface="Montserrat" pitchFamily="2" charset="77"/>
            </a:endParaRPr>
          </a:p>
        </p:txBody>
      </p:sp>
      <p:sp>
        <p:nvSpPr>
          <p:cNvPr id="18" name="TextBox 17">
            <a:extLst>
              <a:ext uri="{FF2B5EF4-FFF2-40B4-BE49-F238E27FC236}">
                <a16:creationId xmlns:a16="http://schemas.microsoft.com/office/drawing/2014/main" id="{021544D4-1BD7-1B0C-A2A2-D9EE2CCFB2CE}"/>
              </a:ext>
            </a:extLst>
          </p:cNvPr>
          <p:cNvSpPr txBox="1"/>
          <p:nvPr/>
        </p:nvSpPr>
        <p:spPr>
          <a:xfrm>
            <a:off x="6522312" y="1274157"/>
            <a:ext cx="2081581"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500K+ </a:t>
            </a:r>
          </a:p>
          <a:p>
            <a:r>
              <a:rPr lang="en" sz="1333" b="1" dirty="0">
                <a:solidFill>
                  <a:srgbClr val="262626"/>
                </a:solidFill>
                <a:latin typeface="Montserrat" pitchFamily="2" charset="77"/>
                <a:sym typeface="Libre Franklin"/>
              </a:rPr>
              <a:t>CONVERSIONS</a:t>
            </a:r>
            <a:endParaRPr lang="en-US" sz="1333" dirty="0">
              <a:latin typeface="Montserrat" pitchFamily="2" charset="77"/>
            </a:endParaRPr>
          </a:p>
        </p:txBody>
      </p:sp>
      <p:sp>
        <p:nvSpPr>
          <p:cNvPr id="19" name="TextBox 18">
            <a:extLst>
              <a:ext uri="{FF2B5EF4-FFF2-40B4-BE49-F238E27FC236}">
                <a16:creationId xmlns:a16="http://schemas.microsoft.com/office/drawing/2014/main" id="{AE496994-C7EC-AFF8-BE1E-F3DFE3BF136D}"/>
              </a:ext>
            </a:extLst>
          </p:cNvPr>
          <p:cNvSpPr txBox="1"/>
          <p:nvPr/>
        </p:nvSpPr>
        <p:spPr>
          <a:xfrm>
            <a:off x="8801287" y="1268277"/>
            <a:ext cx="2414343"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100M+ </a:t>
            </a:r>
          </a:p>
          <a:p>
            <a:r>
              <a:rPr lang="en-US" sz="1333" b="1" dirty="0">
                <a:latin typeface="Montserrat" pitchFamily="2" charset="77"/>
              </a:rPr>
              <a:t>REVENUE GENERATED</a:t>
            </a:r>
          </a:p>
        </p:txBody>
      </p:sp>
      <p:sp>
        <p:nvSpPr>
          <p:cNvPr id="20" name="TextBox 19">
            <a:extLst>
              <a:ext uri="{FF2B5EF4-FFF2-40B4-BE49-F238E27FC236}">
                <a16:creationId xmlns:a16="http://schemas.microsoft.com/office/drawing/2014/main" id="{EFA9A834-21F6-3639-7E5F-D7F519314E98}"/>
              </a:ext>
            </a:extLst>
          </p:cNvPr>
          <p:cNvSpPr txBox="1"/>
          <p:nvPr/>
        </p:nvSpPr>
        <p:spPr>
          <a:xfrm>
            <a:off x="4342034" y="2816701"/>
            <a:ext cx="2081581"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2K+ </a:t>
            </a:r>
          </a:p>
          <a:p>
            <a:r>
              <a:rPr lang="en" sz="1333" b="1" dirty="0">
                <a:solidFill>
                  <a:srgbClr val="262626"/>
                </a:solidFill>
                <a:latin typeface="Montserrat" pitchFamily="2" charset="77"/>
                <a:sym typeface="Libre Franklin"/>
              </a:rPr>
              <a:t>CAMPAIGNS</a:t>
            </a:r>
            <a:endParaRPr lang="en-US" sz="1333" dirty="0">
              <a:latin typeface="Montserrat" pitchFamily="2" charset="77"/>
            </a:endParaRPr>
          </a:p>
        </p:txBody>
      </p:sp>
      <p:sp>
        <p:nvSpPr>
          <p:cNvPr id="21" name="TextBox 20">
            <a:extLst>
              <a:ext uri="{FF2B5EF4-FFF2-40B4-BE49-F238E27FC236}">
                <a16:creationId xmlns:a16="http://schemas.microsoft.com/office/drawing/2014/main" id="{2DDC3181-8699-FF25-ED1A-5818078D0901}"/>
              </a:ext>
            </a:extLst>
          </p:cNvPr>
          <p:cNvSpPr txBox="1"/>
          <p:nvPr/>
        </p:nvSpPr>
        <p:spPr>
          <a:xfrm>
            <a:off x="6621010" y="2821804"/>
            <a:ext cx="2081581"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300K+ </a:t>
            </a:r>
          </a:p>
          <a:p>
            <a:r>
              <a:rPr lang="en" sz="1333" b="1" dirty="0">
                <a:solidFill>
                  <a:srgbClr val="262626"/>
                </a:solidFill>
                <a:latin typeface="Montserrat" pitchFamily="2" charset="77"/>
                <a:sym typeface="Libre Franklin"/>
              </a:rPr>
              <a:t>CONVERSIONS</a:t>
            </a:r>
            <a:endParaRPr lang="en-US" sz="1333" dirty="0">
              <a:latin typeface="Montserrat" pitchFamily="2" charset="77"/>
            </a:endParaRPr>
          </a:p>
        </p:txBody>
      </p:sp>
      <p:sp>
        <p:nvSpPr>
          <p:cNvPr id="22" name="TextBox 21">
            <a:extLst>
              <a:ext uri="{FF2B5EF4-FFF2-40B4-BE49-F238E27FC236}">
                <a16:creationId xmlns:a16="http://schemas.microsoft.com/office/drawing/2014/main" id="{CD8AAAF1-136E-7122-26D6-A0A15E7BFC11}"/>
              </a:ext>
            </a:extLst>
          </p:cNvPr>
          <p:cNvSpPr txBox="1"/>
          <p:nvPr/>
        </p:nvSpPr>
        <p:spPr>
          <a:xfrm>
            <a:off x="8899985" y="2815924"/>
            <a:ext cx="2315644"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60M+ </a:t>
            </a:r>
          </a:p>
          <a:p>
            <a:r>
              <a:rPr lang="en" sz="1333" b="1" dirty="0">
                <a:solidFill>
                  <a:srgbClr val="262626"/>
                </a:solidFill>
                <a:latin typeface="Montserrat" pitchFamily="2" charset="77"/>
                <a:sym typeface="Libre Franklin"/>
              </a:rPr>
              <a:t>REVENUE GENERATED</a:t>
            </a:r>
            <a:endParaRPr lang="en-US" sz="1333" dirty="0">
              <a:latin typeface="Montserrat" pitchFamily="2" charset="77"/>
            </a:endParaRPr>
          </a:p>
        </p:txBody>
      </p:sp>
      <p:sp>
        <p:nvSpPr>
          <p:cNvPr id="23" name="TextBox 22">
            <a:extLst>
              <a:ext uri="{FF2B5EF4-FFF2-40B4-BE49-F238E27FC236}">
                <a16:creationId xmlns:a16="http://schemas.microsoft.com/office/drawing/2014/main" id="{E8F25977-EE37-3BCE-F28B-FCC49587C01E}"/>
              </a:ext>
            </a:extLst>
          </p:cNvPr>
          <p:cNvSpPr txBox="1"/>
          <p:nvPr/>
        </p:nvSpPr>
        <p:spPr>
          <a:xfrm>
            <a:off x="4342034" y="4253895"/>
            <a:ext cx="2081581"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20K+ </a:t>
            </a:r>
          </a:p>
          <a:p>
            <a:r>
              <a:rPr lang="en" sz="1333" b="1" dirty="0">
                <a:solidFill>
                  <a:srgbClr val="262626"/>
                </a:solidFill>
                <a:latin typeface="Montserrat" pitchFamily="2" charset="77"/>
                <a:sym typeface="Libre Franklin"/>
              </a:rPr>
              <a:t>CAMPAIGNS</a:t>
            </a:r>
            <a:endParaRPr lang="en-US" sz="1333" dirty="0">
              <a:latin typeface="Montserrat" pitchFamily="2" charset="77"/>
            </a:endParaRPr>
          </a:p>
        </p:txBody>
      </p:sp>
      <p:sp>
        <p:nvSpPr>
          <p:cNvPr id="24" name="TextBox 23">
            <a:extLst>
              <a:ext uri="{FF2B5EF4-FFF2-40B4-BE49-F238E27FC236}">
                <a16:creationId xmlns:a16="http://schemas.microsoft.com/office/drawing/2014/main" id="{C749557E-C5DC-68EF-FF6A-5324F856E65A}"/>
              </a:ext>
            </a:extLst>
          </p:cNvPr>
          <p:cNvSpPr txBox="1"/>
          <p:nvPr/>
        </p:nvSpPr>
        <p:spPr>
          <a:xfrm>
            <a:off x="6621010" y="4258997"/>
            <a:ext cx="2081581"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1M+ </a:t>
            </a:r>
          </a:p>
          <a:p>
            <a:r>
              <a:rPr lang="en" sz="1333" b="1" dirty="0">
                <a:solidFill>
                  <a:srgbClr val="262626"/>
                </a:solidFill>
                <a:latin typeface="Montserrat" pitchFamily="2" charset="77"/>
                <a:sym typeface="Libre Franklin"/>
              </a:rPr>
              <a:t>CONVERSIONS</a:t>
            </a:r>
            <a:endParaRPr lang="en-US" sz="1333" dirty="0">
              <a:latin typeface="Montserrat" pitchFamily="2" charset="77"/>
            </a:endParaRPr>
          </a:p>
        </p:txBody>
      </p:sp>
      <p:sp>
        <p:nvSpPr>
          <p:cNvPr id="25" name="TextBox 24">
            <a:extLst>
              <a:ext uri="{FF2B5EF4-FFF2-40B4-BE49-F238E27FC236}">
                <a16:creationId xmlns:a16="http://schemas.microsoft.com/office/drawing/2014/main" id="{321A73E9-B1A9-672B-AAAF-D0E2D1F489E9}"/>
              </a:ext>
            </a:extLst>
          </p:cNvPr>
          <p:cNvSpPr txBox="1"/>
          <p:nvPr/>
        </p:nvSpPr>
        <p:spPr>
          <a:xfrm>
            <a:off x="8899985" y="4253117"/>
            <a:ext cx="2315643"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500M+ </a:t>
            </a:r>
          </a:p>
          <a:p>
            <a:r>
              <a:rPr lang="en" sz="1333" b="1" dirty="0">
                <a:solidFill>
                  <a:srgbClr val="262626"/>
                </a:solidFill>
                <a:latin typeface="Montserrat" pitchFamily="2" charset="77"/>
                <a:sym typeface="Libre Franklin"/>
              </a:rPr>
              <a:t>REVENUE GENERATED</a:t>
            </a:r>
            <a:endParaRPr lang="en-US" sz="1333" dirty="0">
              <a:latin typeface="Montserrat" pitchFamily="2" charset="77"/>
            </a:endParaRPr>
          </a:p>
        </p:txBody>
      </p:sp>
      <p:sp>
        <p:nvSpPr>
          <p:cNvPr id="26" name="TextBox 25">
            <a:extLst>
              <a:ext uri="{FF2B5EF4-FFF2-40B4-BE49-F238E27FC236}">
                <a16:creationId xmlns:a16="http://schemas.microsoft.com/office/drawing/2014/main" id="{2EC4684A-6E5B-24AF-F7D4-4BEF493480EB}"/>
              </a:ext>
            </a:extLst>
          </p:cNvPr>
          <p:cNvSpPr txBox="1"/>
          <p:nvPr/>
        </p:nvSpPr>
        <p:spPr>
          <a:xfrm>
            <a:off x="4342034" y="5580739"/>
            <a:ext cx="2081581"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200+ </a:t>
            </a:r>
          </a:p>
          <a:p>
            <a:r>
              <a:rPr lang="en" sz="1333" b="1" dirty="0">
                <a:solidFill>
                  <a:srgbClr val="262626"/>
                </a:solidFill>
                <a:latin typeface="Montserrat" pitchFamily="2" charset="77"/>
                <a:sym typeface="Libre Franklin"/>
              </a:rPr>
              <a:t>CAMPAIGNS</a:t>
            </a:r>
            <a:endParaRPr lang="en-US" sz="1333" dirty="0">
              <a:latin typeface="Montserrat" pitchFamily="2" charset="77"/>
            </a:endParaRPr>
          </a:p>
        </p:txBody>
      </p:sp>
      <p:sp>
        <p:nvSpPr>
          <p:cNvPr id="27" name="TextBox 26">
            <a:extLst>
              <a:ext uri="{FF2B5EF4-FFF2-40B4-BE49-F238E27FC236}">
                <a16:creationId xmlns:a16="http://schemas.microsoft.com/office/drawing/2014/main" id="{FCA516A8-1C62-F1FF-E06F-8DC9EA7CD2E0}"/>
              </a:ext>
            </a:extLst>
          </p:cNvPr>
          <p:cNvSpPr txBox="1"/>
          <p:nvPr/>
        </p:nvSpPr>
        <p:spPr>
          <a:xfrm>
            <a:off x="6621010" y="5585841"/>
            <a:ext cx="2081581"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10K+ </a:t>
            </a:r>
          </a:p>
          <a:p>
            <a:r>
              <a:rPr lang="en" sz="1333" b="1" dirty="0">
                <a:solidFill>
                  <a:srgbClr val="262626"/>
                </a:solidFill>
                <a:latin typeface="Montserrat" pitchFamily="2" charset="77"/>
                <a:sym typeface="Libre Franklin"/>
              </a:rPr>
              <a:t>CONVERSIONS</a:t>
            </a:r>
            <a:endParaRPr lang="en-US" sz="1333" dirty="0">
              <a:latin typeface="Montserrat" pitchFamily="2" charset="77"/>
            </a:endParaRPr>
          </a:p>
        </p:txBody>
      </p:sp>
      <p:sp>
        <p:nvSpPr>
          <p:cNvPr id="28" name="TextBox 27">
            <a:extLst>
              <a:ext uri="{FF2B5EF4-FFF2-40B4-BE49-F238E27FC236}">
                <a16:creationId xmlns:a16="http://schemas.microsoft.com/office/drawing/2014/main" id="{8E019C64-9326-BA6B-8039-704864031CB3}"/>
              </a:ext>
            </a:extLst>
          </p:cNvPr>
          <p:cNvSpPr txBox="1"/>
          <p:nvPr/>
        </p:nvSpPr>
        <p:spPr>
          <a:xfrm>
            <a:off x="8899985" y="5579962"/>
            <a:ext cx="2489817" cy="789896"/>
          </a:xfrm>
          <a:prstGeom prst="rect">
            <a:avLst/>
          </a:prstGeom>
          <a:noFill/>
        </p:spPr>
        <p:txBody>
          <a:bodyPr wrap="square">
            <a:spAutoFit/>
          </a:bodyPr>
          <a:lstStyle/>
          <a:p>
            <a:r>
              <a:rPr lang="en" sz="3200" b="1" dirty="0">
                <a:solidFill>
                  <a:srgbClr val="262626"/>
                </a:solidFill>
                <a:latin typeface="Montserrat" pitchFamily="2" charset="77"/>
                <a:sym typeface="Libre Franklin"/>
              </a:rPr>
              <a:t>1000+HRS </a:t>
            </a:r>
          </a:p>
          <a:p>
            <a:r>
              <a:rPr lang="en" sz="1333" b="1" dirty="0">
                <a:solidFill>
                  <a:srgbClr val="262626"/>
                </a:solidFill>
                <a:latin typeface="Montserrat" pitchFamily="2" charset="77"/>
                <a:sym typeface="Libre Franklin"/>
              </a:rPr>
              <a:t>RESOURCE COST SAVED</a:t>
            </a:r>
            <a:endParaRPr lang="en-US" sz="1333" dirty="0">
              <a:latin typeface="Montserrat" pitchFamily="2" charset="77"/>
            </a:endParaRPr>
          </a:p>
        </p:txBody>
      </p:sp>
    </p:spTree>
    <p:extLst>
      <p:ext uri="{BB962C8B-B14F-4D97-AF65-F5344CB8AC3E}">
        <p14:creationId xmlns:p14="http://schemas.microsoft.com/office/powerpoint/2010/main" val="145211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55"/>
          <p:cNvSpPr/>
          <p:nvPr/>
        </p:nvSpPr>
        <p:spPr>
          <a:xfrm>
            <a:off x="-403560" y="2183040"/>
            <a:ext cx="12720400" cy="2492000"/>
          </a:xfrm>
          <a:prstGeom prst="rect">
            <a:avLst/>
          </a:prstGeom>
          <a:solidFill>
            <a:srgbClr val="8DA9DB"/>
          </a:solidFill>
          <a:ln w="76300" cap="flat" cmpd="sng">
            <a:solidFill>
              <a:schemeClr val="lt1"/>
            </a:solidFill>
            <a:prstDash val="solid"/>
            <a:miter lim="800000"/>
            <a:headEnd type="none" w="sm" len="sm"/>
            <a:tailEnd type="none" w="sm" len="sm"/>
          </a:ln>
        </p:spPr>
        <p:txBody>
          <a:bodyPr spcFirstLastPara="1" wrap="square" lIns="91433" tIns="91433" rIns="91433" bIns="91433" anchor="ctr" anchorCtr="0">
            <a:noAutofit/>
          </a:bodyPr>
          <a:lstStyle/>
          <a:p>
            <a:endParaRPr sz="2400">
              <a:latin typeface="Montserrat" pitchFamily="2" charset="77"/>
            </a:endParaRPr>
          </a:p>
        </p:txBody>
      </p:sp>
      <p:sp>
        <p:nvSpPr>
          <p:cNvPr id="382" name="Google Shape;382;p55"/>
          <p:cNvSpPr txBox="1"/>
          <p:nvPr/>
        </p:nvSpPr>
        <p:spPr>
          <a:xfrm>
            <a:off x="108857" y="2847420"/>
            <a:ext cx="11139915" cy="1163200"/>
          </a:xfrm>
          <a:prstGeom prst="rect">
            <a:avLst/>
          </a:prstGeom>
          <a:noFill/>
          <a:ln>
            <a:noFill/>
          </a:ln>
        </p:spPr>
        <p:txBody>
          <a:bodyPr spcFirstLastPara="1" wrap="square" lIns="91433" tIns="45700" rIns="91433" bIns="45700" anchor="ctr" anchorCtr="0">
            <a:noAutofit/>
          </a:bodyPr>
          <a:lstStyle/>
          <a:p>
            <a:pPr>
              <a:lnSpc>
                <a:spcPct val="90000"/>
              </a:lnSpc>
            </a:pPr>
            <a:r>
              <a:rPr lang="en-IN" sz="3200" b="1" dirty="0">
                <a:solidFill>
                  <a:srgbClr val="FFFFFF"/>
                </a:solidFill>
                <a:latin typeface="Montserrat" pitchFamily="2" charset="77"/>
                <a:ea typeface="Calibri"/>
                <a:cs typeface="Libre Franklin Medium"/>
                <a:sym typeface="Libre Franklin Medium"/>
              </a:rPr>
              <a:t>MARKETING STRATEGY FOR </a:t>
            </a:r>
          </a:p>
          <a:p>
            <a:pPr>
              <a:lnSpc>
                <a:spcPct val="90000"/>
              </a:lnSpc>
            </a:pPr>
            <a:r>
              <a:rPr lang="en-IN" sz="3200" b="1" u="sng" dirty="0">
                <a:solidFill>
                  <a:srgbClr val="FFFFFF"/>
                </a:solidFill>
                <a:latin typeface="Montserrat" pitchFamily="2" charset="77"/>
                <a:ea typeface="Calibri"/>
                <a:cs typeface="Libre Franklin Medium"/>
                <a:sym typeface="Libre Franklin Medium"/>
              </a:rPr>
              <a:t>PADMAVATI CONSTRUCTION</a:t>
            </a:r>
          </a:p>
        </p:txBody>
      </p:sp>
      <p:pic>
        <p:nvPicPr>
          <p:cNvPr id="2" name="Picture 1" descr="A logo with a blue arrow pointing up&#10;&#10;Description automatically generated">
            <a:extLst>
              <a:ext uri="{FF2B5EF4-FFF2-40B4-BE49-F238E27FC236}">
                <a16:creationId xmlns:a16="http://schemas.microsoft.com/office/drawing/2014/main" id="{4761A94B-3A6B-A13B-9308-2111C4CF9500}"/>
              </a:ext>
            </a:extLst>
          </p:cNvPr>
          <p:cNvPicPr>
            <a:picLocks noChangeAspect="1"/>
          </p:cNvPicPr>
          <p:nvPr/>
        </p:nvPicPr>
        <p:blipFill rotWithShape="1">
          <a:blip r:embed="rId3"/>
          <a:srcRect l="9248" r="27480" b="47937"/>
          <a:stretch/>
        </p:blipFill>
        <p:spPr>
          <a:xfrm>
            <a:off x="11097352" y="30644"/>
            <a:ext cx="1012989" cy="830400"/>
          </a:xfrm>
          <a:prstGeom prst="rect">
            <a:avLst/>
          </a:prstGeom>
        </p:spPr>
      </p:pic>
      <p:sp>
        <p:nvSpPr>
          <p:cNvPr id="3" name="Google Shape;201;p41">
            <a:extLst>
              <a:ext uri="{FF2B5EF4-FFF2-40B4-BE49-F238E27FC236}">
                <a16:creationId xmlns:a16="http://schemas.microsoft.com/office/drawing/2014/main" id="{04B9A738-3470-E4C3-F47C-E82F9EC3D7C7}"/>
              </a:ext>
            </a:extLst>
          </p:cNvPr>
          <p:cNvSpPr txBox="1"/>
          <p:nvPr/>
        </p:nvSpPr>
        <p:spPr>
          <a:xfrm>
            <a:off x="123460" y="5863178"/>
            <a:ext cx="7679421" cy="861721"/>
          </a:xfrm>
          <a:prstGeom prst="rect">
            <a:avLst/>
          </a:prstGeom>
          <a:noFill/>
          <a:ln>
            <a:noFill/>
          </a:ln>
        </p:spPr>
        <p:txBody>
          <a:bodyPr spcFirstLastPara="1" wrap="square" lIns="91433" tIns="45700" rIns="91433" bIns="45700" anchor="t" anchorCtr="0">
            <a:noAutofit/>
          </a:bodyPr>
          <a:lstStyle/>
          <a:p>
            <a:pPr algn="just">
              <a:spcBef>
                <a:spcPts val="1067"/>
              </a:spcBef>
              <a:buSzPts val="1200"/>
            </a:pPr>
            <a:endParaRPr sz="1200" b="1" i="1" dirty="0">
              <a:latin typeface="Montserrat" pitchFamily="2" charset="77"/>
            </a:endParaRPr>
          </a:p>
        </p:txBody>
      </p:sp>
      <p:sp>
        <p:nvSpPr>
          <p:cNvPr id="4" name="Google Shape;203;p41">
            <a:extLst>
              <a:ext uri="{FF2B5EF4-FFF2-40B4-BE49-F238E27FC236}">
                <a16:creationId xmlns:a16="http://schemas.microsoft.com/office/drawing/2014/main" id="{C0490230-7DD3-3356-04B1-6FE93787A758}"/>
              </a:ext>
            </a:extLst>
          </p:cNvPr>
          <p:cNvSpPr/>
          <p:nvPr/>
        </p:nvSpPr>
        <p:spPr>
          <a:xfrm>
            <a:off x="0" y="6597749"/>
            <a:ext cx="12192000" cy="260252"/>
          </a:xfrm>
          <a:prstGeom prst="rect">
            <a:avLst/>
          </a:prstGeom>
          <a:solidFill>
            <a:srgbClr val="8DA9DB"/>
          </a:solidFill>
          <a:ln>
            <a:noFill/>
          </a:ln>
        </p:spPr>
        <p:txBody>
          <a:bodyPr spcFirstLastPara="1" wrap="square" lIns="91433" tIns="45700" rIns="91433" bIns="45700" anchor="ctr" anchorCtr="0">
            <a:noAutofit/>
          </a:bodyPr>
          <a:lstStyle/>
          <a:p>
            <a:pPr algn="ctr">
              <a:buClr>
                <a:schemeClr val="dk1"/>
              </a:buClr>
              <a:buSzPts val="900"/>
            </a:pPr>
            <a:r>
              <a:rPr lang="en" sz="1200" b="1" dirty="0">
                <a:solidFill>
                  <a:schemeClr val="dk1"/>
                </a:solidFill>
                <a:latin typeface="Montserrat" pitchFamily="2" charset="77"/>
                <a:ea typeface="Libre Franklin"/>
                <a:cs typeface="Libre Franklin"/>
                <a:sym typeface="Libre Franklin"/>
              </a:rPr>
              <a:t>Confidential @ </a:t>
            </a:r>
            <a:r>
              <a:rPr lang="en-IN" sz="1200" b="1" dirty="0" err="1">
                <a:solidFill>
                  <a:schemeClr val="dk1"/>
                </a:solidFill>
                <a:latin typeface="Montserrat" pitchFamily="2" charset="77"/>
                <a:ea typeface="Libre Franklin"/>
                <a:cs typeface="Libre Franklin"/>
                <a:sym typeface="Libre Franklin"/>
              </a:rPr>
              <a:t>Digifyce</a:t>
            </a:r>
            <a:endParaRPr sz="1200" b="1" dirty="0">
              <a:solidFill>
                <a:schemeClr val="dk1"/>
              </a:solidFill>
              <a:latin typeface="Montserrat" pitchFamily="2" charset="77"/>
              <a:ea typeface="Libre Franklin"/>
              <a:cs typeface="Libre Franklin"/>
              <a:sym typeface="Libre Frankli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CustomShape 1"/>
          <p:cNvSpPr/>
          <p:nvPr/>
        </p:nvSpPr>
        <p:spPr>
          <a:xfrm>
            <a:off x="87120" y="116280"/>
            <a:ext cx="12002040" cy="626040"/>
          </a:xfrm>
          <a:prstGeom prst="rect">
            <a:avLst/>
          </a:prstGeom>
          <a:solidFill>
            <a:schemeClr val="accent1">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IN" sz="2400" b="1" strike="noStrike" spc="-1" dirty="0">
                <a:solidFill>
                  <a:srgbClr val="FFFFFF"/>
                </a:solidFill>
                <a:latin typeface="Franklin Gothic Book"/>
                <a:ea typeface="DejaVu Sans"/>
              </a:rPr>
              <a:t>LEADS ACQUISITION STRATEGY FOR CONSTRUCTION - FIRST QUARTER</a:t>
            </a:r>
            <a:endParaRPr lang="en-IN" sz="2400" b="0" strike="noStrike" spc="-1" dirty="0">
              <a:latin typeface="Arial"/>
            </a:endParaRPr>
          </a:p>
        </p:txBody>
      </p:sp>
      <p:sp>
        <p:nvSpPr>
          <p:cNvPr id="161" name="CustomShape 2"/>
          <p:cNvSpPr/>
          <p:nvPr/>
        </p:nvSpPr>
        <p:spPr>
          <a:xfrm>
            <a:off x="590040" y="1255210"/>
            <a:ext cx="3354480" cy="873856"/>
          </a:xfrm>
          <a:prstGeom prst="frame">
            <a:avLst>
              <a:gd name="adj1" fmla="val 12500"/>
            </a:avLst>
          </a:prstGeom>
          <a:solidFill>
            <a:schemeClr val="bg2"/>
          </a:solidFill>
          <a:ln w="25560">
            <a:solidFill>
              <a:srgbClr val="808080"/>
            </a:solidFill>
            <a:round/>
          </a:ln>
        </p:spPr>
        <p:style>
          <a:lnRef idx="0">
            <a:scrgbClr r="0" g="0" b="0"/>
          </a:lnRef>
          <a:fillRef idx="0">
            <a:scrgbClr r="0" g="0" b="0"/>
          </a:fillRef>
          <a:effectRef idx="0">
            <a:scrgbClr r="0" g="0" b="0"/>
          </a:effectRef>
          <a:fontRef idx="minor"/>
        </p:style>
      </p:sp>
      <p:sp>
        <p:nvSpPr>
          <p:cNvPr id="162" name="CustomShape 3"/>
          <p:cNvSpPr/>
          <p:nvPr/>
        </p:nvSpPr>
        <p:spPr>
          <a:xfrm>
            <a:off x="865440" y="1406293"/>
            <a:ext cx="241776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1" strike="noStrike" spc="-1" dirty="0">
                <a:solidFill>
                  <a:srgbClr val="000000"/>
                </a:solidFill>
                <a:latin typeface="Franklin Gothic Book"/>
                <a:ea typeface="DejaVu Sans"/>
              </a:rPr>
              <a:t>COMPETITION &amp; BUSINESS MODEL</a:t>
            </a:r>
            <a:endParaRPr lang="en-IN" sz="1400" b="0" strike="noStrike" spc="-1" dirty="0">
              <a:latin typeface="Arial"/>
            </a:endParaRPr>
          </a:p>
        </p:txBody>
      </p:sp>
      <p:sp>
        <p:nvSpPr>
          <p:cNvPr id="163" name="CustomShape 4"/>
          <p:cNvSpPr/>
          <p:nvPr/>
        </p:nvSpPr>
        <p:spPr>
          <a:xfrm>
            <a:off x="4392720" y="1255210"/>
            <a:ext cx="3354480" cy="873856"/>
          </a:xfrm>
          <a:prstGeom prst="frame">
            <a:avLst>
              <a:gd name="adj1" fmla="val 12500"/>
            </a:avLst>
          </a:prstGeom>
          <a:solidFill>
            <a:schemeClr val="bg2"/>
          </a:solidFill>
          <a:ln w="25560">
            <a:solidFill>
              <a:srgbClr val="808080"/>
            </a:solidFill>
            <a:round/>
          </a:ln>
        </p:spPr>
        <p:style>
          <a:lnRef idx="0">
            <a:scrgbClr r="0" g="0" b="0"/>
          </a:lnRef>
          <a:fillRef idx="0">
            <a:scrgbClr r="0" g="0" b="0"/>
          </a:fillRef>
          <a:effectRef idx="0">
            <a:scrgbClr r="0" g="0" b="0"/>
          </a:effectRef>
          <a:fontRef idx="minor"/>
        </p:style>
      </p:sp>
      <p:sp>
        <p:nvSpPr>
          <p:cNvPr id="164" name="CustomShape 5"/>
          <p:cNvSpPr/>
          <p:nvPr/>
        </p:nvSpPr>
        <p:spPr>
          <a:xfrm>
            <a:off x="4642920" y="1409533"/>
            <a:ext cx="204516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1" strike="noStrike" spc="-1" dirty="0">
                <a:solidFill>
                  <a:srgbClr val="000000"/>
                </a:solidFill>
                <a:latin typeface="Franklin Gothic Book"/>
                <a:ea typeface="DejaVu Sans"/>
              </a:rPr>
              <a:t>POA &amp; BUDGET STRATEGY</a:t>
            </a:r>
            <a:endParaRPr lang="en-IN" sz="1400" b="0" strike="noStrike" spc="-1" dirty="0">
              <a:latin typeface="Arial"/>
            </a:endParaRPr>
          </a:p>
        </p:txBody>
      </p:sp>
      <p:sp>
        <p:nvSpPr>
          <p:cNvPr id="165" name="CustomShape 6"/>
          <p:cNvSpPr/>
          <p:nvPr/>
        </p:nvSpPr>
        <p:spPr>
          <a:xfrm>
            <a:off x="8166600" y="1255210"/>
            <a:ext cx="3354480" cy="873856"/>
          </a:xfrm>
          <a:prstGeom prst="frame">
            <a:avLst>
              <a:gd name="adj1" fmla="val 12500"/>
            </a:avLst>
          </a:prstGeom>
          <a:solidFill>
            <a:schemeClr val="bg2"/>
          </a:solidFill>
          <a:ln w="25560">
            <a:solidFill>
              <a:srgbClr val="808080"/>
            </a:solidFill>
            <a:round/>
          </a:ln>
        </p:spPr>
        <p:style>
          <a:lnRef idx="0">
            <a:scrgbClr r="0" g="0" b="0"/>
          </a:lnRef>
          <a:fillRef idx="0">
            <a:scrgbClr r="0" g="0" b="0"/>
          </a:fillRef>
          <a:effectRef idx="0">
            <a:scrgbClr r="0" g="0" b="0"/>
          </a:effectRef>
          <a:fontRef idx="minor"/>
        </p:style>
      </p:sp>
      <p:sp>
        <p:nvSpPr>
          <p:cNvPr id="166" name="CustomShape 7"/>
          <p:cNvSpPr/>
          <p:nvPr/>
        </p:nvSpPr>
        <p:spPr>
          <a:xfrm>
            <a:off x="8442000" y="1409533"/>
            <a:ext cx="27432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1" strike="noStrike" spc="-1" dirty="0">
                <a:solidFill>
                  <a:srgbClr val="000000"/>
                </a:solidFill>
                <a:latin typeface="Franklin Gothic Book"/>
                <a:ea typeface="DejaVu Sans"/>
              </a:rPr>
              <a:t>BUILDING THE PERSONAS &amp; TG ANALYSIS</a:t>
            </a:r>
            <a:endParaRPr lang="en-IN" sz="1400" b="0" strike="noStrike" spc="-1" dirty="0">
              <a:latin typeface="Arial"/>
            </a:endParaRPr>
          </a:p>
        </p:txBody>
      </p:sp>
      <p:sp>
        <p:nvSpPr>
          <p:cNvPr id="167" name="CustomShape 8"/>
          <p:cNvSpPr/>
          <p:nvPr/>
        </p:nvSpPr>
        <p:spPr>
          <a:xfrm>
            <a:off x="590040" y="4709934"/>
            <a:ext cx="3354480" cy="816729"/>
          </a:xfrm>
          <a:prstGeom prst="frame">
            <a:avLst>
              <a:gd name="adj1" fmla="val 12500"/>
            </a:avLst>
          </a:prstGeom>
          <a:solidFill>
            <a:schemeClr val="accent1">
              <a:lumMod val="20000"/>
              <a:lumOff val="80000"/>
            </a:schemeClr>
          </a:solidFill>
          <a:ln w="25560">
            <a:solidFill>
              <a:srgbClr val="808080"/>
            </a:solidFill>
            <a:round/>
          </a:ln>
        </p:spPr>
        <p:style>
          <a:lnRef idx="0">
            <a:scrgbClr r="0" g="0" b="0"/>
          </a:lnRef>
          <a:fillRef idx="0">
            <a:scrgbClr r="0" g="0" b="0"/>
          </a:fillRef>
          <a:effectRef idx="0">
            <a:scrgbClr r="0" g="0" b="0"/>
          </a:effectRef>
          <a:fontRef idx="minor"/>
        </p:style>
      </p:sp>
      <p:sp>
        <p:nvSpPr>
          <p:cNvPr id="168" name="CustomShape 9"/>
          <p:cNvSpPr/>
          <p:nvPr/>
        </p:nvSpPr>
        <p:spPr>
          <a:xfrm>
            <a:off x="865440" y="4883094"/>
            <a:ext cx="259812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1" strike="noStrike" spc="-1" dirty="0">
                <a:solidFill>
                  <a:srgbClr val="000000"/>
                </a:solidFill>
                <a:latin typeface="Franklin Gothic Book"/>
                <a:ea typeface="DejaVu Sans"/>
              </a:rPr>
              <a:t>EMAIL MARKETING - SEQUENCES</a:t>
            </a:r>
            <a:endParaRPr lang="en-IN" sz="1400" b="0" strike="noStrike" spc="-1" dirty="0">
              <a:latin typeface="Arial"/>
            </a:endParaRPr>
          </a:p>
        </p:txBody>
      </p:sp>
      <p:sp>
        <p:nvSpPr>
          <p:cNvPr id="169" name="CustomShape 10"/>
          <p:cNvSpPr/>
          <p:nvPr/>
        </p:nvSpPr>
        <p:spPr>
          <a:xfrm>
            <a:off x="4392720" y="4709934"/>
            <a:ext cx="3354480" cy="816729"/>
          </a:xfrm>
          <a:prstGeom prst="frame">
            <a:avLst>
              <a:gd name="adj1" fmla="val 12500"/>
            </a:avLst>
          </a:prstGeom>
          <a:solidFill>
            <a:schemeClr val="accent1">
              <a:lumMod val="20000"/>
              <a:lumOff val="80000"/>
            </a:schemeClr>
          </a:solidFill>
          <a:ln w="25560">
            <a:solidFill>
              <a:srgbClr val="808080"/>
            </a:solidFill>
            <a:round/>
          </a:ln>
        </p:spPr>
        <p:style>
          <a:lnRef idx="0">
            <a:scrgbClr r="0" g="0" b="0"/>
          </a:lnRef>
          <a:fillRef idx="0">
            <a:scrgbClr r="0" g="0" b="0"/>
          </a:fillRef>
          <a:effectRef idx="0">
            <a:scrgbClr r="0" g="0" b="0"/>
          </a:effectRef>
          <a:fontRef idx="minor"/>
        </p:style>
      </p:sp>
      <p:sp>
        <p:nvSpPr>
          <p:cNvPr id="170" name="CustomShape 11"/>
          <p:cNvSpPr/>
          <p:nvPr/>
        </p:nvSpPr>
        <p:spPr>
          <a:xfrm>
            <a:off x="4587660" y="4883094"/>
            <a:ext cx="301572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1" strike="noStrike" spc="-1" dirty="0">
                <a:solidFill>
                  <a:srgbClr val="000000"/>
                </a:solidFill>
                <a:latin typeface="Franklin Gothic Book"/>
                <a:ea typeface="DejaVu Sans"/>
              </a:rPr>
              <a:t>SEGMENTATIONS, PERSONALISATIONS &amp; AUTOMATIONS </a:t>
            </a:r>
            <a:endParaRPr lang="en-IN" sz="1400" b="0" strike="noStrike" spc="-1" dirty="0">
              <a:latin typeface="Arial"/>
            </a:endParaRPr>
          </a:p>
        </p:txBody>
      </p:sp>
      <p:sp>
        <p:nvSpPr>
          <p:cNvPr id="171" name="CustomShape 12"/>
          <p:cNvSpPr/>
          <p:nvPr/>
        </p:nvSpPr>
        <p:spPr>
          <a:xfrm>
            <a:off x="8166600" y="4709934"/>
            <a:ext cx="3354480" cy="816729"/>
          </a:xfrm>
          <a:prstGeom prst="frame">
            <a:avLst>
              <a:gd name="adj1" fmla="val 12500"/>
            </a:avLst>
          </a:prstGeom>
          <a:solidFill>
            <a:schemeClr val="accent1">
              <a:lumMod val="20000"/>
              <a:lumOff val="80000"/>
            </a:schemeClr>
          </a:solidFill>
          <a:ln w="25560">
            <a:solidFill>
              <a:srgbClr val="808080"/>
            </a:solidFill>
            <a:round/>
          </a:ln>
        </p:spPr>
        <p:style>
          <a:lnRef idx="0">
            <a:scrgbClr r="0" g="0" b="0"/>
          </a:lnRef>
          <a:fillRef idx="0">
            <a:scrgbClr r="0" g="0" b="0"/>
          </a:fillRef>
          <a:effectRef idx="0">
            <a:scrgbClr r="0" g="0" b="0"/>
          </a:effectRef>
          <a:fontRef idx="minor"/>
        </p:style>
      </p:sp>
      <p:sp>
        <p:nvSpPr>
          <p:cNvPr id="172" name="CustomShape 13"/>
          <p:cNvSpPr/>
          <p:nvPr/>
        </p:nvSpPr>
        <p:spPr>
          <a:xfrm>
            <a:off x="8442000" y="4864337"/>
            <a:ext cx="27432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1" strike="noStrike" spc="-1" dirty="0">
                <a:solidFill>
                  <a:srgbClr val="000000"/>
                </a:solidFill>
                <a:latin typeface="Franklin Gothic Book"/>
                <a:ea typeface="DejaVu Sans"/>
              </a:rPr>
              <a:t>TECH SETUPS – HEAT MAPS, ANALYTICS, TAGS, ETC </a:t>
            </a:r>
            <a:endParaRPr lang="en-IN" sz="1400" b="0" strike="noStrike" spc="-1" dirty="0">
              <a:latin typeface="Arial"/>
            </a:endParaRPr>
          </a:p>
        </p:txBody>
      </p:sp>
      <p:sp>
        <p:nvSpPr>
          <p:cNvPr id="173" name="CustomShape 14"/>
          <p:cNvSpPr/>
          <p:nvPr/>
        </p:nvSpPr>
        <p:spPr>
          <a:xfrm>
            <a:off x="590040" y="2987002"/>
            <a:ext cx="3354480" cy="877071"/>
          </a:xfrm>
          <a:prstGeom prst="frame">
            <a:avLst>
              <a:gd name="adj1" fmla="val 12500"/>
            </a:avLst>
          </a:prstGeom>
          <a:solidFill>
            <a:schemeClr val="accent2">
              <a:lumMod val="20000"/>
              <a:lumOff val="80000"/>
            </a:schemeClr>
          </a:solidFill>
          <a:ln w="25560">
            <a:solidFill>
              <a:srgbClr val="808080"/>
            </a:solidFill>
            <a:round/>
          </a:ln>
        </p:spPr>
        <p:style>
          <a:lnRef idx="0">
            <a:scrgbClr r="0" g="0" b="0"/>
          </a:lnRef>
          <a:fillRef idx="0">
            <a:scrgbClr r="0" g="0" b="0"/>
          </a:fillRef>
          <a:effectRef idx="0">
            <a:scrgbClr r="0" g="0" b="0"/>
          </a:effectRef>
          <a:fontRef idx="minor"/>
        </p:style>
      </p:sp>
      <p:sp>
        <p:nvSpPr>
          <p:cNvPr id="174" name="CustomShape 15"/>
          <p:cNvSpPr/>
          <p:nvPr/>
        </p:nvSpPr>
        <p:spPr>
          <a:xfrm>
            <a:off x="4392720" y="2987002"/>
            <a:ext cx="3354480" cy="877071"/>
          </a:xfrm>
          <a:prstGeom prst="frame">
            <a:avLst>
              <a:gd name="adj1" fmla="val 12500"/>
            </a:avLst>
          </a:prstGeom>
          <a:solidFill>
            <a:schemeClr val="accent2">
              <a:lumMod val="20000"/>
              <a:lumOff val="80000"/>
            </a:schemeClr>
          </a:solidFill>
          <a:ln w="25560">
            <a:solidFill>
              <a:srgbClr val="808080"/>
            </a:solidFill>
            <a:round/>
          </a:ln>
        </p:spPr>
        <p:style>
          <a:lnRef idx="0">
            <a:scrgbClr r="0" g="0" b="0"/>
          </a:lnRef>
          <a:fillRef idx="0">
            <a:scrgbClr r="0" g="0" b="0"/>
          </a:fillRef>
          <a:effectRef idx="0">
            <a:scrgbClr r="0" g="0" b="0"/>
          </a:effectRef>
          <a:fontRef idx="minor"/>
        </p:style>
      </p:sp>
      <p:sp>
        <p:nvSpPr>
          <p:cNvPr id="175" name="CustomShape 16"/>
          <p:cNvSpPr/>
          <p:nvPr/>
        </p:nvSpPr>
        <p:spPr>
          <a:xfrm>
            <a:off x="4731840" y="3162322"/>
            <a:ext cx="2572474"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400" b="1" strike="noStrike" spc="-1" dirty="0">
                <a:solidFill>
                  <a:srgbClr val="000000"/>
                </a:solidFill>
                <a:latin typeface="Franklin Gothic Book"/>
              </a:rPr>
              <a:t>SEARCH ENGINE MARKETING – ORGANIC &amp; PAID</a:t>
            </a:r>
            <a:endParaRPr lang="en-IN" sz="1400" b="0" strike="noStrike" spc="-1" dirty="0">
              <a:latin typeface="Arial"/>
            </a:endParaRPr>
          </a:p>
        </p:txBody>
      </p:sp>
      <p:sp>
        <p:nvSpPr>
          <p:cNvPr id="176" name="CustomShape 17"/>
          <p:cNvSpPr/>
          <p:nvPr/>
        </p:nvSpPr>
        <p:spPr>
          <a:xfrm>
            <a:off x="8166600" y="2987002"/>
            <a:ext cx="3354480" cy="877071"/>
          </a:xfrm>
          <a:prstGeom prst="frame">
            <a:avLst>
              <a:gd name="adj1" fmla="val 12500"/>
            </a:avLst>
          </a:prstGeom>
          <a:solidFill>
            <a:schemeClr val="accent2">
              <a:lumMod val="20000"/>
              <a:lumOff val="80000"/>
            </a:schemeClr>
          </a:solidFill>
          <a:ln w="25560">
            <a:solidFill>
              <a:srgbClr val="808080"/>
            </a:solidFill>
            <a:round/>
          </a:ln>
        </p:spPr>
        <p:style>
          <a:lnRef idx="0">
            <a:scrgbClr r="0" g="0" b="0"/>
          </a:lnRef>
          <a:fillRef idx="0">
            <a:scrgbClr r="0" g="0" b="0"/>
          </a:fillRef>
          <a:effectRef idx="0">
            <a:scrgbClr r="0" g="0" b="0"/>
          </a:effectRef>
          <a:fontRef idx="minor"/>
        </p:style>
      </p:sp>
      <p:sp>
        <p:nvSpPr>
          <p:cNvPr id="177" name="CustomShape 18"/>
          <p:cNvSpPr/>
          <p:nvPr/>
        </p:nvSpPr>
        <p:spPr>
          <a:xfrm>
            <a:off x="8516880" y="3171142"/>
            <a:ext cx="3004200" cy="52176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sz="1400" b="1" strike="noStrike" spc="-1" dirty="0">
                <a:solidFill>
                  <a:srgbClr val="000000"/>
                </a:solidFill>
                <a:latin typeface="Franklin Gothic Book"/>
                <a:ea typeface="DejaVu Sans"/>
              </a:rPr>
              <a:t>PERSONALIZED MARKETING – WHATSAPP, SMS, PUSH, EMAIL</a:t>
            </a:r>
            <a:endParaRPr lang="en-IN" sz="1400" b="0" strike="noStrike" spc="-1" dirty="0">
              <a:latin typeface="Arial"/>
            </a:endParaRPr>
          </a:p>
        </p:txBody>
      </p:sp>
      <p:sp>
        <p:nvSpPr>
          <p:cNvPr id="178" name="CustomShape 19"/>
          <p:cNvSpPr/>
          <p:nvPr/>
        </p:nvSpPr>
        <p:spPr>
          <a:xfrm>
            <a:off x="590040" y="5611553"/>
            <a:ext cx="3354480" cy="816729"/>
          </a:xfrm>
          <a:prstGeom prst="frame">
            <a:avLst>
              <a:gd name="adj1" fmla="val 12500"/>
            </a:avLst>
          </a:prstGeom>
          <a:solidFill>
            <a:schemeClr val="accent1">
              <a:lumMod val="20000"/>
              <a:lumOff val="80000"/>
            </a:schemeClr>
          </a:solidFill>
          <a:ln w="25560">
            <a:solidFill>
              <a:srgbClr val="808080"/>
            </a:solidFill>
            <a:round/>
          </a:ln>
        </p:spPr>
        <p:style>
          <a:lnRef idx="0">
            <a:scrgbClr r="0" g="0" b="0"/>
          </a:lnRef>
          <a:fillRef idx="0">
            <a:scrgbClr r="0" g="0" b="0"/>
          </a:fillRef>
          <a:effectRef idx="0">
            <a:scrgbClr r="0" g="0" b="0"/>
          </a:effectRef>
          <a:fontRef idx="minor"/>
        </p:style>
      </p:sp>
      <p:sp>
        <p:nvSpPr>
          <p:cNvPr id="179" name="CustomShape 20"/>
          <p:cNvSpPr/>
          <p:nvPr/>
        </p:nvSpPr>
        <p:spPr>
          <a:xfrm>
            <a:off x="865440" y="5794448"/>
            <a:ext cx="274320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1" strike="noStrike" spc="-1" dirty="0">
                <a:solidFill>
                  <a:srgbClr val="000000"/>
                </a:solidFill>
                <a:latin typeface="Franklin Gothic Book"/>
                <a:ea typeface="DejaVu Sans"/>
              </a:rPr>
              <a:t>LANDING PAGES – </a:t>
            </a:r>
            <a:r>
              <a:rPr lang="en-US" sz="1400" b="1" spc="-1" dirty="0">
                <a:solidFill>
                  <a:srgbClr val="000000"/>
                </a:solidFill>
                <a:latin typeface="Franklin Gothic Book"/>
                <a:ea typeface="DejaVu Sans"/>
              </a:rPr>
              <a:t>EVENT</a:t>
            </a:r>
            <a:r>
              <a:rPr lang="en-US" sz="1400" b="1" strike="noStrike" spc="-1" dirty="0">
                <a:solidFill>
                  <a:srgbClr val="000000"/>
                </a:solidFill>
                <a:latin typeface="Franklin Gothic Book"/>
                <a:ea typeface="DejaVu Sans"/>
              </a:rPr>
              <a:t> SPECIFIC</a:t>
            </a:r>
            <a:endParaRPr lang="en-IN" sz="1400" b="0" strike="noStrike" spc="-1" dirty="0">
              <a:latin typeface="Arial"/>
            </a:endParaRPr>
          </a:p>
        </p:txBody>
      </p:sp>
      <p:sp>
        <p:nvSpPr>
          <p:cNvPr id="180" name="CustomShape 21"/>
          <p:cNvSpPr/>
          <p:nvPr/>
        </p:nvSpPr>
        <p:spPr>
          <a:xfrm>
            <a:off x="4392720" y="5611553"/>
            <a:ext cx="3354480" cy="816729"/>
          </a:xfrm>
          <a:prstGeom prst="frame">
            <a:avLst>
              <a:gd name="adj1" fmla="val 12500"/>
            </a:avLst>
          </a:prstGeom>
          <a:solidFill>
            <a:schemeClr val="accent1">
              <a:lumMod val="20000"/>
              <a:lumOff val="80000"/>
            </a:schemeClr>
          </a:solidFill>
          <a:ln w="25560">
            <a:solidFill>
              <a:srgbClr val="808080"/>
            </a:solidFill>
            <a:round/>
          </a:ln>
        </p:spPr>
        <p:style>
          <a:lnRef idx="0">
            <a:scrgbClr r="0" g="0" b="0"/>
          </a:lnRef>
          <a:fillRef idx="0">
            <a:scrgbClr r="0" g="0" b="0"/>
          </a:fillRef>
          <a:effectRef idx="0">
            <a:scrgbClr r="0" g="0" b="0"/>
          </a:effectRef>
          <a:fontRef idx="minor"/>
        </p:style>
      </p:sp>
      <p:sp>
        <p:nvSpPr>
          <p:cNvPr id="181" name="CustomShape 24"/>
          <p:cNvSpPr/>
          <p:nvPr/>
        </p:nvSpPr>
        <p:spPr>
          <a:xfrm>
            <a:off x="4730760" y="5806328"/>
            <a:ext cx="279756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US" sz="1400" b="1" strike="noStrike" spc="-1" dirty="0">
                <a:solidFill>
                  <a:srgbClr val="000000"/>
                </a:solidFill>
                <a:latin typeface="Franklin Gothic Book"/>
                <a:ea typeface="DejaVu Sans"/>
              </a:rPr>
              <a:t>DATABASE MARKETING &amp; PERSONAS</a:t>
            </a:r>
            <a:endParaRPr lang="en-IN" sz="1400" b="0" strike="noStrike" spc="-1" dirty="0">
              <a:latin typeface="Arial"/>
            </a:endParaRPr>
          </a:p>
        </p:txBody>
      </p:sp>
      <p:sp>
        <p:nvSpPr>
          <p:cNvPr id="182" name="CustomShape 25"/>
          <p:cNvSpPr/>
          <p:nvPr/>
        </p:nvSpPr>
        <p:spPr>
          <a:xfrm>
            <a:off x="8166600" y="5611553"/>
            <a:ext cx="3354480" cy="816729"/>
          </a:xfrm>
          <a:prstGeom prst="frame">
            <a:avLst>
              <a:gd name="adj1" fmla="val 12500"/>
            </a:avLst>
          </a:prstGeom>
          <a:solidFill>
            <a:schemeClr val="accent1">
              <a:lumMod val="20000"/>
              <a:lumOff val="80000"/>
            </a:schemeClr>
          </a:solidFill>
          <a:ln w="25560">
            <a:solidFill>
              <a:srgbClr val="808080"/>
            </a:solidFill>
            <a:round/>
          </a:ln>
        </p:spPr>
        <p:style>
          <a:lnRef idx="0">
            <a:scrgbClr r="0" g="0" b="0"/>
          </a:lnRef>
          <a:fillRef idx="0">
            <a:scrgbClr r="0" g="0" b="0"/>
          </a:fillRef>
          <a:effectRef idx="0">
            <a:scrgbClr r="0" g="0" b="0"/>
          </a:effectRef>
          <a:fontRef idx="minor"/>
        </p:style>
      </p:sp>
      <p:sp>
        <p:nvSpPr>
          <p:cNvPr id="183" name="CustomShape 26"/>
          <p:cNvSpPr/>
          <p:nvPr/>
        </p:nvSpPr>
        <p:spPr>
          <a:xfrm>
            <a:off x="8442000" y="5759034"/>
            <a:ext cx="301572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tabLst>
                <a:tab pos="0" algn="l"/>
              </a:tabLst>
            </a:pPr>
            <a:r>
              <a:rPr lang="en-IN" sz="1400" b="1" strike="noStrike" spc="-1" dirty="0">
                <a:solidFill>
                  <a:srgbClr val="000000"/>
                </a:solidFill>
                <a:latin typeface="Franklin Gothic Book"/>
                <a:ea typeface="DejaVu Sans"/>
              </a:rPr>
              <a:t>BOTS SYSTEMS – CHATBOTS, LINKEDIN BOTS, ETC </a:t>
            </a:r>
            <a:endParaRPr lang="en-IN" sz="1400" b="0" strike="noStrike" spc="-1" dirty="0">
              <a:latin typeface="Arial"/>
            </a:endParaRPr>
          </a:p>
        </p:txBody>
      </p:sp>
      <p:sp>
        <p:nvSpPr>
          <p:cNvPr id="184" name="CustomShape 31"/>
          <p:cNvSpPr/>
          <p:nvPr/>
        </p:nvSpPr>
        <p:spPr>
          <a:xfrm>
            <a:off x="865440" y="3145402"/>
            <a:ext cx="2646360" cy="521766"/>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US" sz="1400" b="1" strike="noStrike" spc="-1" dirty="0">
                <a:solidFill>
                  <a:srgbClr val="000000"/>
                </a:solidFill>
                <a:latin typeface="Franklin Gothic Book"/>
                <a:ea typeface="DejaVu Sans"/>
              </a:rPr>
              <a:t>SOCIAL MEDIA – BRANDING &amp; LEAD GENERATION</a:t>
            </a:r>
            <a:endParaRPr lang="en-IN" sz="1400" b="0" strike="noStrike" spc="-1" dirty="0">
              <a:latin typeface="Arial"/>
            </a:endParaRPr>
          </a:p>
        </p:txBody>
      </p:sp>
      <p:sp>
        <p:nvSpPr>
          <p:cNvPr id="185" name="Rectangle 34"/>
          <p:cNvSpPr/>
          <p:nvPr/>
        </p:nvSpPr>
        <p:spPr>
          <a:xfrm>
            <a:off x="0" y="6597720"/>
            <a:ext cx="12191040" cy="259200"/>
          </a:xfrm>
          <a:prstGeom prst="rect">
            <a:avLst/>
          </a:prstGeom>
          <a:solidFill>
            <a:schemeClr val="accent1">
              <a:lumMod val="60000"/>
              <a:lumOff val="40000"/>
            </a:schemeClr>
          </a:solidFill>
          <a:ln>
            <a:noFill/>
          </a:ln>
        </p:spPr>
        <p:style>
          <a:lnRef idx="2">
            <a:schemeClr val="accent6">
              <a:shade val="50000"/>
            </a:schemeClr>
          </a:lnRef>
          <a:fillRef idx="1">
            <a:schemeClr val="accent6"/>
          </a:fillRef>
          <a:effectRef idx="0">
            <a:schemeClr val="accent6"/>
          </a:effectRef>
          <a:fontRef idx="minor"/>
        </p:style>
        <p:txBody>
          <a:bodyPr lIns="90000" tIns="45000" rIns="90000" bIns="45000" anchor="ctr">
            <a:noAutofit/>
          </a:bodyPr>
          <a:lstStyle/>
          <a:p>
            <a:pPr algn="ctr">
              <a:lnSpc>
                <a:spcPct val="100000"/>
              </a:lnSpc>
              <a:tabLst>
                <a:tab pos="0" algn="l"/>
              </a:tabLst>
            </a:pPr>
            <a:r>
              <a:rPr lang="en-US" sz="1200" b="1" strike="noStrike" spc="-1" dirty="0">
                <a:solidFill>
                  <a:srgbClr val="FFFFFF"/>
                </a:solidFill>
                <a:latin typeface="Franklin Gothic Book"/>
                <a:ea typeface="DejaVu Sans"/>
              </a:rPr>
              <a:t>Confidential @ </a:t>
            </a:r>
            <a:r>
              <a:rPr lang="en-US" sz="1200" b="1" strike="noStrike" spc="-1" dirty="0" err="1">
                <a:solidFill>
                  <a:srgbClr val="FFFFFF"/>
                </a:solidFill>
                <a:latin typeface="Franklin Gothic Book"/>
                <a:ea typeface="DejaVu Sans"/>
              </a:rPr>
              <a:t>Digifyce</a:t>
            </a:r>
            <a:endParaRPr lang="en-IN" sz="1200" b="0" strike="noStrike" spc="-1" dirty="0">
              <a:latin typeface="Arial"/>
            </a:endParaRPr>
          </a:p>
        </p:txBody>
      </p:sp>
      <p:sp>
        <p:nvSpPr>
          <p:cNvPr id="2" name="CustomShape 3">
            <a:extLst>
              <a:ext uri="{FF2B5EF4-FFF2-40B4-BE49-F238E27FC236}">
                <a16:creationId xmlns:a16="http://schemas.microsoft.com/office/drawing/2014/main" id="{385C9080-A802-B13A-6744-BAD22FE97A5A}"/>
              </a:ext>
            </a:extLst>
          </p:cNvPr>
          <p:cNvSpPr/>
          <p:nvPr/>
        </p:nvSpPr>
        <p:spPr>
          <a:xfrm>
            <a:off x="590040" y="809771"/>
            <a:ext cx="4489054"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b="1" strike="noStrike" spc="-1" dirty="0">
                <a:solidFill>
                  <a:srgbClr val="000000"/>
                </a:solidFill>
                <a:latin typeface="Franklin Gothic Book"/>
                <a:ea typeface="DejaVu Sans"/>
              </a:rPr>
              <a:t>DIGITAL STRATEGY:</a:t>
            </a:r>
            <a:endParaRPr lang="en-IN" b="0" strike="noStrike" spc="-1" dirty="0">
              <a:latin typeface="Arial"/>
            </a:endParaRPr>
          </a:p>
        </p:txBody>
      </p:sp>
      <p:sp>
        <p:nvSpPr>
          <p:cNvPr id="3" name="CustomShape 3">
            <a:extLst>
              <a:ext uri="{FF2B5EF4-FFF2-40B4-BE49-F238E27FC236}">
                <a16:creationId xmlns:a16="http://schemas.microsoft.com/office/drawing/2014/main" id="{0FDDF8E8-3365-706A-C936-1A0B7134DB50}"/>
              </a:ext>
            </a:extLst>
          </p:cNvPr>
          <p:cNvSpPr/>
          <p:nvPr/>
        </p:nvSpPr>
        <p:spPr>
          <a:xfrm>
            <a:off x="574869" y="2463924"/>
            <a:ext cx="4489054"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b="1" strike="noStrike" spc="-1" dirty="0">
                <a:solidFill>
                  <a:srgbClr val="000000"/>
                </a:solidFill>
                <a:latin typeface="Franklin Gothic Book"/>
                <a:ea typeface="DejaVu Sans"/>
              </a:rPr>
              <a:t>DIGITAL CHANNELS:</a:t>
            </a:r>
            <a:endParaRPr lang="en-IN" b="0" strike="noStrike" spc="-1" dirty="0">
              <a:latin typeface="Arial"/>
            </a:endParaRPr>
          </a:p>
        </p:txBody>
      </p:sp>
      <p:sp>
        <p:nvSpPr>
          <p:cNvPr id="4" name="CustomShape 3">
            <a:extLst>
              <a:ext uri="{FF2B5EF4-FFF2-40B4-BE49-F238E27FC236}">
                <a16:creationId xmlns:a16="http://schemas.microsoft.com/office/drawing/2014/main" id="{82D1433B-812F-A6CD-25DF-A8D39C406FA0}"/>
              </a:ext>
            </a:extLst>
          </p:cNvPr>
          <p:cNvSpPr/>
          <p:nvPr/>
        </p:nvSpPr>
        <p:spPr>
          <a:xfrm>
            <a:off x="574869" y="4196497"/>
            <a:ext cx="4489054" cy="367878"/>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tabLst>
                <a:tab pos="0" algn="l"/>
              </a:tabLst>
            </a:pPr>
            <a:r>
              <a:rPr lang="en-US" b="1" strike="noStrike" spc="-1" dirty="0">
                <a:solidFill>
                  <a:srgbClr val="000000"/>
                </a:solidFill>
                <a:latin typeface="Franklin Gothic Book"/>
                <a:ea typeface="DejaVu Sans"/>
              </a:rPr>
              <a:t>ADVANCED AUTOMATIONS:</a:t>
            </a:r>
            <a:endParaRPr lang="en-IN" b="0" strike="noStrike" spc="-1" dirty="0">
              <a:latin typeface="Arial"/>
            </a:endParaRPr>
          </a:p>
        </p:txBody>
      </p:sp>
      <p:cxnSp>
        <p:nvCxnSpPr>
          <p:cNvPr id="6" name="Straight Connector 5">
            <a:extLst>
              <a:ext uri="{FF2B5EF4-FFF2-40B4-BE49-F238E27FC236}">
                <a16:creationId xmlns:a16="http://schemas.microsoft.com/office/drawing/2014/main" id="{8F5052CB-4631-47E6-8BD7-FA2F60F2C6E6}"/>
              </a:ext>
            </a:extLst>
          </p:cNvPr>
          <p:cNvCxnSpPr/>
          <p:nvPr/>
        </p:nvCxnSpPr>
        <p:spPr>
          <a:xfrm>
            <a:off x="359229" y="2329543"/>
            <a:ext cx="11571514" cy="0"/>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0E2C1DCF-4102-8F9B-DE76-2EC9DE6AE45F}"/>
              </a:ext>
            </a:extLst>
          </p:cNvPr>
          <p:cNvCxnSpPr/>
          <p:nvPr/>
        </p:nvCxnSpPr>
        <p:spPr>
          <a:xfrm>
            <a:off x="359229" y="4065869"/>
            <a:ext cx="11571514" cy="0"/>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5" name="Picture 4" descr="A logo with a blue arrow pointing up&#10;&#10;Description automatically generated">
            <a:extLst>
              <a:ext uri="{FF2B5EF4-FFF2-40B4-BE49-F238E27FC236}">
                <a16:creationId xmlns:a16="http://schemas.microsoft.com/office/drawing/2014/main" id="{567ED388-173C-199B-48E4-35DA28ABF524}"/>
              </a:ext>
            </a:extLst>
          </p:cNvPr>
          <p:cNvPicPr>
            <a:picLocks noChangeAspect="1"/>
          </p:cNvPicPr>
          <p:nvPr/>
        </p:nvPicPr>
        <p:blipFill rotWithShape="1">
          <a:blip r:embed="rId2"/>
          <a:srcRect l="9248" r="27480" b="47937"/>
          <a:stretch/>
        </p:blipFill>
        <p:spPr>
          <a:xfrm>
            <a:off x="11097352" y="30644"/>
            <a:ext cx="1012989" cy="830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CustomShape 1"/>
          <p:cNvSpPr/>
          <p:nvPr/>
        </p:nvSpPr>
        <p:spPr>
          <a:xfrm>
            <a:off x="-403560" y="2183040"/>
            <a:ext cx="12719520" cy="2490840"/>
          </a:xfrm>
          <a:prstGeom prst="rect">
            <a:avLst/>
          </a:prstGeom>
          <a:solidFill>
            <a:schemeClr val="accent1">
              <a:lumMod val="60000"/>
              <a:lumOff val="40000"/>
            </a:schemeClr>
          </a:solidFill>
          <a:ln w="76320">
            <a:solidFill>
              <a:srgbClr val="FFFFFF"/>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a:lstStyle/>
          <a:p>
            <a:endParaRPr lang="en-US"/>
          </a:p>
        </p:txBody>
      </p:sp>
      <p:sp>
        <p:nvSpPr>
          <p:cNvPr id="187" name="TextShape 3"/>
          <p:cNvSpPr/>
          <p:nvPr/>
        </p:nvSpPr>
        <p:spPr>
          <a:xfrm>
            <a:off x="1469520" y="2847600"/>
            <a:ext cx="9777960" cy="116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spcBef>
                <a:spcPts val="1001"/>
              </a:spcBef>
              <a:tabLst>
                <a:tab pos="0" algn="l"/>
              </a:tabLst>
            </a:pPr>
            <a:r>
              <a:rPr lang="en-US" sz="4800" b="1" strike="noStrike" spc="-1" dirty="0">
                <a:solidFill>
                  <a:srgbClr val="FFFFFF"/>
                </a:solidFill>
                <a:latin typeface="Franklin Gothic Medium"/>
                <a:ea typeface="DejaVu Sans"/>
              </a:rPr>
              <a:t>SEARCH ENGINE – MARKET STUDY</a:t>
            </a:r>
            <a:endParaRPr lang="en-IN" sz="4800" b="1" strike="noStrike" spc="-1" dirty="0">
              <a:latin typeface="Arial"/>
            </a:endParaRPr>
          </a:p>
        </p:txBody>
      </p:sp>
      <p:pic>
        <p:nvPicPr>
          <p:cNvPr id="2" name="Picture 1" descr="A logo with a blue arrow pointing up&#10;&#10;Description automatically generated">
            <a:extLst>
              <a:ext uri="{FF2B5EF4-FFF2-40B4-BE49-F238E27FC236}">
                <a16:creationId xmlns:a16="http://schemas.microsoft.com/office/drawing/2014/main" id="{4CB0A923-4155-1F76-40D9-F0714B847486}"/>
              </a:ext>
            </a:extLst>
          </p:cNvPr>
          <p:cNvPicPr>
            <a:picLocks noChangeAspect="1"/>
          </p:cNvPicPr>
          <p:nvPr/>
        </p:nvPicPr>
        <p:blipFill rotWithShape="1">
          <a:blip r:embed="rId2"/>
          <a:srcRect l="9248" r="27480" b="47937"/>
          <a:stretch/>
        </p:blipFill>
        <p:spPr>
          <a:xfrm>
            <a:off x="11097352" y="30644"/>
            <a:ext cx="1012989" cy="830400"/>
          </a:xfrm>
          <a:prstGeom prst="rect">
            <a:avLst/>
          </a:prstGeom>
        </p:spPr>
      </p:pic>
    </p:spTree>
    <p:extLst>
      <p:ext uri="{BB962C8B-B14F-4D97-AF65-F5344CB8AC3E}">
        <p14:creationId xmlns:p14="http://schemas.microsoft.com/office/powerpoint/2010/main" val="4103566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9" name="Picture 3" descr="C:\Users\sathis\Desktop\computer-notebook-laptop-working-wallpaper.jpg"/>
          <p:cNvPicPr/>
          <p:nvPr/>
        </p:nvPicPr>
        <p:blipFill>
          <a:blip r:embed="rId2" cstate="print">
            <a:extLst>
              <a:ext uri="{28A0092B-C50C-407E-A947-70E740481C1C}">
                <a14:useLocalDpi xmlns:a14="http://schemas.microsoft.com/office/drawing/2010/main"/>
              </a:ext>
            </a:extLst>
          </a:blip>
          <a:srcRect l="-26"/>
          <a:stretch/>
        </p:blipFill>
        <p:spPr>
          <a:xfrm>
            <a:off x="0" y="0"/>
            <a:ext cx="12191400" cy="972360"/>
          </a:xfrm>
          <a:prstGeom prst="rect">
            <a:avLst/>
          </a:prstGeom>
          <a:ln w="0">
            <a:noFill/>
          </a:ln>
        </p:spPr>
      </p:pic>
      <p:sp>
        <p:nvSpPr>
          <p:cNvPr id="320" name="CustomShape 1"/>
          <p:cNvSpPr/>
          <p:nvPr/>
        </p:nvSpPr>
        <p:spPr>
          <a:xfrm>
            <a:off x="-14400" y="532766"/>
            <a:ext cx="12205800" cy="439593"/>
          </a:xfrm>
          <a:prstGeom prst="rect">
            <a:avLst/>
          </a:prstGeom>
          <a:solidFill>
            <a:schemeClr val="tx1">
              <a:lumMod val="95000"/>
              <a:lumOff val="5000"/>
              <a:alpha val="54000"/>
            </a:schemeClr>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IN" sz="1600" b="1" i="1" u="none" strike="noStrike" kern="1200" cap="none" spc="-1" normalizeH="0" baseline="0" noProof="0" dirty="0">
                <a:ln>
                  <a:noFill/>
                </a:ln>
                <a:solidFill>
                  <a:schemeClr val="accent1">
                    <a:lumMod val="60000"/>
                    <a:lumOff val="40000"/>
                  </a:schemeClr>
                </a:solidFill>
                <a:effectLst/>
                <a:uLnTx/>
                <a:uFillTx/>
                <a:latin typeface="Franklin Gothic Book"/>
                <a:ea typeface="DejaVu Sans"/>
              </a:rPr>
              <a:t>Problem Statement: </a:t>
            </a:r>
            <a:r>
              <a:rPr kumimoji="0" lang="en-IN" sz="1600" b="1" i="1" u="none" strike="noStrike" kern="1200" cap="none" spc="-1" normalizeH="0" baseline="0" noProof="0" dirty="0">
                <a:ln>
                  <a:noFill/>
                </a:ln>
                <a:solidFill>
                  <a:srgbClr val="FFFFFF"/>
                </a:solidFill>
                <a:effectLst/>
                <a:uLnTx/>
                <a:uFillTx/>
                <a:latin typeface="Franklin Gothic Book"/>
                <a:ea typeface="DejaVu Sans"/>
              </a:rPr>
              <a:t>The company wanted to reach the stakeholders with its derived value proposition</a:t>
            </a:r>
            <a:endParaRPr kumimoji="0" lang="en-IN" sz="1600" b="0" i="0" u="none" strike="noStrike" kern="1200" cap="none" spc="-1" normalizeH="0" baseline="0" noProof="0" dirty="0">
              <a:ln>
                <a:noFill/>
              </a:ln>
              <a:solidFill>
                <a:prstClr val="black"/>
              </a:solidFill>
              <a:effectLst/>
              <a:uLnTx/>
              <a:uFillTx/>
              <a:latin typeface="Arial"/>
            </a:endParaRPr>
          </a:p>
        </p:txBody>
      </p:sp>
      <p:sp>
        <p:nvSpPr>
          <p:cNvPr id="321" name="CustomShape 2"/>
          <p:cNvSpPr/>
          <p:nvPr/>
        </p:nvSpPr>
        <p:spPr>
          <a:xfrm>
            <a:off x="0" y="983160"/>
            <a:ext cx="7525440" cy="13835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marL="0" marR="0" lvl="0" indent="0" algn="just" defTabSz="914400" rtl="0" eaLnBrk="1" fontAlgn="auto" latinLnBrk="0" hangingPunct="1">
              <a:lnSpc>
                <a:spcPct val="100000"/>
              </a:lnSpc>
              <a:spcBef>
                <a:spcPts val="0"/>
              </a:spcBef>
              <a:spcAft>
                <a:spcPts val="0"/>
              </a:spcAft>
              <a:buClrTx/>
              <a:buSzTx/>
              <a:buFontTx/>
              <a:buNone/>
              <a:tabLst>
                <a:tab pos="0" algn="l"/>
              </a:tabLst>
              <a:defRPr/>
            </a:pPr>
            <a:r>
              <a:rPr kumimoji="0" lang="en-IN" sz="1400" b="1" i="1" u="sng" strike="noStrike" kern="1200" cap="none" spc="-1" normalizeH="0" baseline="0" noProof="0" dirty="0">
                <a:ln>
                  <a:noFill/>
                </a:ln>
                <a:solidFill>
                  <a:schemeClr val="accent1">
                    <a:lumMod val="60000"/>
                    <a:lumOff val="40000"/>
                  </a:schemeClr>
                </a:solidFill>
                <a:effectLst/>
                <a:uLnTx/>
                <a:uFillTx/>
                <a:latin typeface="Franklin Gothic Book"/>
                <a:ea typeface="DejaVu Sans"/>
              </a:rPr>
              <a:t>Solutions Planned:</a:t>
            </a:r>
            <a:endParaRPr kumimoji="0" lang="en-IN" sz="1400" b="0" i="0" u="none" strike="noStrike" kern="1200" cap="none" spc="-1" normalizeH="0" baseline="0" noProof="0" dirty="0">
              <a:ln>
                <a:noFill/>
              </a:ln>
              <a:solidFill>
                <a:schemeClr val="accent1">
                  <a:lumMod val="60000"/>
                  <a:lumOff val="40000"/>
                </a:schemeClr>
              </a:solidFill>
              <a:effectLst/>
              <a:uLnTx/>
              <a:uFillTx/>
              <a:latin typeface="Arial"/>
            </a:endParaRPr>
          </a:p>
          <a:p>
            <a:pPr marL="0" marR="0" lvl="0" indent="0" algn="just" defTabSz="914400" rtl="0" eaLnBrk="1" fontAlgn="auto" latinLnBrk="0" hangingPunct="1">
              <a:lnSpc>
                <a:spcPct val="100000"/>
              </a:lnSpc>
              <a:spcBef>
                <a:spcPts val="0"/>
              </a:spcBef>
              <a:spcAft>
                <a:spcPts val="0"/>
              </a:spcAft>
              <a:buClrTx/>
              <a:buSzTx/>
              <a:buFontTx/>
              <a:buNone/>
              <a:tabLst>
                <a:tab pos="0" algn="l"/>
              </a:tabLst>
              <a:defRPr/>
            </a:pPr>
            <a:endParaRPr kumimoji="0" lang="en-IN" sz="1400" b="0" i="0" u="none" strike="noStrike" kern="1200" cap="none" spc="-1" normalizeH="0" baseline="0" noProof="0" dirty="0">
              <a:ln>
                <a:noFill/>
              </a:ln>
              <a:solidFill>
                <a:prstClr val="black"/>
              </a:solidFill>
              <a:effectLst/>
              <a:uLnTx/>
              <a:uFillTx/>
              <a:latin typeface="Arial"/>
            </a:endParaRPr>
          </a:p>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IN" sz="1400" b="0" i="0" u="none" strike="noStrike" kern="1200" cap="none" spc="-1" normalizeH="0" baseline="0" noProof="0" dirty="0">
                <a:ln>
                  <a:noFill/>
                </a:ln>
                <a:solidFill>
                  <a:srgbClr val="000000"/>
                </a:solidFill>
                <a:effectLst/>
                <a:uLnTx/>
                <a:uFillTx/>
                <a:latin typeface="Franklin Gothic Book"/>
                <a:ea typeface="DejaVu Sans"/>
              </a:rPr>
              <a:t>Stakeholder matrix: Derived the stakeholder matrix as per the value prop &amp; the personal classification using the primary &amp; secondary research. KPI was engagement.</a:t>
            </a:r>
          </a:p>
          <a:p>
            <a:pPr marL="0" marR="0" lvl="0" indent="0" algn="l" defTabSz="914400" rtl="0" eaLnBrk="1" fontAlgn="auto" latinLnBrk="0" hangingPunct="1">
              <a:lnSpc>
                <a:spcPct val="100000"/>
              </a:lnSpc>
              <a:spcBef>
                <a:spcPts val="0"/>
              </a:spcBef>
              <a:spcAft>
                <a:spcPts val="0"/>
              </a:spcAft>
              <a:buClrTx/>
              <a:buSzTx/>
              <a:buFontTx/>
              <a:buNone/>
              <a:tabLst>
                <a:tab pos="0" algn="l"/>
              </a:tabLst>
              <a:defRPr/>
            </a:pPr>
            <a:br>
              <a:rPr kumimoji="0" sz="1400" b="0" i="0" u="none" strike="noStrike" kern="1200" cap="none" spc="0" normalizeH="0" baseline="0" noProof="0" dirty="0">
                <a:ln>
                  <a:noFill/>
                </a:ln>
                <a:solidFill>
                  <a:prstClr val="black"/>
                </a:solidFill>
                <a:effectLst/>
                <a:uLnTx/>
                <a:uFillTx/>
                <a:latin typeface="Arial"/>
              </a:rPr>
            </a:br>
            <a:endParaRPr kumimoji="0" lang="en-IN" sz="1400" b="0" i="0" u="none" strike="noStrike" kern="1200" cap="none" spc="-1" normalizeH="0" baseline="0" noProof="0" dirty="0">
              <a:ln>
                <a:noFill/>
              </a:ln>
              <a:solidFill>
                <a:prstClr val="black"/>
              </a:solidFill>
              <a:effectLst/>
              <a:uLnTx/>
              <a:uFillTx/>
              <a:latin typeface="Arial"/>
            </a:endParaRPr>
          </a:p>
        </p:txBody>
      </p:sp>
      <p:sp>
        <p:nvSpPr>
          <p:cNvPr id="322" name="Line 3"/>
          <p:cNvSpPr/>
          <p:nvPr/>
        </p:nvSpPr>
        <p:spPr>
          <a:xfrm flipH="1">
            <a:off x="7526880" y="983880"/>
            <a:ext cx="1440" cy="586044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p:style>
        <p:txBody>
          <a:bodyPr/>
          <a:lstStyle/>
          <a:p>
            <a:endParaRPr lang="en-US"/>
          </a:p>
        </p:txBody>
      </p:sp>
      <p:sp>
        <p:nvSpPr>
          <p:cNvPr id="323" name="CustomShape 4"/>
          <p:cNvSpPr/>
          <p:nvPr/>
        </p:nvSpPr>
        <p:spPr>
          <a:xfrm>
            <a:off x="7719120" y="1630800"/>
            <a:ext cx="4277520" cy="735900"/>
          </a:xfrm>
          <a:prstGeom prst="rect">
            <a:avLst/>
          </a:prstGeom>
          <a:solidFill>
            <a:schemeClr val="bg1">
              <a:lumMod val="85000"/>
            </a:schemeClr>
          </a:solidFill>
          <a:ln>
            <a:noFill/>
          </a:ln>
          <a:effectLst>
            <a:outerShdw blurRad="50800" dist="37674" dir="2700000" algn="tl"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182880" tIns="45000" rIns="182880" bIns="45000">
            <a:noAutofit/>
          </a:bodyPr>
          <a:lstStyle/>
          <a:p>
            <a:pPr marL="0" marR="0" lvl="0" indent="0" algn="ctr" defTabSz="914400" rtl="0" eaLnBrk="1" fontAlgn="auto" latinLnBrk="0" hangingPunct="1">
              <a:lnSpc>
                <a:spcPct val="100000"/>
              </a:lnSpc>
              <a:spcBef>
                <a:spcPts val="0"/>
              </a:spcBef>
              <a:spcAft>
                <a:spcPts val="1001"/>
              </a:spcAft>
              <a:buClrTx/>
              <a:buSzTx/>
              <a:buFontTx/>
              <a:buNone/>
              <a:tabLst>
                <a:tab pos="0" algn="l"/>
              </a:tabLst>
              <a:defRPr/>
            </a:pPr>
            <a:r>
              <a:rPr kumimoji="0" lang="en-IN" sz="2000" b="1" i="0" u="none" strike="noStrike" kern="1200" cap="none" spc="69" normalizeH="0" baseline="0" noProof="0" dirty="0">
                <a:ln>
                  <a:noFill/>
                </a:ln>
                <a:solidFill>
                  <a:srgbClr val="000000"/>
                </a:solidFill>
                <a:effectLst/>
                <a:uLnTx/>
                <a:uFillTx/>
                <a:latin typeface="Franklin Gothic Book"/>
                <a:ea typeface="MS Gothic"/>
              </a:rPr>
              <a:t>100K+ </a:t>
            </a:r>
            <a:endParaRPr kumimoji="0" lang="en-IN" sz="2000" b="0" i="0" u="none" strike="noStrike" kern="1200" cap="none" spc="-1" normalizeH="0" baseline="0" noProof="0" dirty="0">
              <a:ln>
                <a:noFill/>
              </a:ln>
              <a:solidFill>
                <a:prstClr val="black"/>
              </a:solidFill>
              <a:effectLst/>
              <a:uLnTx/>
              <a:uFillTx/>
              <a:latin typeface="Arial"/>
            </a:endParaRPr>
          </a:p>
          <a:p>
            <a:pPr marL="0" marR="0" lvl="0" indent="0" algn="ctr" defTabSz="914400" rtl="0" eaLnBrk="1" fontAlgn="auto" latinLnBrk="0" hangingPunct="1">
              <a:lnSpc>
                <a:spcPct val="100000"/>
              </a:lnSpc>
              <a:spcBef>
                <a:spcPts val="0"/>
              </a:spcBef>
              <a:spcAft>
                <a:spcPts val="1001"/>
              </a:spcAft>
              <a:buClrTx/>
              <a:buSzTx/>
              <a:buFontTx/>
              <a:buNone/>
              <a:tabLst>
                <a:tab pos="0" algn="l"/>
              </a:tabLst>
              <a:defRPr/>
            </a:pPr>
            <a:r>
              <a:rPr kumimoji="0" lang="en-IN" sz="1400" i="0" u="none" strike="noStrike" kern="1200" cap="none" spc="69" normalizeH="0" baseline="0" noProof="0" dirty="0">
                <a:ln>
                  <a:noFill/>
                </a:ln>
                <a:solidFill>
                  <a:srgbClr val="000000"/>
                </a:solidFill>
                <a:effectLst/>
                <a:uLnTx/>
                <a:uFillTx/>
                <a:latin typeface="Franklin Gothic Book"/>
                <a:ea typeface="MS Gothic"/>
              </a:rPr>
              <a:t>Stake holder engagement</a:t>
            </a:r>
            <a:endParaRPr kumimoji="0" lang="en-IN" sz="1400" i="0" u="none" strike="noStrike" kern="1200" cap="none" spc="-1" normalizeH="0" baseline="0" noProof="0" dirty="0">
              <a:ln>
                <a:noFill/>
              </a:ln>
              <a:solidFill>
                <a:prstClr val="black"/>
              </a:solidFill>
              <a:effectLst/>
              <a:uLnTx/>
              <a:uFillTx/>
              <a:latin typeface="Arial"/>
            </a:endParaRPr>
          </a:p>
        </p:txBody>
      </p:sp>
      <p:sp>
        <p:nvSpPr>
          <p:cNvPr id="324" name="CustomShape 5"/>
          <p:cNvSpPr/>
          <p:nvPr/>
        </p:nvSpPr>
        <p:spPr>
          <a:xfrm>
            <a:off x="7719120" y="1106280"/>
            <a:ext cx="4281840" cy="416880"/>
          </a:xfrm>
          <a:prstGeom prst="rect">
            <a:avLst/>
          </a:prstGeom>
          <a:solidFill>
            <a:schemeClr val="accent1">
              <a:lumMod val="60000"/>
              <a:lumOff val="40000"/>
            </a:schemeClr>
          </a:solidFill>
          <a:ln>
            <a:solidFill>
              <a:schemeClr val="accent1">
                <a:lumMod val="60000"/>
                <a:lumOff val="40000"/>
              </a:schemeClr>
            </a:solidFill>
          </a:ln>
          <a:effectLst>
            <a:outerShdw blurRad="50800" dist="37674" dir="2700000" algn="tl"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182880" tIns="45000" rIns="182880" bIns="45000" anchor="ctr">
            <a:noAutofit/>
          </a:bodyPr>
          <a:lstStyle/>
          <a:p>
            <a:pPr marL="0" marR="0" lvl="0" indent="0" algn="ctr" defTabSz="914400" rtl="0" eaLnBrk="1" fontAlgn="auto" latinLnBrk="0" hangingPunct="1">
              <a:lnSpc>
                <a:spcPct val="115000"/>
              </a:lnSpc>
              <a:spcBef>
                <a:spcPts val="0"/>
              </a:spcBef>
              <a:spcAft>
                <a:spcPts val="1001"/>
              </a:spcAft>
              <a:buClrTx/>
              <a:buSzTx/>
              <a:buFontTx/>
              <a:buNone/>
              <a:tabLst>
                <a:tab pos="0" algn="l"/>
              </a:tabLst>
              <a:defRPr/>
            </a:pPr>
            <a:r>
              <a:rPr kumimoji="0" lang="en-IN" sz="2000" b="1" i="0" u="none" strike="noStrike" kern="1200" cap="none" spc="69" normalizeH="0" baseline="0" noProof="0" dirty="0">
                <a:ln>
                  <a:noFill/>
                </a:ln>
                <a:solidFill>
                  <a:srgbClr val="000000"/>
                </a:solidFill>
                <a:effectLst/>
                <a:uLnTx/>
                <a:uFillTx/>
                <a:latin typeface="Franklin Gothic Book"/>
                <a:ea typeface="MS Gothic"/>
              </a:rPr>
              <a:t>RESULTS EXPECTED </a:t>
            </a:r>
            <a:endParaRPr kumimoji="0" lang="en-IN" sz="2000" b="0" i="0" u="none" strike="noStrike" kern="1200" cap="none" spc="-1" normalizeH="0" baseline="0" noProof="0" dirty="0">
              <a:ln>
                <a:noFill/>
              </a:ln>
              <a:solidFill>
                <a:prstClr val="black"/>
              </a:solidFill>
              <a:effectLst/>
              <a:uLnTx/>
              <a:uFillTx/>
              <a:latin typeface="Arial"/>
            </a:endParaRPr>
          </a:p>
        </p:txBody>
      </p:sp>
      <p:sp>
        <p:nvSpPr>
          <p:cNvPr id="330" name="CustomShape 11"/>
          <p:cNvSpPr/>
          <p:nvPr/>
        </p:nvSpPr>
        <p:spPr>
          <a:xfrm>
            <a:off x="7714800" y="4794614"/>
            <a:ext cx="4281840" cy="957106"/>
          </a:xfrm>
          <a:prstGeom prst="rect">
            <a:avLst/>
          </a:prstGeom>
          <a:noFill/>
          <a:ln>
            <a:noFill/>
          </a:ln>
          <a:effectLst/>
        </p:spPr>
        <p:style>
          <a:lnRef idx="2">
            <a:schemeClr val="accent1">
              <a:shade val="50000"/>
            </a:schemeClr>
          </a:lnRef>
          <a:fillRef idx="1">
            <a:schemeClr val="accent1"/>
          </a:fillRef>
          <a:effectRef idx="0">
            <a:schemeClr val="accent1"/>
          </a:effectRef>
          <a:fontRef idx="minor"/>
        </p:style>
        <p:txBody>
          <a:bodyPr lIns="182880" tIns="45000" rIns="182880" bIns="45000" anchor="ctr">
            <a:noAutofit/>
          </a:bodyPr>
          <a:lstStyle/>
          <a:p>
            <a:pPr marL="0" marR="0" lvl="0" indent="0" algn="l" defTabSz="914400" rtl="0" eaLnBrk="1" fontAlgn="auto" latinLnBrk="0" hangingPunct="1">
              <a:lnSpc>
                <a:spcPct val="115000"/>
              </a:lnSpc>
              <a:spcBef>
                <a:spcPts val="0"/>
              </a:spcBef>
              <a:spcAft>
                <a:spcPts val="1001"/>
              </a:spcAft>
              <a:buClrTx/>
              <a:buSzTx/>
              <a:buFontTx/>
              <a:buNone/>
              <a:tabLst>
                <a:tab pos="0" algn="l"/>
              </a:tabLst>
              <a:defRPr/>
            </a:pPr>
            <a:r>
              <a:rPr kumimoji="0" lang="en-IN" sz="1800" b="1" i="0" u="none" strike="noStrike" kern="1200" cap="none" spc="69" normalizeH="0" baseline="0" noProof="0" dirty="0">
                <a:ln>
                  <a:noFill/>
                </a:ln>
                <a:solidFill>
                  <a:srgbClr val="000000"/>
                </a:solidFill>
                <a:effectLst/>
                <a:uLnTx/>
                <a:uFillTx/>
                <a:latin typeface="Franklin Gothic Book"/>
                <a:ea typeface="MS Gothic"/>
              </a:rPr>
              <a:t>Tools Used: </a:t>
            </a:r>
            <a:r>
              <a:rPr kumimoji="0" lang="en-IN" sz="1400" b="1" i="0" u="none" strike="noStrike" kern="1200" cap="none" spc="69" normalizeH="0" baseline="0" noProof="0" dirty="0">
                <a:ln>
                  <a:noFill/>
                </a:ln>
                <a:solidFill>
                  <a:srgbClr val="000000"/>
                </a:solidFill>
                <a:effectLst/>
                <a:uLnTx/>
                <a:uFillTx/>
                <a:latin typeface="Franklin Gothic Book"/>
                <a:ea typeface="MS Gothic"/>
              </a:rPr>
              <a:t>As required – Ads, Software</a:t>
            </a:r>
          </a:p>
        </p:txBody>
      </p:sp>
      <p:graphicFrame>
        <p:nvGraphicFramePr>
          <p:cNvPr id="17" name="Table">
            <a:extLst>
              <a:ext uri="{FF2B5EF4-FFF2-40B4-BE49-F238E27FC236}">
                <a16:creationId xmlns:a16="http://schemas.microsoft.com/office/drawing/2014/main" id="{F90BD3B9-44A6-3B40-88E1-E90E67432910}"/>
              </a:ext>
            </a:extLst>
          </p:cNvPr>
          <p:cNvGraphicFramePr/>
          <p:nvPr>
            <p:extLst>
              <p:ext uri="{D42A27DB-BD31-4B8C-83A1-F6EECF244321}">
                <p14:modId xmlns:p14="http://schemas.microsoft.com/office/powerpoint/2010/main" val="3627820052"/>
              </p:ext>
            </p:extLst>
          </p:nvPr>
        </p:nvGraphicFramePr>
        <p:xfrm>
          <a:off x="64620" y="1913760"/>
          <a:ext cx="6952750" cy="1793084"/>
        </p:xfrm>
        <a:graphic>
          <a:graphicData uri="http://schemas.openxmlformats.org/drawingml/2006/table">
            <a:tbl>
              <a:tblPr firstCol="1" bandRow="1"/>
              <a:tblGrid>
                <a:gridCol w="1334480">
                  <a:extLst>
                    <a:ext uri="{9D8B030D-6E8A-4147-A177-3AD203B41FA5}">
                      <a16:colId xmlns:a16="http://schemas.microsoft.com/office/drawing/2014/main" val="20000"/>
                    </a:ext>
                  </a:extLst>
                </a:gridCol>
                <a:gridCol w="1692443">
                  <a:extLst>
                    <a:ext uri="{9D8B030D-6E8A-4147-A177-3AD203B41FA5}">
                      <a16:colId xmlns:a16="http://schemas.microsoft.com/office/drawing/2014/main" val="20001"/>
                    </a:ext>
                  </a:extLst>
                </a:gridCol>
                <a:gridCol w="970535">
                  <a:extLst>
                    <a:ext uri="{9D8B030D-6E8A-4147-A177-3AD203B41FA5}">
                      <a16:colId xmlns:a16="http://schemas.microsoft.com/office/drawing/2014/main" val="20003"/>
                    </a:ext>
                  </a:extLst>
                </a:gridCol>
                <a:gridCol w="1123078">
                  <a:extLst>
                    <a:ext uri="{9D8B030D-6E8A-4147-A177-3AD203B41FA5}">
                      <a16:colId xmlns:a16="http://schemas.microsoft.com/office/drawing/2014/main" val="20004"/>
                    </a:ext>
                  </a:extLst>
                </a:gridCol>
                <a:gridCol w="1100160">
                  <a:extLst>
                    <a:ext uri="{9D8B030D-6E8A-4147-A177-3AD203B41FA5}">
                      <a16:colId xmlns:a16="http://schemas.microsoft.com/office/drawing/2014/main" val="20005"/>
                    </a:ext>
                  </a:extLst>
                </a:gridCol>
                <a:gridCol w="732054">
                  <a:extLst>
                    <a:ext uri="{9D8B030D-6E8A-4147-A177-3AD203B41FA5}">
                      <a16:colId xmlns:a16="http://schemas.microsoft.com/office/drawing/2014/main" val="20007"/>
                    </a:ext>
                  </a:extLst>
                </a:gridCol>
              </a:tblGrid>
              <a:tr h="302194">
                <a:tc>
                  <a:txBody>
                    <a:bodyPr/>
                    <a:lstStyle/>
                    <a:p>
                      <a:pPr algn="l">
                        <a:defRPr sz="1200">
                          <a:sym typeface="Arial"/>
                        </a:defRPr>
                      </a:pPr>
                      <a:endParaRPr dirty="0">
                        <a:solidFill>
                          <a:schemeClr val="tx1"/>
                        </a:solidFill>
                      </a:endParaRPr>
                    </a:p>
                  </a:txBody>
                  <a:tcPr marL="0" marR="0" marT="0" marB="0" anchor="ctr" horzOverflow="overflow">
                    <a:lnB w="12700" cap="flat" cmpd="sng" algn="ctr">
                      <a:solidFill>
                        <a:schemeClr val="tx1"/>
                      </a:solidFill>
                      <a:prstDash val="solid"/>
                      <a:round/>
                      <a:headEnd type="none" w="med" len="med"/>
                      <a:tailEnd type="none" w="med" len="med"/>
                    </a:lnB>
                  </a:tcPr>
                </a:tc>
                <a:tc gridSpan="5">
                  <a:txBody>
                    <a:bodyPr/>
                    <a:lstStyle/>
                    <a:p>
                      <a:pPr algn="l"/>
                      <a:r>
                        <a:rPr lang="en-US" sz="1200" b="1" dirty="0">
                          <a:solidFill>
                            <a:schemeClr val="tx1"/>
                          </a:solidFill>
                          <a:sym typeface="Arial"/>
                        </a:rPr>
                        <a:t>Persona</a:t>
                      </a:r>
                      <a:r>
                        <a:rPr sz="1200" b="1" dirty="0">
                          <a:solidFill>
                            <a:schemeClr val="tx1"/>
                          </a:solidFill>
                          <a:sym typeface="Arial"/>
                        </a:rPr>
                        <a:t> Segment Rating (on a scale of 0-5)</a:t>
                      </a:r>
                      <a:r>
                        <a:rPr lang="en-US" sz="1200" b="1" dirty="0">
                          <a:solidFill>
                            <a:schemeClr val="tx1"/>
                          </a:solidFill>
                          <a:sym typeface="Arial"/>
                        </a:rPr>
                        <a:t> (5 being best)</a:t>
                      </a:r>
                      <a:endParaRPr sz="1200" b="1" dirty="0">
                        <a:solidFill>
                          <a:schemeClr val="tx1"/>
                        </a:solidFill>
                        <a:sym typeface="Arial"/>
                      </a:endParaRPr>
                    </a:p>
                  </a:txBody>
                  <a:tcPr marL="0" marR="0" marT="0" marB="0" anchor="ctr" horzOverflow="overflow">
                    <a:solidFill>
                      <a:schemeClr val="accent4">
                        <a:lumMod val="40000"/>
                        <a:lumOff val="60000"/>
                      </a:schemeClr>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83657">
                <a:tc>
                  <a:txBody>
                    <a:bodyPr/>
                    <a:lstStyle/>
                    <a:p>
                      <a:pPr algn="l">
                        <a:defRPr b="0">
                          <a:solidFill>
                            <a:srgbClr val="000000"/>
                          </a:solidFill>
                        </a:defRPr>
                      </a:pPr>
                      <a:r>
                        <a:rPr sz="1200" b="1" dirty="0">
                          <a:solidFill>
                            <a:schemeClr val="tx1"/>
                          </a:solidFill>
                          <a:sym typeface="Arial"/>
                        </a:rPr>
                        <a:t>Capturing key statements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sz="1200" b="1">
                          <a:solidFill>
                            <a:schemeClr val="tx1"/>
                          </a:solidFill>
                          <a:sym typeface="Arial"/>
                        </a:rPr>
                        <a:t>Categorisation</a:t>
                      </a:r>
                    </a:p>
                  </a:txBody>
                  <a:tcPr marL="0" marR="0" marT="0" marB="0" anchor="ctr" horzOverflow="overflow">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sz="1200" b="1" dirty="0" err="1">
                          <a:solidFill>
                            <a:schemeClr val="tx1"/>
                          </a:solidFill>
                          <a:sym typeface="Arial"/>
                        </a:rPr>
                        <a:t>Entrpreneurs</a:t>
                      </a:r>
                      <a:r>
                        <a:rPr lang="en-US" sz="1200" b="1" dirty="0">
                          <a:solidFill>
                            <a:schemeClr val="tx1"/>
                          </a:solidFill>
                          <a:sym typeface="Arial"/>
                        </a:rPr>
                        <a:t>, CEOs, Owners</a:t>
                      </a:r>
                      <a:endParaRPr sz="1200" b="1" dirty="0">
                        <a:solidFill>
                          <a:schemeClr val="tx1"/>
                        </a:solidFill>
                        <a:sym typeface="Arial"/>
                      </a:endParaRPr>
                    </a:p>
                  </a:txBody>
                  <a:tcPr marL="0" marR="0" marT="0" marB="0" anchor="ctr" horzOverflow="overflow">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IN" sz="1200" b="1" dirty="0">
                          <a:solidFill>
                            <a:schemeClr val="tx1"/>
                          </a:solidFill>
                          <a:sym typeface="Arial"/>
                        </a:rPr>
                        <a:t>NRI</a:t>
                      </a:r>
                      <a:endParaRPr sz="1200" b="1" dirty="0">
                        <a:solidFill>
                          <a:schemeClr val="tx1"/>
                        </a:solidFill>
                        <a:sym typeface="Arial"/>
                      </a:endParaRPr>
                    </a:p>
                  </a:txBody>
                  <a:tcPr marL="0" marR="0" marT="0" marB="0" anchor="ctr" horzOverflow="overflow">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lang="en-US" sz="1200" b="1" dirty="0">
                          <a:solidFill>
                            <a:schemeClr val="tx1"/>
                          </a:solidFill>
                          <a:sym typeface="Arial"/>
                        </a:rPr>
                        <a:t>Other Cities</a:t>
                      </a:r>
                      <a:endParaRPr sz="1200" b="1" dirty="0">
                        <a:solidFill>
                          <a:schemeClr val="tx1"/>
                        </a:solidFill>
                        <a:sym typeface="Arial"/>
                      </a:endParaRPr>
                    </a:p>
                  </a:txBody>
                  <a:tcPr marL="0" marR="0" marT="0" marB="0" anchor="ctr" horzOverflow="overflow">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lgn="ctr"/>
                      <a:r>
                        <a:rPr sz="1200" b="1" dirty="0">
                          <a:solidFill>
                            <a:schemeClr val="tx1"/>
                          </a:solidFill>
                          <a:sym typeface="Arial"/>
                        </a:rPr>
                        <a:t>Total</a:t>
                      </a:r>
                    </a:p>
                  </a:txBody>
                  <a:tcPr marL="0" marR="0" marT="0" marB="0" anchor="ctr" horzOverflow="overflow">
                    <a:lnB w="12700" cap="flat" cmpd="sng" algn="ctr">
                      <a:solidFill>
                        <a:schemeClr val="tx1"/>
                      </a:solidFill>
                      <a:prstDash val="solid"/>
                      <a:round/>
                      <a:headEnd type="none" w="med" len="med"/>
                      <a:tailEnd type="none" w="med" len="med"/>
                    </a:lnB>
                    <a:solidFill>
                      <a:schemeClr val="accent4">
                        <a:lumMod val="75000"/>
                      </a:schemeClr>
                    </a:solidFill>
                  </a:tcPr>
                </a:tc>
                <a:extLst>
                  <a:ext uri="{0D108BD9-81ED-4DB2-BD59-A6C34878D82A}">
                    <a16:rowId xmlns:a16="http://schemas.microsoft.com/office/drawing/2014/main" val="10001"/>
                  </a:ext>
                </a:extLst>
              </a:tr>
              <a:tr h="229548">
                <a:tc>
                  <a:txBody>
                    <a:bodyPr/>
                    <a:lstStyle/>
                    <a:p>
                      <a:pPr algn="l">
                        <a:defRPr b="0">
                          <a:solidFill>
                            <a:srgbClr val="000000"/>
                          </a:solidFill>
                        </a:defRPr>
                      </a:pPr>
                      <a:r>
                        <a:rPr lang="en-US" sz="1200" dirty="0">
                          <a:solidFill>
                            <a:schemeClr val="tx1"/>
                          </a:solidFill>
                          <a:sym typeface="Arial"/>
                        </a:rPr>
                        <a:t>Value Prop 1</a:t>
                      </a:r>
                      <a:endParaRPr sz="1200" dirty="0">
                        <a:solidFill>
                          <a:schemeClr val="tx1"/>
                        </a:solidFill>
                        <a:sym typeface="Arial"/>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solidFill>
                            <a:schemeClr val="tx1"/>
                          </a:solidFill>
                          <a:sym typeface="Arial"/>
                        </a:rPr>
                        <a:t>Your Dream Home </a:t>
                      </a:r>
                      <a:endParaRPr sz="1200" dirty="0">
                        <a:solidFill>
                          <a:schemeClr val="tx1"/>
                        </a:solidFill>
                        <a:sym typeface="Arial"/>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solidFill>
                            <a:schemeClr val="tx1"/>
                          </a:solidFill>
                          <a:sym typeface="Arial"/>
                        </a:rPr>
                        <a:t>5</a:t>
                      </a:r>
                      <a:endParaRPr sz="1200" b="1" dirty="0">
                        <a:solidFill>
                          <a:schemeClr val="tx1"/>
                        </a:solidFill>
                        <a:sym typeface="Arial"/>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solidFill>
                            <a:schemeClr val="tx1"/>
                          </a:solidFill>
                          <a:sym typeface="Arial"/>
                        </a:rPr>
                        <a:t>2</a:t>
                      </a:r>
                      <a:endParaRPr sz="1200" b="1" dirty="0">
                        <a:solidFill>
                          <a:schemeClr val="tx1"/>
                        </a:solidFill>
                        <a:sym typeface="Arial"/>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solidFill>
                            <a:schemeClr val="tx1"/>
                          </a:solidFill>
                          <a:sym typeface="Arial"/>
                        </a:rPr>
                        <a:t>5</a:t>
                      </a:r>
                      <a:endParaRPr sz="1200" b="1" dirty="0">
                        <a:solidFill>
                          <a:schemeClr val="tx1"/>
                        </a:solidFill>
                        <a:sym typeface="Arial"/>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b="1" dirty="0">
                          <a:solidFill>
                            <a:schemeClr val="tx1"/>
                          </a:solidFill>
                          <a:sym typeface="Arial"/>
                        </a:rPr>
                        <a:t>12</a:t>
                      </a:r>
                      <a:endParaRPr sz="1200" b="1" dirty="0">
                        <a:solidFill>
                          <a:schemeClr val="tx1"/>
                        </a:solidFill>
                        <a:sym typeface="Arial"/>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75000"/>
                      </a:schemeClr>
                    </a:solidFill>
                  </a:tcPr>
                </a:tc>
                <a:extLst>
                  <a:ext uri="{0D108BD9-81ED-4DB2-BD59-A6C34878D82A}">
                    <a16:rowId xmlns:a16="http://schemas.microsoft.com/office/drawing/2014/main" val="10002"/>
                  </a:ext>
                </a:extLst>
              </a:tr>
              <a:tr h="267184">
                <a:tc>
                  <a:txBody>
                    <a:bodyPr/>
                    <a:lstStyle/>
                    <a:p>
                      <a:pPr algn="l">
                        <a:defRPr b="0">
                          <a:solidFill>
                            <a:srgbClr val="000000"/>
                          </a:solidFill>
                        </a:defRPr>
                      </a:pPr>
                      <a:r>
                        <a:rPr lang="en-US" sz="1200" dirty="0">
                          <a:solidFill>
                            <a:schemeClr val="tx1"/>
                          </a:solidFill>
                          <a:sym typeface="Arial"/>
                        </a:rPr>
                        <a:t>Value Prop 2</a:t>
                      </a:r>
                      <a:endParaRPr sz="1200" dirty="0">
                        <a:solidFill>
                          <a:schemeClr val="tx1"/>
                        </a:solidFill>
                        <a:sym typeface="Arial"/>
                      </a:endParaRPr>
                    </a:p>
                  </a:txBody>
                  <a:tcPr marL="0" marR="0" marT="0" marB="0" anchor="ctr" horzOverflow="overflow">
                    <a:lnT w="12700" cap="flat" cmpd="sng" algn="ctr">
                      <a:solidFill>
                        <a:schemeClr val="tx1"/>
                      </a:solidFill>
                      <a:prstDash val="solid"/>
                      <a:round/>
                      <a:headEnd type="none" w="med" len="med"/>
                      <a:tailEnd type="none" w="med" len="med"/>
                    </a:lnT>
                  </a:tcPr>
                </a:tc>
                <a:tc>
                  <a:txBody>
                    <a:bodyPr/>
                    <a:lstStyle/>
                    <a:p>
                      <a:pPr algn="ctr"/>
                      <a:r>
                        <a:rPr lang="en-US" sz="1200" dirty="0">
                          <a:solidFill>
                            <a:schemeClr val="tx1"/>
                          </a:solidFill>
                          <a:sym typeface="Arial"/>
                        </a:rPr>
                        <a:t>Take a Virtual 360 Tour</a:t>
                      </a:r>
                      <a:endParaRPr sz="1200" dirty="0">
                        <a:solidFill>
                          <a:schemeClr val="tx1"/>
                        </a:solidFill>
                        <a:sym typeface="Arial"/>
                      </a:endParaRPr>
                    </a:p>
                  </a:txBody>
                  <a:tcPr marL="0" marR="0" marT="0" marB="0" anchor="ctr" horzOverflow="overflow">
                    <a:lnT w="12700" cap="flat" cmpd="sng" algn="ctr">
                      <a:solidFill>
                        <a:schemeClr val="tx1"/>
                      </a:solidFill>
                      <a:prstDash val="solid"/>
                      <a:round/>
                      <a:headEnd type="none" w="med" len="med"/>
                      <a:tailEnd type="none" w="med" len="med"/>
                    </a:lnT>
                  </a:tcPr>
                </a:tc>
                <a:tc>
                  <a:txBody>
                    <a:bodyPr/>
                    <a:lstStyle/>
                    <a:p>
                      <a:pPr algn="ctr"/>
                      <a:r>
                        <a:rPr lang="en-US" sz="1200" b="1" dirty="0">
                          <a:solidFill>
                            <a:schemeClr val="tx1"/>
                          </a:solidFill>
                          <a:sym typeface="Arial"/>
                        </a:rPr>
                        <a:t>3</a:t>
                      </a:r>
                      <a:endParaRPr sz="1200" b="1" dirty="0">
                        <a:solidFill>
                          <a:schemeClr val="tx1"/>
                        </a:solidFill>
                        <a:sym typeface="Arial"/>
                      </a:endParaRPr>
                    </a:p>
                  </a:txBody>
                  <a:tcPr marL="0" marR="0" marT="0" marB="0" anchor="ctr" horzOverflow="overflow">
                    <a:lnT w="12700" cap="flat" cmpd="sng" algn="ctr">
                      <a:solidFill>
                        <a:schemeClr val="tx1"/>
                      </a:solidFill>
                      <a:prstDash val="solid"/>
                      <a:round/>
                      <a:headEnd type="none" w="med" len="med"/>
                      <a:tailEnd type="none" w="med" len="med"/>
                    </a:lnT>
                  </a:tcPr>
                </a:tc>
                <a:tc>
                  <a:txBody>
                    <a:bodyPr/>
                    <a:lstStyle/>
                    <a:p>
                      <a:pPr algn="ctr"/>
                      <a:r>
                        <a:rPr lang="en-US" sz="1200" b="1" dirty="0">
                          <a:solidFill>
                            <a:schemeClr val="tx1"/>
                          </a:solidFill>
                          <a:sym typeface="Arial"/>
                        </a:rPr>
                        <a:t>5</a:t>
                      </a:r>
                      <a:endParaRPr sz="1200" b="1" dirty="0">
                        <a:solidFill>
                          <a:schemeClr val="tx1"/>
                        </a:solidFill>
                        <a:sym typeface="Arial"/>
                      </a:endParaRPr>
                    </a:p>
                  </a:txBody>
                  <a:tcPr marL="0" marR="0" marT="0" marB="0" anchor="ctr" horzOverflow="overflow">
                    <a:lnT w="12700" cap="flat" cmpd="sng" algn="ctr">
                      <a:solidFill>
                        <a:schemeClr val="tx1"/>
                      </a:solidFill>
                      <a:prstDash val="solid"/>
                      <a:round/>
                      <a:headEnd type="none" w="med" len="med"/>
                      <a:tailEnd type="none" w="med" len="med"/>
                    </a:lnT>
                  </a:tcPr>
                </a:tc>
                <a:tc>
                  <a:txBody>
                    <a:bodyPr/>
                    <a:lstStyle/>
                    <a:p>
                      <a:pPr algn="ctr"/>
                      <a:r>
                        <a:rPr lang="en-US" sz="1200" b="1" dirty="0">
                          <a:solidFill>
                            <a:schemeClr val="tx1"/>
                          </a:solidFill>
                          <a:sym typeface="Arial"/>
                        </a:rPr>
                        <a:t>5</a:t>
                      </a:r>
                      <a:endParaRPr sz="1200" b="1" dirty="0">
                        <a:solidFill>
                          <a:schemeClr val="tx1"/>
                        </a:solidFill>
                        <a:sym typeface="Arial"/>
                      </a:endParaRPr>
                    </a:p>
                  </a:txBody>
                  <a:tcPr marL="0" marR="0" marT="0" marB="0" anchor="ctr" horzOverflow="overflow">
                    <a:lnT w="12700" cap="flat" cmpd="sng" algn="ctr">
                      <a:solidFill>
                        <a:schemeClr val="tx1"/>
                      </a:solidFill>
                      <a:prstDash val="solid"/>
                      <a:round/>
                      <a:headEnd type="none" w="med" len="med"/>
                      <a:tailEnd type="none" w="med" len="med"/>
                    </a:lnT>
                  </a:tcPr>
                </a:tc>
                <a:tc>
                  <a:txBody>
                    <a:bodyPr/>
                    <a:lstStyle/>
                    <a:p>
                      <a:pPr algn="ctr"/>
                      <a:r>
                        <a:rPr lang="en-US" sz="1200" b="1" dirty="0">
                          <a:solidFill>
                            <a:schemeClr val="tx1"/>
                          </a:solidFill>
                          <a:sym typeface="Arial"/>
                        </a:rPr>
                        <a:t>13</a:t>
                      </a:r>
                      <a:endParaRPr sz="1200" b="1" dirty="0">
                        <a:solidFill>
                          <a:schemeClr val="tx1"/>
                        </a:solidFill>
                        <a:sym typeface="Arial"/>
                      </a:endParaRPr>
                    </a:p>
                  </a:txBody>
                  <a:tcPr marL="0" marR="0" marT="0" marB="0" anchor="ctr" horzOverflow="overflow">
                    <a:lnT w="12700" cap="flat" cmpd="sng" algn="ctr">
                      <a:solidFill>
                        <a:schemeClr val="tx1"/>
                      </a:solidFill>
                      <a:prstDash val="solid"/>
                      <a:round/>
                      <a:headEnd type="none" w="med" len="med"/>
                      <a:tailEnd type="none" w="med" len="med"/>
                    </a:lnT>
                    <a:solidFill>
                      <a:schemeClr val="accent4">
                        <a:lumMod val="75000"/>
                      </a:schemeClr>
                    </a:solidFill>
                  </a:tcPr>
                </a:tc>
                <a:extLst>
                  <a:ext uri="{0D108BD9-81ED-4DB2-BD59-A6C34878D82A}">
                    <a16:rowId xmlns:a16="http://schemas.microsoft.com/office/drawing/2014/main" val="10003"/>
                  </a:ext>
                </a:extLst>
              </a:tr>
              <a:tr h="310501">
                <a:tc>
                  <a:txBody>
                    <a:bodyPr/>
                    <a:lstStyle/>
                    <a:p>
                      <a:pPr algn="l">
                        <a:defRPr b="0">
                          <a:solidFill>
                            <a:srgbClr val="000000"/>
                          </a:solidFill>
                        </a:defRPr>
                      </a:pPr>
                      <a:r>
                        <a:rPr lang="en-US" sz="1200" dirty="0">
                          <a:solidFill>
                            <a:schemeClr val="tx1"/>
                          </a:solidFill>
                          <a:sym typeface="Arial"/>
                        </a:rPr>
                        <a:t>Value Prop 3</a:t>
                      </a:r>
                    </a:p>
                  </a:txBody>
                  <a:tcPr marL="0" marR="0" marT="0" marB="0" anchor="ctr" horzOverflow="overflow"/>
                </a:tc>
                <a:tc>
                  <a:txBody>
                    <a:bodyPr/>
                    <a:lstStyle/>
                    <a:p>
                      <a:pPr algn="ctr"/>
                      <a:r>
                        <a:rPr lang="en-US" sz="1200" dirty="0">
                          <a:solidFill>
                            <a:schemeClr val="tx1"/>
                          </a:solidFill>
                          <a:sym typeface="Arial"/>
                        </a:rPr>
                        <a:t>Invest in growing region</a:t>
                      </a:r>
                      <a:endParaRPr sz="1200" dirty="0">
                        <a:solidFill>
                          <a:schemeClr val="tx1"/>
                        </a:solidFill>
                        <a:sym typeface="Arial"/>
                      </a:endParaRPr>
                    </a:p>
                  </a:txBody>
                  <a:tcPr marL="0" marR="0" marT="0" marB="0" anchor="ctr" horzOverflow="overflow"/>
                </a:tc>
                <a:tc>
                  <a:txBody>
                    <a:bodyPr/>
                    <a:lstStyle/>
                    <a:p>
                      <a:pPr algn="ctr"/>
                      <a:r>
                        <a:rPr lang="en-US" sz="1200" b="1" dirty="0">
                          <a:solidFill>
                            <a:schemeClr val="tx1"/>
                          </a:solidFill>
                          <a:sym typeface="Arial"/>
                        </a:rPr>
                        <a:t>5</a:t>
                      </a:r>
                      <a:endParaRPr sz="1200" b="1" dirty="0">
                        <a:solidFill>
                          <a:schemeClr val="tx1"/>
                        </a:solidFill>
                        <a:sym typeface="Arial"/>
                      </a:endParaRPr>
                    </a:p>
                  </a:txBody>
                  <a:tcPr marL="0" marR="0" marT="0" marB="0" anchor="ctr" horzOverflow="overflow"/>
                </a:tc>
                <a:tc>
                  <a:txBody>
                    <a:bodyPr/>
                    <a:lstStyle/>
                    <a:p>
                      <a:pPr algn="ctr"/>
                      <a:r>
                        <a:rPr lang="en-US" sz="1200" b="1" dirty="0">
                          <a:solidFill>
                            <a:schemeClr val="tx1"/>
                          </a:solidFill>
                          <a:sym typeface="Arial"/>
                        </a:rPr>
                        <a:t>5</a:t>
                      </a:r>
                      <a:endParaRPr sz="1200" b="1" dirty="0">
                        <a:solidFill>
                          <a:schemeClr val="tx1"/>
                        </a:solidFill>
                        <a:sym typeface="Arial"/>
                      </a:endParaRPr>
                    </a:p>
                  </a:txBody>
                  <a:tcPr marL="0" marR="0" marT="0" marB="0" anchor="ctr" horzOverflow="overflow"/>
                </a:tc>
                <a:tc>
                  <a:txBody>
                    <a:bodyPr/>
                    <a:lstStyle/>
                    <a:p>
                      <a:pPr algn="ctr"/>
                      <a:r>
                        <a:rPr lang="en-US" sz="1200" b="1" dirty="0">
                          <a:solidFill>
                            <a:schemeClr val="tx1"/>
                          </a:solidFill>
                          <a:sym typeface="Arial"/>
                        </a:rPr>
                        <a:t>5</a:t>
                      </a:r>
                      <a:endParaRPr sz="1200" b="1" dirty="0">
                        <a:solidFill>
                          <a:schemeClr val="tx1"/>
                        </a:solidFill>
                        <a:sym typeface="Arial"/>
                      </a:endParaRPr>
                    </a:p>
                  </a:txBody>
                  <a:tcPr marL="0" marR="0" marT="0" marB="0" anchor="ctr" horzOverflow="overflow"/>
                </a:tc>
                <a:tc>
                  <a:txBody>
                    <a:bodyPr/>
                    <a:lstStyle/>
                    <a:p>
                      <a:pPr algn="ctr"/>
                      <a:r>
                        <a:rPr lang="en-US" sz="1200" b="1" dirty="0">
                          <a:solidFill>
                            <a:schemeClr val="tx1"/>
                          </a:solidFill>
                          <a:sym typeface="Arial"/>
                        </a:rPr>
                        <a:t>15</a:t>
                      </a:r>
                      <a:endParaRPr sz="1200" b="1" dirty="0">
                        <a:solidFill>
                          <a:schemeClr val="tx1"/>
                        </a:solidFill>
                        <a:sym typeface="Arial"/>
                      </a:endParaRPr>
                    </a:p>
                  </a:txBody>
                  <a:tcPr marL="0" marR="0" marT="0" marB="0" anchor="ctr" horzOverflow="overflow">
                    <a:solidFill>
                      <a:schemeClr val="accent4">
                        <a:lumMod val="75000"/>
                      </a:schemeClr>
                    </a:solidFill>
                  </a:tcPr>
                </a:tc>
                <a:extLst>
                  <a:ext uri="{0D108BD9-81ED-4DB2-BD59-A6C34878D82A}">
                    <a16:rowId xmlns:a16="http://schemas.microsoft.com/office/drawing/2014/main" val="10004"/>
                  </a:ext>
                </a:extLst>
              </a:tr>
            </a:tbl>
          </a:graphicData>
        </a:graphic>
      </p:graphicFrame>
      <p:sp>
        <p:nvSpPr>
          <p:cNvPr id="18" name="CustomShape 2">
            <a:extLst>
              <a:ext uri="{FF2B5EF4-FFF2-40B4-BE49-F238E27FC236}">
                <a16:creationId xmlns:a16="http://schemas.microsoft.com/office/drawing/2014/main" id="{527FD7A7-AA5F-6E43-A2A6-E9B1E9F3B822}"/>
              </a:ext>
            </a:extLst>
          </p:cNvPr>
          <p:cNvSpPr/>
          <p:nvPr/>
        </p:nvSpPr>
        <p:spPr>
          <a:xfrm>
            <a:off x="64620" y="4237500"/>
            <a:ext cx="7525440" cy="224531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spAutoFit/>
          </a:bodyPr>
          <a:lstStyle/>
          <a:p>
            <a:pPr marL="0" marR="0" lvl="0" indent="0" algn="l" defTabSz="914400" rtl="0" eaLnBrk="1" fontAlgn="auto" latinLnBrk="0" hangingPunct="1">
              <a:lnSpc>
                <a:spcPct val="100000"/>
              </a:lnSpc>
              <a:spcBef>
                <a:spcPts val="0"/>
              </a:spcBef>
              <a:spcAft>
                <a:spcPts val="0"/>
              </a:spcAft>
              <a:buClrTx/>
              <a:buSzTx/>
              <a:buFontTx/>
              <a:buNone/>
              <a:tabLst>
                <a:tab pos="0" algn="l"/>
              </a:tabLst>
              <a:defRPr/>
            </a:pPr>
            <a:r>
              <a:rPr kumimoji="0" lang="en-US" sz="1400" b="1" i="0" u="none" strike="noStrike" kern="1200" cap="none" spc="0" normalizeH="0" baseline="0" noProof="0" dirty="0">
                <a:ln>
                  <a:noFill/>
                </a:ln>
                <a:solidFill>
                  <a:prstClr val="black"/>
                </a:solidFill>
                <a:effectLst/>
                <a:uLnTx/>
                <a:uFillTx/>
                <a:latin typeface="Franklin Gothic Book" panose="020B0503020102020204" pitchFamily="34" charset="0"/>
              </a:rPr>
              <a:t>Channel selection:</a:t>
            </a:r>
            <a:r>
              <a:rPr kumimoji="0" lang="en-US" sz="1400" b="0" i="0" u="none" strike="noStrike" kern="1200" cap="none" spc="0" normalizeH="0" baseline="0" noProof="0" dirty="0">
                <a:ln>
                  <a:noFill/>
                </a:ln>
                <a:solidFill>
                  <a:prstClr val="black"/>
                </a:solidFill>
                <a:effectLst/>
                <a:uLnTx/>
                <a:uFillTx/>
                <a:latin typeface="Franklin Gothic Book" panose="020B0503020102020204" pitchFamily="34" charset="0"/>
              </a:rPr>
              <a:t> The channels were proposed based on the persona presence, the time spent per persona per channel per day, time &amp; day of the publish, etc.,</a:t>
            </a:r>
          </a:p>
          <a:p>
            <a:pPr marL="0" marR="0" lvl="0" indent="0" algn="l" defTabSz="914400" rtl="0" eaLnBrk="1" fontAlgn="auto" latinLnBrk="0" hangingPunct="1">
              <a:lnSpc>
                <a:spcPct val="100000"/>
              </a:lnSpc>
              <a:spcBef>
                <a:spcPts val="0"/>
              </a:spcBef>
              <a:spcAft>
                <a:spcPts val="0"/>
              </a:spcAft>
              <a:buClrTx/>
              <a:buSzTx/>
              <a:buFontTx/>
              <a:buNone/>
              <a:tabLst>
                <a:tab pos="0" algn="l"/>
              </a:tabLst>
              <a:defRPr/>
            </a:pPr>
            <a:endParaRPr kumimoji="0" lang="en-US" sz="1400" b="0" i="0" u="none" strike="noStrike" kern="1200" cap="none" spc="0" normalizeH="0" baseline="0" noProof="0" dirty="0">
              <a:ln>
                <a:noFill/>
              </a:ln>
              <a:solidFill>
                <a:prstClr val="black"/>
              </a:solidFill>
              <a:effectLst/>
              <a:uLnTx/>
              <a:uFillTx/>
              <a:latin typeface="Franklin Gothic Book" panose="020B0503020102020204" pitchFamily="34" charset="0"/>
            </a:endParaRPr>
          </a:p>
          <a:p>
            <a:pPr lvl="0">
              <a:tabLst>
                <a:tab pos="0" algn="l"/>
              </a:tabLst>
              <a:defRPr/>
            </a:pPr>
            <a:r>
              <a:rPr kumimoji="0" lang="en-US" sz="1400" b="1" i="0" u="none" strike="noStrike" kern="1200" cap="none" spc="0" normalizeH="0" baseline="0" noProof="0" dirty="0">
                <a:ln>
                  <a:noFill/>
                </a:ln>
                <a:solidFill>
                  <a:prstClr val="black"/>
                </a:solidFill>
                <a:effectLst/>
                <a:uLnTx/>
                <a:uFillTx/>
                <a:latin typeface="Franklin Gothic Book" panose="020B0503020102020204" pitchFamily="34" charset="0"/>
              </a:rPr>
              <a:t>Content development:</a:t>
            </a:r>
            <a:r>
              <a:rPr kumimoji="0" lang="en-US" sz="1400" b="0" i="0" u="none" strike="noStrike" kern="1200" cap="none" spc="0" normalizeH="0" baseline="0" noProof="0" dirty="0">
                <a:ln>
                  <a:noFill/>
                </a:ln>
                <a:solidFill>
                  <a:prstClr val="black"/>
                </a:solidFill>
                <a:effectLst/>
                <a:uLnTx/>
                <a:uFillTx/>
                <a:latin typeface="Franklin Gothic Book" panose="020B0503020102020204" pitchFamily="34" charset="0"/>
              </a:rPr>
              <a:t> Content will be developed based on the key </a:t>
            </a:r>
            <a:r>
              <a:rPr lang="en-US" sz="1400" dirty="0">
                <a:solidFill>
                  <a:prstClr val="black"/>
                </a:solidFill>
                <a:latin typeface="Franklin Gothic Book" panose="020B0503020102020204" pitchFamily="34" charset="0"/>
              </a:rPr>
              <a:t>points (e.g., students, family, fashion enthusiasts, etc.). </a:t>
            </a:r>
            <a:r>
              <a:rPr kumimoji="0" lang="en-US" sz="1400" b="0" i="0" u="none" strike="noStrike" kern="1200" cap="none" spc="0" normalizeH="0" baseline="0" noProof="0" dirty="0">
                <a:ln>
                  <a:noFill/>
                </a:ln>
                <a:solidFill>
                  <a:prstClr val="black"/>
                </a:solidFill>
                <a:effectLst/>
                <a:uLnTx/>
                <a:uFillTx/>
                <a:latin typeface="Franklin Gothic Book" panose="020B0503020102020204" pitchFamily="34" charset="0"/>
              </a:rPr>
              <a:t>Content will be developed separately for Social, Email, Landing pages, etc., </a:t>
            </a:r>
            <a:endParaRPr kumimoji="0" lang="en-IN" sz="1400" b="0" i="0" u="none" strike="noStrike" kern="1200" cap="none" spc="-1" normalizeH="0" baseline="0" noProof="0" dirty="0">
              <a:ln>
                <a:noFill/>
              </a:ln>
              <a:solidFill>
                <a:srgbClr val="000000"/>
              </a:solidFill>
              <a:effectLst/>
              <a:uLnTx/>
              <a:uFillTx/>
              <a:latin typeface="Franklin Gothic Book" panose="020B05030201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tab pos="0" algn="l"/>
              </a:tabLst>
              <a:defRPr/>
            </a:pPr>
            <a:endParaRPr kumimoji="0" lang="en-IN" sz="1400" b="0" i="0" u="none" strike="noStrike" kern="1200" cap="none" spc="-1" normalizeH="0" baseline="0" noProof="0" dirty="0">
              <a:ln>
                <a:noFill/>
              </a:ln>
              <a:solidFill>
                <a:srgbClr val="000000"/>
              </a:solidFill>
              <a:effectLst/>
              <a:uLnTx/>
              <a:uFillTx/>
              <a:latin typeface="Franklin Gothic Book" panose="020B05030201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tab pos="0" algn="l"/>
              </a:tabLst>
              <a:defRPr/>
            </a:pPr>
            <a:r>
              <a:rPr kumimoji="0" lang="en-IN" sz="1400" b="1" i="0" u="none" strike="noStrike" kern="1200" cap="none" spc="-1" normalizeH="0" baseline="0" noProof="0" dirty="0">
                <a:ln>
                  <a:noFill/>
                </a:ln>
                <a:solidFill>
                  <a:srgbClr val="000000"/>
                </a:solidFill>
                <a:effectLst/>
                <a:uLnTx/>
                <a:uFillTx/>
                <a:latin typeface="Franklin Gothic Book" panose="020B0503020102020204" pitchFamily="34" charset="0"/>
              </a:rPr>
              <a:t>Functional &amp; programmatic Marketing:</a:t>
            </a:r>
            <a:r>
              <a:rPr kumimoji="0" lang="en-IN" sz="1400" b="0" i="0" u="none" strike="noStrike" kern="1200" cap="none" spc="-1" normalizeH="0" baseline="0" noProof="0" dirty="0">
                <a:ln>
                  <a:noFill/>
                </a:ln>
                <a:solidFill>
                  <a:srgbClr val="000000"/>
                </a:solidFill>
                <a:effectLst/>
                <a:uLnTx/>
                <a:uFillTx/>
                <a:latin typeface="Franklin Gothic Book" panose="020B0503020102020204" pitchFamily="34" charset="0"/>
              </a:rPr>
              <a:t> Landing pages will be developed for individual buyer personas to communicate the various pain and gain points. GYR score cards will be prepared with the specific KPI set for each buyer persona. </a:t>
            </a:r>
          </a:p>
        </p:txBody>
      </p:sp>
      <p:sp>
        <p:nvSpPr>
          <p:cNvPr id="19" name="CustomShape 4">
            <a:extLst>
              <a:ext uri="{FF2B5EF4-FFF2-40B4-BE49-F238E27FC236}">
                <a16:creationId xmlns:a16="http://schemas.microsoft.com/office/drawing/2014/main" id="{5C9D45DA-7F02-5748-8802-84724A80D6F0}"/>
              </a:ext>
            </a:extLst>
          </p:cNvPr>
          <p:cNvSpPr/>
          <p:nvPr/>
        </p:nvSpPr>
        <p:spPr>
          <a:xfrm>
            <a:off x="7728110" y="2472039"/>
            <a:ext cx="4277520" cy="1009534"/>
          </a:xfrm>
          <a:prstGeom prst="rect">
            <a:avLst/>
          </a:prstGeom>
          <a:solidFill>
            <a:schemeClr val="bg1">
              <a:lumMod val="85000"/>
            </a:schemeClr>
          </a:solidFill>
          <a:ln>
            <a:noFill/>
          </a:ln>
          <a:effectLst>
            <a:outerShdw blurRad="50800" dist="37674" dir="2700000" algn="tl"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182880" tIns="45000" rIns="182880" bIns="45000">
            <a:noAutofit/>
          </a:bodyPr>
          <a:lstStyle/>
          <a:p>
            <a:pPr marL="0" marR="0" lvl="0" indent="0" algn="ctr" defTabSz="914400" rtl="0" eaLnBrk="1" fontAlgn="auto" latinLnBrk="0" hangingPunct="1">
              <a:lnSpc>
                <a:spcPct val="100000"/>
              </a:lnSpc>
              <a:spcBef>
                <a:spcPts val="0"/>
              </a:spcBef>
              <a:spcAft>
                <a:spcPts val="1001"/>
              </a:spcAft>
              <a:buClrTx/>
              <a:buSzTx/>
              <a:buFontTx/>
              <a:buNone/>
              <a:tabLst>
                <a:tab pos="0" algn="l"/>
              </a:tabLst>
              <a:defRPr/>
            </a:pPr>
            <a:r>
              <a:rPr lang="en-IN" sz="2000" b="1" spc="69" dirty="0">
                <a:solidFill>
                  <a:srgbClr val="000000"/>
                </a:solidFill>
                <a:latin typeface="Franklin Gothic Book"/>
                <a:ea typeface="MS Gothic"/>
              </a:rPr>
              <a:t>Engagement</a:t>
            </a:r>
            <a:endParaRPr kumimoji="0" lang="en-IN" sz="2000" b="1" i="0" u="none" strike="noStrike" kern="1200" cap="none" spc="69" normalizeH="0" baseline="0" noProof="0" dirty="0">
              <a:ln>
                <a:noFill/>
              </a:ln>
              <a:solidFill>
                <a:srgbClr val="000000"/>
              </a:solidFill>
              <a:effectLst/>
              <a:uLnTx/>
              <a:uFillTx/>
              <a:latin typeface="Franklin Gothic Book"/>
              <a:ea typeface="MS Gothic"/>
            </a:endParaRPr>
          </a:p>
          <a:p>
            <a:pPr marL="0" marR="0" lvl="0" indent="0" algn="ctr" defTabSz="914400" rtl="0" eaLnBrk="1" fontAlgn="auto" latinLnBrk="0" hangingPunct="1">
              <a:lnSpc>
                <a:spcPct val="100000"/>
              </a:lnSpc>
              <a:spcBef>
                <a:spcPts val="0"/>
              </a:spcBef>
              <a:spcAft>
                <a:spcPts val="1001"/>
              </a:spcAft>
              <a:buClrTx/>
              <a:buSzTx/>
              <a:buFontTx/>
              <a:buNone/>
              <a:tabLst>
                <a:tab pos="0" algn="l"/>
              </a:tabLst>
              <a:defRPr/>
            </a:pPr>
            <a:r>
              <a:rPr kumimoji="0" lang="en-IN" sz="1400" i="0" u="none" strike="noStrike" kern="1200" cap="none" spc="69" normalizeH="0" baseline="0" noProof="0" dirty="0">
                <a:ln>
                  <a:noFill/>
                </a:ln>
                <a:solidFill>
                  <a:srgbClr val="000000"/>
                </a:solidFill>
                <a:effectLst/>
                <a:uLnTx/>
                <a:uFillTx/>
                <a:latin typeface="Franklin Gothic Book"/>
                <a:ea typeface="MS Gothic"/>
              </a:rPr>
              <a:t>Multi-fold in various channels and re-marketing (Facebook and Instagram)</a:t>
            </a:r>
            <a:endParaRPr kumimoji="0" lang="en-IN" sz="1400" i="0" u="none" strike="noStrike" kern="1200" cap="none" spc="-1" normalizeH="0" baseline="0" noProof="0" dirty="0">
              <a:ln>
                <a:noFill/>
              </a:ln>
              <a:solidFill>
                <a:prstClr val="black"/>
              </a:solidFill>
              <a:effectLst/>
              <a:uLnTx/>
              <a:uFillTx/>
              <a:latin typeface="Arial"/>
            </a:endParaRPr>
          </a:p>
        </p:txBody>
      </p:sp>
      <p:sp>
        <p:nvSpPr>
          <p:cNvPr id="20" name="CustomShape 4">
            <a:extLst>
              <a:ext uri="{FF2B5EF4-FFF2-40B4-BE49-F238E27FC236}">
                <a16:creationId xmlns:a16="http://schemas.microsoft.com/office/drawing/2014/main" id="{91E43059-11C2-E94C-86A2-94D7969CB9A9}"/>
              </a:ext>
            </a:extLst>
          </p:cNvPr>
          <p:cNvSpPr/>
          <p:nvPr/>
        </p:nvSpPr>
        <p:spPr>
          <a:xfrm>
            <a:off x="7728110" y="3633327"/>
            <a:ext cx="4277520" cy="1009533"/>
          </a:xfrm>
          <a:prstGeom prst="rect">
            <a:avLst/>
          </a:prstGeom>
          <a:solidFill>
            <a:schemeClr val="bg1">
              <a:lumMod val="85000"/>
            </a:schemeClr>
          </a:solidFill>
          <a:ln>
            <a:noFill/>
          </a:ln>
          <a:effectLst>
            <a:outerShdw blurRad="50800" dist="37674" dir="2700000" algn="tl" rotWithShape="0">
              <a:srgbClr val="000000">
                <a:alpha val="40000"/>
              </a:srgbClr>
            </a:outerShdw>
          </a:effectLst>
        </p:spPr>
        <p:style>
          <a:lnRef idx="2">
            <a:schemeClr val="accent1">
              <a:shade val="50000"/>
            </a:schemeClr>
          </a:lnRef>
          <a:fillRef idx="1">
            <a:schemeClr val="accent1"/>
          </a:fillRef>
          <a:effectRef idx="0">
            <a:schemeClr val="accent1"/>
          </a:effectRef>
          <a:fontRef idx="minor"/>
        </p:style>
        <p:txBody>
          <a:bodyPr lIns="182880" tIns="45000" rIns="182880" bIns="45000">
            <a:noAutofit/>
          </a:bodyPr>
          <a:lstStyle/>
          <a:p>
            <a:pPr marL="0" marR="0" lvl="0" indent="0" algn="ctr" defTabSz="914400" rtl="0" eaLnBrk="1" fontAlgn="auto" latinLnBrk="0" hangingPunct="1">
              <a:lnSpc>
                <a:spcPct val="100000"/>
              </a:lnSpc>
              <a:spcBef>
                <a:spcPts val="0"/>
              </a:spcBef>
              <a:spcAft>
                <a:spcPts val="1001"/>
              </a:spcAft>
              <a:buClrTx/>
              <a:buSzTx/>
              <a:buFontTx/>
              <a:buNone/>
              <a:tabLst>
                <a:tab pos="0" algn="l"/>
              </a:tabLst>
              <a:defRPr/>
            </a:pPr>
            <a:r>
              <a:rPr kumimoji="0" lang="en-IN" sz="2000" b="1" i="0" u="none" strike="noStrike" kern="1200" cap="none" spc="69" normalizeH="0" baseline="0" noProof="0" dirty="0">
                <a:ln>
                  <a:noFill/>
                </a:ln>
                <a:solidFill>
                  <a:srgbClr val="000000"/>
                </a:solidFill>
                <a:effectLst/>
                <a:uLnTx/>
                <a:uFillTx/>
                <a:latin typeface="Franklin Gothic Book"/>
                <a:ea typeface="MS Gothic"/>
              </a:rPr>
              <a:t>Enhancing for drip-marketing</a:t>
            </a:r>
            <a:endParaRPr kumimoji="0" lang="en-IN" sz="2000" b="0" i="0" u="none" strike="noStrike" kern="1200" cap="none" spc="-1" normalizeH="0" baseline="0" noProof="0" dirty="0">
              <a:ln>
                <a:noFill/>
              </a:ln>
              <a:solidFill>
                <a:prstClr val="black"/>
              </a:solidFill>
              <a:effectLst/>
              <a:uLnTx/>
              <a:uFillTx/>
              <a:latin typeface="Arial"/>
            </a:endParaRPr>
          </a:p>
          <a:p>
            <a:pPr marL="0" marR="0" lvl="0" indent="0" algn="ctr" defTabSz="914400" rtl="0" eaLnBrk="1" fontAlgn="auto" latinLnBrk="0" hangingPunct="1">
              <a:lnSpc>
                <a:spcPct val="100000"/>
              </a:lnSpc>
              <a:spcBef>
                <a:spcPts val="0"/>
              </a:spcBef>
              <a:spcAft>
                <a:spcPts val="1001"/>
              </a:spcAft>
              <a:buClrTx/>
              <a:buSzTx/>
              <a:buFontTx/>
              <a:buNone/>
              <a:tabLst>
                <a:tab pos="0" algn="l"/>
              </a:tabLst>
              <a:defRPr/>
            </a:pPr>
            <a:r>
              <a:rPr kumimoji="0" lang="en-IN" sz="1400" i="0" u="none" strike="noStrike" kern="1200" cap="none" spc="69" normalizeH="0" baseline="0" noProof="0" dirty="0">
                <a:ln>
                  <a:noFill/>
                </a:ln>
                <a:solidFill>
                  <a:srgbClr val="000000"/>
                </a:solidFill>
                <a:effectLst/>
                <a:uLnTx/>
                <a:uFillTx/>
                <a:latin typeface="Franklin Gothic Book"/>
                <a:ea typeface="MS Gothic"/>
              </a:rPr>
              <a:t>Reaching the target group in a sequential manner (</a:t>
            </a:r>
            <a:r>
              <a:rPr kumimoji="0" lang="en-IN" sz="1400" i="0" u="none" strike="noStrike" kern="1200" cap="none" spc="69" normalizeH="0" baseline="0" noProof="0" dirty="0" err="1">
                <a:ln>
                  <a:noFill/>
                </a:ln>
                <a:solidFill>
                  <a:srgbClr val="000000"/>
                </a:solidFill>
                <a:effectLst/>
                <a:uLnTx/>
                <a:uFillTx/>
                <a:latin typeface="Franklin Gothic Book"/>
                <a:ea typeface="MS Gothic"/>
              </a:rPr>
              <a:t>eg.</a:t>
            </a:r>
            <a:r>
              <a:rPr kumimoji="0" lang="en-IN" sz="1400" i="0" u="none" strike="noStrike" kern="1200" cap="none" spc="69" normalizeH="0" baseline="0" noProof="0" dirty="0">
                <a:ln>
                  <a:noFill/>
                </a:ln>
                <a:solidFill>
                  <a:srgbClr val="000000"/>
                </a:solidFill>
                <a:effectLst/>
                <a:uLnTx/>
                <a:uFillTx/>
                <a:latin typeface="Franklin Gothic Book"/>
                <a:ea typeface="MS Gothic"/>
              </a:rPr>
              <a:t>, day 1, day 10, day 30, etc.,)</a:t>
            </a:r>
            <a:endParaRPr kumimoji="0" lang="en-IN" sz="1400" i="0" u="none" strike="noStrike" kern="1200" cap="none" spc="-1" normalizeH="0" baseline="0" noProof="0" dirty="0">
              <a:ln>
                <a:noFill/>
              </a:ln>
              <a:solidFill>
                <a:prstClr val="black"/>
              </a:solidFill>
              <a:effectLst/>
              <a:uLnTx/>
              <a:uFillTx/>
              <a:latin typeface="Arial"/>
            </a:endParaRPr>
          </a:p>
        </p:txBody>
      </p:sp>
      <p:sp>
        <p:nvSpPr>
          <p:cNvPr id="3" name="CustomShape 1">
            <a:extLst>
              <a:ext uri="{FF2B5EF4-FFF2-40B4-BE49-F238E27FC236}">
                <a16:creationId xmlns:a16="http://schemas.microsoft.com/office/drawing/2014/main" id="{DA916C2B-422D-86E8-8E67-38E0F7DC359B}"/>
              </a:ext>
            </a:extLst>
          </p:cNvPr>
          <p:cNvSpPr/>
          <p:nvPr/>
        </p:nvSpPr>
        <p:spPr>
          <a:xfrm>
            <a:off x="-14400" y="-43396"/>
            <a:ext cx="12205800" cy="576161"/>
          </a:xfrm>
          <a:prstGeom prst="rect">
            <a:avLst/>
          </a:prstGeom>
          <a:solidFill>
            <a:schemeClr val="accent1">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IN" sz="2400" b="1" strike="noStrike" spc="-1" dirty="0">
                <a:solidFill>
                  <a:srgbClr val="FFFFFF"/>
                </a:solidFill>
                <a:latin typeface="Franklin Gothic Book"/>
                <a:ea typeface="DejaVu Sans"/>
              </a:rPr>
              <a:t>BUYER PERSONA Development (User, Influencer, Buyer)</a:t>
            </a:r>
            <a:endParaRPr lang="en-IN" sz="2400" b="0" strike="noStrike" spc="-1" dirty="0">
              <a:latin typeface="Arial"/>
            </a:endParaRPr>
          </a:p>
        </p:txBody>
      </p:sp>
      <p:pic>
        <p:nvPicPr>
          <p:cNvPr id="2" name="Picture 1" descr="A logo with a blue arrow pointing up&#10;&#10;Description automatically generated">
            <a:extLst>
              <a:ext uri="{FF2B5EF4-FFF2-40B4-BE49-F238E27FC236}">
                <a16:creationId xmlns:a16="http://schemas.microsoft.com/office/drawing/2014/main" id="{13D71731-4343-224C-EADF-9F641D15F7CA}"/>
              </a:ext>
            </a:extLst>
          </p:cNvPr>
          <p:cNvPicPr>
            <a:picLocks noChangeAspect="1"/>
          </p:cNvPicPr>
          <p:nvPr/>
        </p:nvPicPr>
        <p:blipFill rotWithShape="1">
          <a:blip r:embed="rId3"/>
          <a:srcRect l="9248" r="27480" b="47937"/>
          <a:stretch/>
        </p:blipFill>
        <p:spPr>
          <a:xfrm>
            <a:off x="11192811" y="-43396"/>
            <a:ext cx="1012989" cy="830400"/>
          </a:xfrm>
          <a:prstGeom prst="rect">
            <a:avLst/>
          </a:prstGeom>
        </p:spPr>
      </p:pic>
    </p:spTree>
    <p:extLst>
      <p:ext uri="{BB962C8B-B14F-4D97-AF65-F5344CB8AC3E}">
        <p14:creationId xmlns:p14="http://schemas.microsoft.com/office/powerpoint/2010/main" val="2247070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tangle 17"/>
          <p:cNvSpPr/>
          <p:nvPr/>
        </p:nvSpPr>
        <p:spPr>
          <a:xfrm>
            <a:off x="8191508" y="893834"/>
            <a:ext cx="3897651" cy="3633617"/>
          </a:xfrm>
          <a:prstGeom prst="rect">
            <a:avLst/>
          </a:prstGeom>
          <a:solidFill>
            <a:schemeClr val="bg1">
              <a:lumMod val="85000"/>
            </a:schemeClr>
          </a:solidFill>
          <a:ln>
            <a:solidFill>
              <a:srgbClr val="D9D9D9"/>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89" name="CustomShape 1"/>
          <p:cNvSpPr/>
          <p:nvPr/>
        </p:nvSpPr>
        <p:spPr>
          <a:xfrm>
            <a:off x="87120" y="116280"/>
            <a:ext cx="12002040" cy="626040"/>
          </a:xfrm>
          <a:prstGeom prst="rect">
            <a:avLst/>
          </a:prstGeom>
          <a:solidFill>
            <a:schemeClr val="accent1">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IN" sz="2400" b="1" strike="noStrike" spc="-1" dirty="0">
                <a:solidFill>
                  <a:srgbClr val="FFFFFF"/>
                </a:solidFill>
                <a:latin typeface="Franklin Gothic Book"/>
                <a:ea typeface="DejaVu Sans"/>
              </a:rPr>
              <a:t>GOOGLE SEARCH ENGINE – MARKET STUDY – </a:t>
            </a:r>
            <a:r>
              <a:rPr lang="en-IN" sz="2400" b="1" spc="-1" dirty="0">
                <a:solidFill>
                  <a:srgbClr val="FFFFFF"/>
                </a:solidFill>
                <a:latin typeface="Franklin Gothic Book"/>
                <a:ea typeface="DejaVu Sans"/>
              </a:rPr>
              <a:t>CBE MARKET SEARCHES</a:t>
            </a:r>
            <a:endParaRPr lang="en-IN" sz="2400" b="0" strike="noStrike" spc="-1" dirty="0">
              <a:latin typeface="Arial"/>
            </a:endParaRPr>
          </a:p>
        </p:txBody>
      </p:sp>
      <p:sp>
        <p:nvSpPr>
          <p:cNvPr id="190" name="Rectangle 34"/>
          <p:cNvSpPr/>
          <p:nvPr/>
        </p:nvSpPr>
        <p:spPr>
          <a:xfrm>
            <a:off x="0" y="6597720"/>
            <a:ext cx="12191040" cy="259200"/>
          </a:xfrm>
          <a:prstGeom prst="rect">
            <a:avLst/>
          </a:prstGeom>
          <a:solidFill>
            <a:schemeClr val="accent1">
              <a:lumMod val="60000"/>
              <a:lumOff val="40000"/>
            </a:schemeClr>
          </a:solidFill>
          <a:ln>
            <a:noFill/>
          </a:ln>
        </p:spPr>
        <p:style>
          <a:lnRef idx="2">
            <a:schemeClr val="accent6">
              <a:shade val="50000"/>
            </a:schemeClr>
          </a:lnRef>
          <a:fillRef idx="1">
            <a:schemeClr val="accent6"/>
          </a:fillRef>
          <a:effectRef idx="0">
            <a:schemeClr val="accent6"/>
          </a:effectRef>
          <a:fontRef idx="minor"/>
        </p:style>
        <p:txBody>
          <a:bodyPr lIns="90000" tIns="45000" rIns="90000" bIns="45000" anchor="ctr">
            <a:noAutofit/>
          </a:bodyPr>
          <a:lstStyle/>
          <a:p>
            <a:pPr algn="ctr">
              <a:lnSpc>
                <a:spcPct val="100000"/>
              </a:lnSpc>
              <a:tabLst>
                <a:tab pos="0" algn="l"/>
              </a:tabLst>
            </a:pPr>
            <a:r>
              <a:rPr lang="en-US" sz="1200" b="1" strike="noStrike" spc="-1" dirty="0">
                <a:solidFill>
                  <a:srgbClr val="FFFFFF"/>
                </a:solidFill>
                <a:latin typeface="Franklin Gothic Book"/>
                <a:ea typeface="DejaVu Sans"/>
              </a:rPr>
              <a:t>Confidential @</a:t>
            </a:r>
            <a:r>
              <a:rPr lang="en-US" sz="1200" b="1" strike="noStrike" spc="-1" dirty="0" err="1">
                <a:solidFill>
                  <a:srgbClr val="FFFFFF"/>
                </a:solidFill>
                <a:latin typeface="Franklin Gothic Book"/>
                <a:ea typeface="DejaVu Sans"/>
              </a:rPr>
              <a:t>Digifyce</a:t>
            </a:r>
            <a:endParaRPr lang="en-IN" sz="1200" b="0" strike="noStrike" spc="-1" dirty="0">
              <a:latin typeface="Arial"/>
            </a:endParaRPr>
          </a:p>
        </p:txBody>
      </p:sp>
      <p:sp>
        <p:nvSpPr>
          <p:cNvPr id="191" name="TextBox 16"/>
          <p:cNvSpPr/>
          <p:nvPr/>
        </p:nvSpPr>
        <p:spPr>
          <a:xfrm>
            <a:off x="8191508" y="1134314"/>
            <a:ext cx="3897649" cy="3291755"/>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IN" sz="1600" b="1" strike="noStrike" spc="-1" dirty="0">
                <a:solidFill>
                  <a:srgbClr val="000000"/>
                </a:solidFill>
                <a:latin typeface="Franklin Gothic Book"/>
                <a:ea typeface="DejaVu Sans"/>
              </a:rPr>
              <a:t>Topic: Keywords</a:t>
            </a:r>
            <a:endParaRPr lang="en-IN" sz="1600" b="0" strike="noStrike" spc="-1" dirty="0">
              <a:latin typeface="Arial"/>
            </a:endParaRPr>
          </a:p>
          <a:p>
            <a:pPr>
              <a:lnSpc>
                <a:spcPct val="100000"/>
              </a:lnSpc>
            </a:pP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Asset Type: </a:t>
            </a:r>
            <a:r>
              <a:rPr lang="en-IN" sz="1600" b="1" spc="-1" dirty="0">
                <a:solidFill>
                  <a:srgbClr val="000000"/>
                </a:solidFill>
                <a:latin typeface="Franklin Gothic Book"/>
                <a:ea typeface="DejaVu Sans"/>
              </a:rPr>
              <a:t> </a:t>
            </a:r>
            <a:r>
              <a:rPr lang="en-IN" sz="1600" spc="-1" dirty="0">
                <a:solidFill>
                  <a:srgbClr val="000000"/>
                </a:solidFill>
                <a:latin typeface="Franklin Gothic Book"/>
                <a:ea typeface="DejaVu Sans"/>
              </a:rPr>
              <a:t>Search</a:t>
            </a:r>
            <a:r>
              <a:rPr lang="en-IN" sz="1600" b="1" spc="-1" dirty="0">
                <a:solidFill>
                  <a:srgbClr val="000000"/>
                </a:solidFill>
                <a:latin typeface="Franklin Gothic Book"/>
                <a:ea typeface="DejaVu Sans"/>
              </a:rPr>
              <a:t> </a:t>
            </a:r>
            <a:r>
              <a:rPr lang="en-IN" sz="1600" b="0" strike="noStrike" spc="-1" dirty="0">
                <a:solidFill>
                  <a:srgbClr val="000000"/>
                </a:solidFill>
                <a:latin typeface="Franklin Gothic Book"/>
                <a:ea typeface="DejaVu Sans"/>
              </a:rPr>
              <a:t>Ads, Demand Gen, YouTube, Display</a:t>
            </a: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Channels: </a:t>
            </a:r>
            <a:r>
              <a:rPr lang="en-IN" sz="1600" b="0" strike="noStrike" spc="-1" dirty="0">
                <a:solidFill>
                  <a:srgbClr val="000000"/>
                </a:solidFill>
                <a:latin typeface="Franklin Gothic Book"/>
                <a:ea typeface="DejaVu Sans"/>
              </a:rPr>
              <a:t>Google</a:t>
            </a: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Objective: </a:t>
            </a:r>
            <a:r>
              <a:rPr lang="en-IN" sz="1600" strike="noStrike" spc="-1" dirty="0">
                <a:solidFill>
                  <a:srgbClr val="000000"/>
                </a:solidFill>
                <a:latin typeface="Franklin Gothic Book"/>
                <a:ea typeface="DejaVu Sans"/>
              </a:rPr>
              <a:t>Leads</a:t>
            </a:r>
            <a:endParaRPr lang="en-IN" sz="1600" strike="noStrike" spc="-1" dirty="0">
              <a:latin typeface="Arial"/>
            </a:endParaRPr>
          </a:p>
          <a:p>
            <a:pPr>
              <a:lnSpc>
                <a:spcPct val="100000"/>
              </a:lnSpc>
            </a:pP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Audience:</a:t>
            </a:r>
            <a:r>
              <a:rPr lang="en-IN" sz="1600" strike="noStrike" spc="-1" dirty="0">
                <a:solidFill>
                  <a:srgbClr val="000000"/>
                </a:solidFill>
                <a:latin typeface="Franklin Gothic Book"/>
                <a:ea typeface="DejaVu Sans"/>
              </a:rPr>
              <a:t> People searching based on keywords</a:t>
            </a:r>
            <a:endParaRPr lang="en-IN" sz="1600" strike="noStrike" spc="-1" dirty="0">
              <a:latin typeface="Arial"/>
            </a:endParaRPr>
          </a:p>
          <a:p>
            <a:pPr>
              <a:lnSpc>
                <a:spcPct val="100000"/>
              </a:lnSpc>
            </a:pP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Location: Coimbatore</a:t>
            </a: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Interests: </a:t>
            </a:r>
            <a:r>
              <a:rPr lang="en-IN" sz="1600" b="0" strike="noStrike" spc="-1" dirty="0">
                <a:solidFill>
                  <a:srgbClr val="000000"/>
                </a:solidFill>
                <a:latin typeface="Franklin Gothic Book"/>
                <a:ea typeface="DejaVu Sans"/>
              </a:rPr>
              <a:t>People searching Villas, Houses for sale</a:t>
            </a:r>
            <a:endParaRPr lang="en-IN" sz="1600" b="0" strike="noStrike" spc="-1" dirty="0">
              <a:latin typeface="Arial"/>
            </a:endParaRPr>
          </a:p>
        </p:txBody>
      </p:sp>
      <p:sp>
        <p:nvSpPr>
          <p:cNvPr id="194" name="Rectangle 20"/>
          <p:cNvSpPr/>
          <p:nvPr/>
        </p:nvSpPr>
        <p:spPr>
          <a:xfrm>
            <a:off x="8191508" y="4603771"/>
            <a:ext cx="3897650" cy="1786338"/>
          </a:xfrm>
          <a:prstGeom prst="rect">
            <a:avLst/>
          </a:prstGeom>
          <a:solidFill>
            <a:schemeClr val="accent6">
              <a:lumMod val="40000"/>
              <a:lumOff val="60000"/>
            </a:schemeClr>
          </a:solidFill>
          <a:ln>
            <a:solidFill>
              <a:srgbClr val="D9D9D9"/>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US" sz="1400" b="0" strike="noStrike" spc="-1" dirty="0">
                <a:solidFill>
                  <a:srgbClr val="000000"/>
                </a:solidFill>
                <a:latin typeface="Franklin Gothic Medium"/>
                <a:ea typeface="DejaVu Sans"/>
              </a:rPr>
              <a:t>Monthly Forecast</a:t>
            </a:r>
          </a:p>
          <a:p>
            <a:pPr>
              <a:lnSpc>
                <a:spcPct val="100000"/>
              </a:lnSpc>
            </a:pPr>
            <a:endParaRPr lang="en-US" sz="1400" spc="-1" dirty="0">
              <a:solidFill>
                <a:srgbClr val="000000"/>
              </a:solidFill>
              <a:latin typeface="Franklin Gothic Medium"/>
              <a:ea typeface="DejaVu Sans"/>
            </a:endParaRPr>
          </a:p>
          <a:p>
            <a:pPr>
              <a:lnSpc>
                <a:spcPct val="100000"/>
              </a:lnSpc>
            </a:pPr>
            <a:r>
              <a:rPr lang="en-US" sz="1400" b="0" strike="noStrike" spc="-1" dirty="0">
                <a:solidFill>
                  <a:srgbClr val="000000"/>
                </a:solidFill>
                <a:latin typeface="Franklin Gothic Medium"/>
                <a:ea typeface="DejaVu Sans"/>
              </a:rPr>
              <a:t>Search Volume: Around 10K</a:t>
            </a:r>
          </a:p>
          <a:p>
            <a:pPr>
              <a:lnSpc>
                <a:spcPct val="100000"/>
              </a:lnSpc>
            </a:pPr>
            <a:r>
              <a:rPr lang="en-US" sz="1400" spc="-1" dirty="0">
                <a:solidFill>
                  <a:srgbClr val="000000"/>
                </a:solidFill>
                <a:latin typeface="Franklin Gothic Medium"/>
              </a:rPr>
              <a:t>Expected Traffic: 1 to 1.5K</a:t>
            </a:r>
          </a:p>
          <a:p>
            <a:pPr>
              <a:lnSpc>
                <a:spcPct val="100000"/>
              </a:lnSpc>
            </a:pPr>
            <a:endParaRPr lang="en-US" sz="1400" spc="-1" dirty="0">
              <a:solidFill>
                <a:srgbClr val="000000"/>
              </a:solidFill>
              <a:latin typeface="Franklin Gothic Medium"/>
            </a:endParaRPr>
          </a:p>
          <a:p>
            <a:pPr>
              <a:lnSpc>
                <a:spcPct val="100000"/>
              </a:lnSpc>
            </a:pPr>
            <a:endParaRPr lang="en-US" sz="1400" spc="-1" dirty="0">
              <a:solidFill>
                <a:srgbClr val="000000"/>
              </a:solidFill>
              <a:latin typeface="Franklin Gothic Medium"/>
            </a:endParaRPr>
          </a:p>
          <a:p>
            <a:pPr>
              <a:lnSpc>
                <a:spcPct val="100000"/>
              </a:lnSpc>
            </a:pPr>
            <a:r>
              <a:rPr lang="en-US" sz="1400" b="0" strike="noStrike" spc="-1" dirty="0">
                <a:solidFill>
                  <a:srgbClr val="000000"/>
                </a:solidFill>
                <a:latin typeface="Franklin Gothic Medium"/>
              </a:rPr>
              <a:t>Lead</a:t>
            </a:r>
            <a:r>
              <a:rPr lang="en-US" sz="1400" spc="-1" dirty="0">
                <a:solidFill>
                  <a:srgbClr val="000000"/>
                </a:solidFill>
                <a:latin typeface="Franklin Gothic Medium"/>
              </a:rPr>
              <a:t>s Expected: 100 to 150</a:t>
            </a:r>
            <a:endParaRPr lang="en-IN" sz="1400" b="0" strike="noStrike" spc="-1" dirty="0">
              <a:latin typeface="Arial"/>
            </a:endParaRPr>
          </a:p>
        </p:txBody>
      </p:sp>
      <p:pic>
        <p:nvPicPr>
          <p:cNvPr id="4" name="Picture 3" descr="A screenshot of a graph&#10;&#10;Description automatically generated">
            <a:extLst>
              <a:ext uri="{FF2B5EF4-FFF2-40B4-BE49-F238E27FC236}">
                <a16:creationId xmlns:a16="http://schemas.microsoft.com/office/drawing/2014/main" id="{742C7EA3-DD2D-A1AC-0E53-217A62737E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6480" y="827632"/>
            <a:ext cx="7772400" cy="1719919"/>
          </a:xfrm>
          <a:prstGeom prst="rect">
            <a:avLst/>
          </a:prstGeom>
        </p:spPr>
      </p:pic>
      <p:pic>
        <p:nvPicPr>
          <p:cNvPr id="6" name="Picture 5">
            <a:extLst>
              <a:ext uri="{FF2B5EF4-FFF2-40B4-BE49-F238E27FC236}">
                <a16:creationId xmlns:a16="http://schemas.microsoft.com/office/drawing/2014/main" id="{E335D3D8-4D95-47ED-5223-AE6C8B0F7C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6480" y="2667032"/>
            <a:ext cx="7772400" cy="765713"/>
          </a:xfrm>
          <a:prstGeom prst="rect">
            <a:avLst/>
          </a:prstGeom>
        </p:spPr>
      </p:pic>
      <p:pic>
        <p:nvPicPr>
          <p:cNvPr id="8" name="Picture 7">
            <a:extLst>
              <a:ext uri="{FF2B5EF4-FFF2-40B4-BE49-F238E27FC236}">
                <a16:creationId xmlns:a16="http://schemas.microsoft.com/office/drawing/2014/main" id="{E696A5F3-FC34-2E32-4285-D5C34295B4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6480" y="3540818"/>
            <a:ext cx="7772400" cy="382115"/>
          </a:xfrm>
          <a:prstGeom prst="rect">
            <a:avLst/>
          </a:prstGeom>
        </p:spPr>
      </p:pic>
      <p:pic>
        <p:nvPicPr>
          <p:cNvPr id="10" name="Picture 9">
            <a:extLst>
              <a:ext uri="{FF2B5EF4-FFF2-40B4-BE49-F238E27FC236}">
                <a16:creationId xmlns:a16="http://schemas.microsoft.com/office/drawing/2014/main" id="{5B217F85-D982-3E4C-0865-51704E1B01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6480" y="3964381"/>
            <a:ext cx="7772400" cy="770681"/>
          </a:xfrm>
          <a:prstGeom prst="rect">
            <a:avLst/>
          </a:prstGeom>
        </p:spPr>
      </p:pic>
      <p:pic>
        <p:nvPicPr>
          <p:cNvPr id="12" name="Picture 11">
            <a:extLst>
              <a:ext uri="{FF2B5EF4-FFF2-40B4-BE49-F238E27FC236}">
                <a16:creationId xmlns:a16="http://schemas.microsoft.com/office/drawing/2014/main" id="{22A034C8-FC82-77F0-D17E-3ABBB90D850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6480" y="4853795"/>
            <a:ext cx="7772400" cy="374769"/>
          </a:xfrm>
          <a:prstGeom prst="rect">
            <a:avLst/>
          </a:prstGeom>
        </p:spPr>
      </p:pic>
      <p:pic>
        <p:nvPicPr>
          <p:cNvPr id="14" name="Picture 13">
            <a:extLst>
              <a:ext uri="{FF2B5EF4-FFF2-40B4-BE49-F238E27FC236}">
                <a16:creationId xmlns:a16="http://schemas.microsoft.com/office/drawing/2014/main" id="{32D24CE9-288E-E6C8-5065-61CDB82BD3B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6480" y="5369369"/>
            <a:ext cx="7772400" cy="665501"/>
          </a:xfrm>
          <a:prstGeom prst="rect">
            <a:avLst/>
          </a:prstGeom>
        </p:spPr>
      </p:pic>
      <p:pic>
        <p:nvPicPr>
          <p:cNvPr id="16" name="Picture 15">
            <a:extLst>
              <a:ext uri="{FF2B5EF4-FFF2-40B4-BE49-F238E27FC236}">
                <a16:creationId xmlns:a16="http://schemas.microsoft.com/office/drawing/2014/main" id="{DE30570B-CB45-BDF5-3D88-50EE2D6BBF5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6480" y="6165676"/>
            <a:ext cx="7772400" cy="402162"/>
          </a:xfrm>
          <a:prstGeom prst="rect">
            <a:avLst/>
          </a:prstGeom>
        </p:spPr>
      </p:pic>
      <p:pic>
        <p:nvPicPr>
          <p:cNvPr id="17" name="Picture 16" descr="A logo with a blue arrow pointing up&#10;&#10;Description automatically generated">
            <a:extLst>
              <a:ext uri="{FF2B5EF4-FFF2-40B4-BE49-F238E27FC236}">
                <a16:creationId xmlns:a16="http://schemas.microsoft.com/office/drawing/2014/main" id="{370CE0BF-E6C7-E6C6-3242-AAD07E7B7469}"/>
              </a:ext>
            </a:extLst>
          </p:cNvPr>
          <p:cNvPicPr>
            <a:picLocks noChangeAspect="1"/>
          </p:cNvPicPr>
          <p:nvPr/>
        </p:nvPicPr>
        <p:blipFill rotWithShape="1">
          <a:blip r:embed="rId10"/>
          <a:srcRect l="9248" r="27480" b="47937"/>
          <a:stretch/>
        </p:blipFill>
        <p:spPr>
          <a:xfrm>
            <a:off x="11097352" y="30644"/>
            <a:ext cx="1012989" cy="830400"/>
          </a:xfrm>
          <a:prstGeom prst="rect">
            <a:avLst/>
          </a:prstGeom>
        </p:spPr>
      </p:pic>
    </p:spTree>
    <p:extLst>
      <p:ext uri="{BB962C8B-B14F-4D97-AF65-F5344CB8AC3E}">
        <p14:creationId xmlns:p14="http://schemas.microsoft.com/office/powerpoint/2010/main" val="1698292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tangle 17"/>
          <p:cNvSpPr/>
          <p:nvPr/>
        </p:nvSpPr>
        <p:spPr>
          <a:xfrm>
            <a:off x="8191508" y="893834"/>
            <a:ext cx="3897651" cy="3633617"/>
          </a:xfrm>
          <a:prstGeom prst="rect">
            <a:avLst/>
          </a:prstGeom>
          <a:solidFill>
            <a:schemeClr val="bg1">
              <a:lumMod val="85000"/>
            </a:schemeClr>
          </a:solidFill>
          <a:ln>
            <a:solidFill>
              <a:srgbClr val="D9D9D9"/>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89" name="CustomShape 1"/>
          <p:cNvSpPr/>
          <p:nvPr/>
        </p:nvSpPr>
        <p:spPr>
          <a:xfrm>
            <a:off x="87120" y="116280"/>
            <a:ext cx="12002040" cy="626040"/>
          </a:xfrm>
          <a:prstGeom prst="rect">
            <a:avLst/>
          </a:prstGeom>
          <a:solidFill>
            <a:schemeClr val="accent1">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IN" sz="2400" b="1" strike="noStrike" spc="-1" dirty="0">
                <a:solidFill>
                  <a:srgbClr val="FFFFFF"/>
                </a:solidFill>
                <a:latin typeface="Franklin Gothic Book"/>
                <a:ea typeface="DejaVu Sans"/>
              </a:rPr>
              <a:t>GOOGLE SEARCH ENGINE – MARKET STUDY – </a:t>
            </a:r>
            <a:r>
              <a:rPr lang="en-IN" sz="2400" b="1" spc="-1" dirty="0">
                <a:solidFill>
                  <a:srgbClr val="FFFFFF"/>
                </a:solidFill>
                <a:latin typeface="Franklin Gothic Book"/>
                <a:ea typeface="DejaVu Sans"/>
              </a:rPr>
              <a:t>NRI MARKET SEARCHES</a:t>
            </a:r>
            <a:endParaRPr lang="en-IN" sz="2400" b="0" strike="noStrike" spc="-1" dirty="0">
              <a:latin typeface="Arial"/>
            </a:endParaRPr>
          </a:p>
        </p:txBody>
      </p:sp>
      <p:sp>
        <p:nvSpPr>
          <p:cNvPr id="190" name="Rectangle 34"/>
          <p:cNvSpPr/>
          <p:nvPr/>
        </p:nvSpPr>
        <p:spPr>
          <a:xfrm>
            <a:off x="0" y="6597720"/>
            <a:ext cx="12191040" cy="259200"/>
          </a:xfrm>
          <a:prstGeom prst="rect">
            <a:avLst/>
          </a:prstGeom>
          <a:solidFill>
            <a:schemeClr val="accent1">
              <a:lumMod val="60000"/>
              <a:lumOff val="40000"/>
            </a:schemeClr>
          </a:solidFill>
          <a:ln>
            <a:noFill/>
          </a:ln>
        </p:spPr>
        <p:style>
          <a:lnRef idx="2">
            <a:schemeClr val="accent6">
              <a:shade val="50000"/>
            </a:schemeClr>
          </a:lnRef>
          <a:fillRef idx="1">
            <a:schemeClr val="accent6"/>
          </a:fillRef>
          <a:effectRef idx="0">
            <a:schemeClr val="accent6"/>
          </a:effectRef>
          <a:fontRef idx="minor"/>
        </p:style>
        <p:txBody>
          <a:bodyPr lIns="90000" tIns="45000" rIns="90000" bIns="45000" anchor="ctr">
            <a:noAutofit/>
          </a:bodyPr>
          <a:lstStyle/>
          <a:p>
            <a:pPr algn="ctr">
              <a:lnSpc>
                <a:spcPct val="100000"/>
              </a:lnSpc>
              <a:tabLst>
                <a:tab pos="0" algn="l"/>
              </a:tabLst>
            </a:pPr>
            <a:r>
              <a:rPr lang="en-US" sz="1200" b="1" strike="noStrike" spc="-1" dirty="0">
                <a:solidFill>
                  <a:srgbClr val="FFFFFF"/>
                </a:solidFill>
                <a:latin typeface="Franklin Gothic Book"/>
                <a:ea typeface="DejaVu Sans"/>
              </a:rPr>
              <a:t>Confidential @</a:t>
            </a:r>
            <a:r>
              <a:rPr lang="en-US" sz="1200" b="1" strike="noStrike" spc="-1" dirty="0" err="1">
                <a:solidFill>
                  <a:srgbClr val="FFFFFF"/>
                </a:solidFill>
                <a:latin typeface="Franklin Gothic Book"/>
                <a:ea typeface="DejaVu Sans"/>
              </a:rPr>
              <a:t>Digifyce</a:t>
            </a:r>
            <a:endParaRPr lang="en-IN" sz="1200" b="0" strike="noStrike" spc="-1" dirty="0">
              <a:latin typeface="Arial"/>
            </a:endParaRPr>
          </a:p>
        </p:txBody>
      </p:sp>
      <p:sp>
        <p:nvSpPr>
          <p:cNvPr id="191" name="TextBox 16"/>
          <p:cNvSpPr/>
          <p:nvPr/>
        </p:nvSpPr>
        <p:spPr>
          <a:xfrm>
            <a:off x="8191508" y="967101"/>
            <a:ext cx="3897650" cy="353797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IN" sz="1600" b="1" strike="noStrike" spc="-1" dirty="0">
                <a:solidFill>
                  <a:srgbClr val="000000"/>
                </a:solidFill>
                <a:latin typeface="Franklin Gothic Book"/>
                <a:ea typeface="DejaVu Sans"/>
              </a:rPr>
              <a:t>Topic: Keywords</a:t>
            </a:r>
            <a:endParaRPr lang="en-IN" sz="1600" b="0" strike="noStrike" spc="-1" dirty="0">
              <a:latin typeface="Arial"/>
            </a:endParaRPr>
          </a:p>
          <a:p>
            <a:pPr>
              <a:lnSpc>
                <a:spcPct val="100000"/>
              </a:lnSpc>
            </a:pP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Asset Type: </a:t>
            </a:r>
            <a:r>
              <a:rPr lang="en-IN" sz="1600" b="1" spc="-1" dirty="0">
                <a:solidFill>
                  <a:srgbClr val="000000"/>
                </a:solidFill>
                <a:latin typeface="Franklin Gothic Book"/>
                <a:ea typeface="DejaVu Sans"/>
              </a:rPr>
              <a:t> </a:t>
            </a:r>
            <a:r>
              <a:rPr lang="en-IN" sz="1600" spc="-1" dirty="0">
                <a:solidFill>
                  <a:srgbClr val="000000"/>
                </a:solidFill>
                <a:latin typeface="Franklin Gothic Book"/>
                <a:ea typeface="DejaVu Sans"/>
              </a:rPr>
              <a:t>Search</a:t>
            </a:r>
            <a:r>
              <a:rPr lang="en-IN" sz="1600" b="1" spc="-1" dirty="0">
                <a:solidFill>
                  <a:srgbClr val="000000"/>
                </a:solidFill>
                <a:latin typeface="Franklin Gothic Book"/>
                <a:ea typeface="DejaVu Sans"/>
              </a:rPr>
              <a:t> </a:t>
            </a:r>
            <a:r>
              <a:rPr lang="en-IN" sz="1600" b="0" strike="noStrike" spc="-1" dirty="0">
                <a:solidFill>
                  <a:srgbClr val="000000"/>
                </a:solidFill>
                <a:latin typeface="Franklin Gothic Book"/>
                <a:ea typeface="DejaVu Sans"/>
              </a:rPr>
              <a:t>Ads, Demand Gen, YouTube, Display</a:t>
            </a: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Channels: </a:t>
            </a:r>
            <a:r>
              <a:rPr lang="en-IN" sz="1600" b="0" strike="noStrike" spc="-1" dirty="0">
                <a:solidFill>
                  <a:srgbClr val="000000"/>
                </a:solidFill>
                <a:latin typeface="Franklin Gothic Book"/>
                <a:ea typeface="DejaVu Sans"/>
              </a:rPr>
              <a:t>Google</a:t>
            </a: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Objective: </a:t>
            </a:r>
            <a:r>
              <a:rPr lang="en-IN" sz="1600" strike="noStrike" spc="-1" dirty="0">
                <a:solidFill>
                  <a:srgbClr val="000000"/>
                </a:solidFill>
                <a:latin typeface="Franklin Gothic Book"/>
                <a:ea typeface="DejaVu Sans"/>
              </a:rPr>
              <a:t>Leads</a:t>
            </a:r>
            <a:endParaRPr lang="en-IN" sz="1600" strike="noStrike" spc="-1" dirty="0">
              <a:latin typeface="Arial"/>
            </a:endParaRPr>
          </a:p>
          <a:p>
            <a:pPr>
              <a:lnSpc>
                <a:spcPct val="100000"/>
              </a:lnSpc>
            </a:pP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Audience:</a:t>
            </a:r>
            <a:r>
              <a:rPr lang="en-IN" sz="1600" strike="noStrike" spc="-1" dirty="0">
                <a:solidFill>
                  <a:srgbClr val="000000"/>
                </a:solidFill>
                <a:latin typeface="Franklin Gothic Book"/>
                <a:ea typeface="DejaVu Sans"/>
              </a:rPr>
              <a:t> People searching based on keywords from other countries</a:t>
            </a:r>
            <a:endParaRPr lang="en-IN" sz="1600" strike="noStrike" spc="-1" dirty="0">
              <a:latin typeface="Arial"/>
            </a:endParaRPr>
          </a:p>
          <a:p>
            <a:pPr>
              <a:lnSpc>
                <a:spcPct val="100000"/>
              </a:lnSpc>
            </a:pP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Location: Singapore, Malaysia, USA, UK, Australia, NZ</a:t>
            </a: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Interests: </a:t>
            </a:r>
            <a:r>
              <a:rPr lang="en-IN" sz="1600" b="0" strike="noStrike" spc="-1" dirty="0">
                <a:solidFill>
                  <a:srgbClr val="000000"/>
                </a:solidFill>
                <a:latin typeface="Franklin Gothic Book"/>
                <a:ea typeface="DejaVu Sans"/>
              </a:rPr>
              <a:t>People searching Villas, Houses for sale from other countries</a:t>
            </a:r>
            <a:endParaRPr lang="en-IN" sz="1600" b="0" strike="noStrike" spc="-1" dirty="0">
              <a:latin typeface="Arial"/>
            </a:endParaRPr>
          </a:p>
        </p:txBody>
      </p:sp>
      <p:sp>
        <p:nvSpPr>
          <p:cNvPr id="194" name="Rectangle 20"/>
          <p:cNvSpPr/>
          <p:nvPr/>
        </p:nvSpPr>
        <p:spPr>
          <a:xfrm>
            <a:off x="8191508" y="4603771"/>
            <a:ext cx="3897650" cy="1786338"/>
          </a:xfrm>
          <a:prstGeom prst="rect">
            <a:avLst/>
          </a:prstGeom>
          <a:solidFill>
            <a:schemeClr val="accent6">
              <a:lumMod val="40000"/>
              <a:lumOff val="60000"/>
            </a:schemeClr>
          </a:solidFill>
          <a:ln>
            <a:solidFill>
              <a:srgbClr val="D9D9D9"/>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US" sz="1400" b="0" strike="noStrike" spc="-1" dirty="0">
                <a:solidFill>
                  <a:srgbClr val="000000"/>
                </a:solidFill>
                <a:latin typeface="Franklin Gothic Medium"/>
                <a:ea typeface="DejaVu Sans"/>
              </a:rPr>
              <a:t>Monthly Forecast</a:t>
            </a:r>
          </a:p>
          <a:p>
            <a:pPr>
              <a:lnSpc>
                <a:spcPct val="100000"/>
              </a:lnSpc>
            </a:pPr>
            <a:endParaRPr lang="en-US" sz="1400" spc="-1" dirty="0">
              <a:solidFill>
                <a:srgbClr val="000000"/>
              </a:solidFill>
              <a:latin typeface="Franklin Gothic Medium"/>
              <a:ea typeface="DejaVu Sans"/>
            </a:endParaRPr>
          </a:p>
          <a:p>
            <a:pPr>
              <a:lnSpc>
                <a:spcPct val="100000"/>
              </a:lnSpc>
            </a:pPr>
            <a:r>
              <a:rPr lang="en-US" sz="1400" b="0" strike="noStrike" spc="-1" dirty="0">
                <a:solidFill>
                  <a:srgbClr val="000000"/>
                </a:solidFill>
                <a:latin typeface="Franklin Gothic Medium"/>
                <a:ea typeface="DejaVu Sans"/>
              </a:rPr>
              <a:t>Search Volume: Around 2K</a:t>
            </a:r>
          </a:p>
          <a:p>
            <a:pPr>
              <a:lnSpc>
                <a:spcPct val="100000"/>
              </a:lnSpc>
            </a:pPr>
            <a:r>
              <a:rPr lang="en-US" sz="1400" spc="-1" dirty="0">
                <a:solidFill>
                  <a:srgbClr val="000000"/>
                </a:solidFill>
                <a:latin typeface="Franklin Gothic Medium"/>
              </a:rPr>
              <a:t>Expected Traffic: 200 to 250</a:t>
            </a:r>
          </a:p>
          <a:p>
            <a:pPr>
              <a:lnSpc>
                <a:spcPct val="100000"/>
              </a:lnSpc>
            </a:pPr>
            <a:endParaRPr lang="en-US" sz="1400" spc="-1" dirty="0">
              <a:solidFill>
                <a:srgbClr val="000000"/>
              </a:solidFill>
              <a:latin typeface="Franklin Gothic Medium"/>
            </a:endParaRPr>
          </a:p>
          <a:p>
            <a:pPr>
              <a:lnSpc>
                <a:spcPct val="100000"/>
              </a:lnSpc>
            </a:pPr>
            <a:endParaRPr lang="en-US" sz="1400" spc="-1" dirty="0">
              <a:solidFill>
                <a:srgbClr val="000000"/>
              </a:solidFill>
              <a:latin typeface="Franklin Gothic Medium"/>
            </a:endParaRPr>
          </a:p>
          <a:p>
            <a:pPr>
              <a:lnSpc>
                <a:spcPct val="100000"/>
              </a:lnSpc>
            </a:pPr>
            <a:r>
              <a:rPr lang="en-US" sz="1400" b="0" strike="noStrike" spc="-1" dirty="0">
                <a:solidFill>
                  <a:srgbClr val="000000"/>
                </a:solidFill>
                <a:latin typeface="Franklin Gothic Medium"/>
              </a:rPr>
              <a:t>Lead</a:t>
            </a:r>
            <a:r>
              <a:rPr lang="en-US" sz="1400" spc="-1" dirty="0">
                <a:solidFill>
                  <a:srgbClr val="000000"/>
                </a:solidFill>
                <a:latin typeface="Franklin Gothic Medium"/>
              </a:rPr>
              <a:t>s Expected: 20 to 35</a:t>
            </a:r>
            <a:endParaRPr lang="en-IN" sz="1400" b="0" strike="noStrike" spc="-1" dirty="0">
              <a:latin typeface="Arial"/>
            </a:endParaRPr>
          </a:p>
        </p:txBody>
      </p:sp>
      <p:pic>
        <p:nvPicPr>
          <p:cNvPr id="3" name="Picture 2" descr="A screenshot of a graph&#10;&#10;Description automatically generated">
            <a:extLst>
              <a:ext uri="{FF2B5EF4-FFF2-40B4-BE49-F238E27FC236}">
                <a16:creationId xmlns:a16="http://schemas.microsoft.com/office/drawing/2014/main" id="{FDFDDD46-6B28-04DA-E959-3AFA461744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814" y="806747"/>
            <a:ext cx="7772400" cy="2574505"/>
          </a:xfrm>
          <a:prstGeom prst="rect">
            <a:avLst/>
          </a:prstGeom>
        </p:spPr>
      </p:pic>
      <p:pic>
        <p:nvPicPr>
          <p:cNvPr id="7" name="Picture 6">
            <a:extLst>
              <a:ext uri="{FF2B5EF4-FFF2-40B4-BE49-F238E27FC236}">
                <a16:creationId xmlns:a16="http://schemas.microsoft.com/office/drawing/2014/main" id="{58B74DE9-CCE5-5473-5485-BE8DF53738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5814" y="3249079"/>
            <a:ext cx="7772400" cy="815978"/>
          </a:xfrm>
          <a:prstGeom prst="rect">
            <a:avLst/>
          </a:prstGeom>
        </p:spPr>
      </p:pic>
      <p:pic>
        <p:nvPicPr>
          <p:cNvPr id="11" name="Picture 10">
            <a:extLst>
              <a:ext uri="{FF2B5EF4-FFF2-40B4-BE49-F238E27FC236}">
                <a16:creationId xmlns:a16="http://schemas.microsoft.com/office/drawing/2014/main" id="{957BBF59-D38E-4930-FC97-80611CCFFC1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5813" y="3981299"/>
            <a:ext cx="7772400" cy="384934"/>
          </a:xfrm>
          <a:prstGeom prst="rect">
            <a:avLst/>
          </a:prstGeom>
        </p:spPr>
      </p:pic>
      <p:pic>
        <p:nvPicPr>
          <p:cNvPr id="15" name="Picture 14">
            <a:extLst>
              <a:ext uri="{FF2B5EF4-FFF2-40B4-BE49-F238E27FC236}">
                <a16:creationId xmlns:a16="http://schemas.microsoft.com/office/drawing/2014/main" id="{1AB150E0-424E-A3C3-EBE6-D412C4E9E91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5813" y="4415264"/>
            <a:ext cx="7772400" cy="394788"/>
          </a:xfrm>
          <a:prstGeom prst="rect">
            <a:avLst/>
          </a:prstGeom>
        </p:spPr>
      </p:pic>
      <p:pic>
        <p:nvPicPr>
          <p:cNvPr id="18" name="Picture 17" descr="A screenshot of a graph&#10;&#10;Description automatically generated">
            <a:extLst>
              <a:ext uri="{FF2B5EF4-FFF2-40B4-BE49-F238E27FC236}">
                <a16:creationId xmlns:a16="http://schemas.microsoft.com/office/drawing/2014/main" id="{151A4ABE-46DE-4733-9479-8A2417CC139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5813" y="4773754"/>
            <a:ext cx="7772400" cy="1774670"/>
          </a:xfrm>
          <a:prstGeom prst="rect">
            <a:avLst/>
          </a:prstGeom>
        </p:spPr>
      </p:pic>
      <p:pic>
        <p:nvPicPr>
          <p:cNvPr id="19" name="Picture 18" descr="A logo with a blue arrow pointing up&#10;&#10;Description automatically generated">
            <a:extLst>
              <a:ext uri="{FF2B5EF4-FFF2-40B4-BE49-F238E27FC236}">
                <a16:creationId xmlns:a16="http://schemas.microsoft.com/office/drawing/2014/main" id="{D945BA65-3E65-1E58-0A62-2FA5CD920853}"/>
              </a:ext>
            </a:extLst>
          </p:cNvPr>
          <p:cNvPicPr>
            <a:picLocks noChangeAspect="1"/>
          </p:cNvPicPr>
          <p:nvPr/>
        </p:nvPicPr>
        <p:blipFill rotWithShape="1">
          <a:blip r:embed="rId8"/>
          <a:srcRect l="9248" r="27480" b="47937"/>
          <a:stretch/>
        </p:blipFill>
        <p:spPr>
          <a:xfrm>
            <a:off x="11097352" y="30644"/>
            <a:ext cx="1012989" cy="830400"/>
          </a:xfrm>
          <a:prstGeom prst="rect">
            <a:avLst/>
          </a:prstGeom>
        </p:spPr>
      </p:pic>
    </p:spTree>
    <p:extLst>
      <p:ext uri="{BB962C8B-B14F-4D97-AF65-F5344CB8AC3E}">
        <p14:creationId xmlns:p14="http://schemas.microsoft.com/office/powerpoint/2010/main" val="1107486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 name="Rectangle 17"/>
          <p:cNvSpPr/>
          <p:nvPr/>
        </p:nvSpPr>
        <p:spPr>
          <a:xfrm>
            <a:off x="8191508" y="893834"/>
            <a:ext cx="3897651" cy="3633617"/>
          </a:xfrm>
          <a:prstGeom prst="rect">
            <a:avLst/>
          </a:prstGeom>
          <a:solidFill>
            <a:schemeClr val="bg1">
              <a:lumMod val="85000"/>
            </a:schemeClr>
          </a:solidFill>
          <a:ln>
            <a:solidFill>
              <a:srgbClr val="D9D9D9"/>
            </a:solidFill>
          </a:ln>
        </p:spPr>
        <p:style>
          <a:lnRef idx="2">
            <a:schemeClr val="accent1">
              <a:shade val="50000"/>
            </a:schemeClr>
          </a:lnRef>
          <a:fillRef idx="1">
            <a:schemeClr val="accent1"/>
          </a:fillRef>
          <a:effectRef idx="0">
            <a:schemeClr val="accent1"/>
          </a:effectRef>
          <a:fontRef idx="minor"/>
        </p:style>
        <p:txBody>
          <a:bodyPr/>
          <a:lstStyle/>
          <a:p>
            <a:endParaRPr lang="en-US"/>
          </a:p>
        </p:txBody>
      </p:sp>
      <p:sp>
        <p:nvSpPr>
          <p:cNvPr id="189" name="CustomShape 1"/>
          <p:cNvSpPr/>
          <p:nvPr/>
        </p:nvSpPr>
        <p:spPr>
          <a:xfrm>
            <a:off x="87120" y="116280"/>
            <a:ext cx="12002040" cy="626040"/>
          </a:xfrm>
          <a:prstGeom prst="rect">
            <a:avLst/>
          </a:prstGeom>
          <a:solidFill>
            <a:schemeClr val="accent1">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IN" sz="2400" b="1" strike="noStrike" spc="-1" dirty="0">
                <a:solidFill>
                  <a:srgbClr val="FFFFFF"/>
                </a:solidFill>
                <a:latin typeface="Franklin Gothic Book"/>
                <a:ea typeface="DejaVu Sans"/>
              </a:rPr>
              <a:t>GOOGLE SEARCH ENGINE – MARKET STUDY – </a:t>
            </a:r>
            <a:r>
              <a:rPr lang="en-IN" sz="2400" b="1" spc="-1" dirty="0">
                <a:solidFill>
                  <a:srgbClr val="FFFFFF"/>
                </a:solidFill>
                <a:latin typeface="Franklin Gothic Book"/>
                <a:ea typeface="DejaVu Sans"/>
              </a:rPr>
              <a:t>T1 CITIES MARKET SEARCHES</a:t>
            </a:r>
            <a:endParaRPr lang="en-IN" sz="2400" b="0" strike="noStrike" spc="-1" dirty="0">
              <a:latin typeface="Arial"/>
            </a:endParaRPr>
          </a:p>
        </p:txBody>
      </p:sp>
      <p:sp>
        <p:nvSpPr>
          <p:cNvPr id="190" name="Rectangle 34"/>
          <p:cNvSpPr/>
          <p:nvPr/>
        </p:nvSpPr>
        <p:spPr>
          <a:xfrm>
            <a:off x="0" y="6597720"/>
            <a:ext cx="12191040" cy="259200"/>
          </a:xfrm>
          <a:prstGeom prst="rect">
            <a:avLst/>
          </a:prstGeom>
          <a:solidFill>
            <a:schemeClr val="accent1">
              <a:lumMod val="60000"/>
              <a:lumOff val="40000"/>
            </a:schemeClr>
          </a:solidFill>
          <a:ln>
            <a:noFill/>
          </a:ln>
        </p:spPr>
        <p:style>
          <a:lnRef idx="2">
            <a:schemeClr val="accent6">
              <a:shade val="50000"/>
            </a:schemeClr>
          </a:lnRef>
          <a:fillRef idx="1">
            <a:schemeClr val="accent6"/>
          </a:fillRef>
          <a:effectRef idx="0">
            <a:schemeClr val="accent6"/>
          </a:effectRef>
          <a:fontRef idx="minor"/>
        </p:style>
        <p:txBody>
          <a:bodyPr lIns="90000" tIns="45000" rIns="90000" bIns="45000" anchor="ctr">
            <a:noAutofit/>
          </a:bodyPr>
          <a:lstStyle/>
          <a:p>
            <a:pPr algn="ctr">
              <a:lnSpc>
                <a:spcPct val="100000"/>
              </a:lnSpc>
              <a:tabLst>
                <a:tab pos="0" algn="l"/>
              </a:tabLst>
            </a:pPr>
            <a:r>
              <a:rPr lang="en-US" sz="1200" b="1" strike="noStrike" spc="-1" dirty="0">
                <a:solidFill>
                  <a:srgbClr val="FFFFFF"/>
                </a:solidFill>
                <a:latin typeface="Franklin Gothic Book"/>
                <a:ea typeface="DejaVu Sans"/>
              </a:rPr>
              <a:t>Confidential @</a:t>
            </a:r>
            <a:r>
              <a:rPr lang="en-US" sz="1200" b="1" strike="noStrike" spc="-1" dirty="0" err="1">
                <a:solidFill>
                  <a:srgbClr val="FFFFFF"/>
                </a:solidFill>
                <a:latin typeface="Franklin Gothic Book"/>
                <a:ea typeface="DejaVu Sans"/>
              </a:rPr>
              <a:t>Digifyce</a:t>
            </a:r>
            <a:endParaRPr lang="en-IN" sz="1200" b="0" strike="noStrike" spc="-1" dirty="0">
              <a:latin typeface="Arial"/>
            </a:endParaRPr>
          </a:p>
        </p:txBody>
      </p:sp>
      <p:sp>
        <p:nvSpPr>
          <p:cNvPr id="191" name="TextBox 16"/>
          <p:cNvSpPr/>
          <p:nvPr/>
        </p:nvSpPr>
        <p:spPr>
          <a:xfrm>
            <a:off x="8191508" y="961990"/>
            <a:ext cx="3999531" cy="353797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IN" sz="1600" b="1" strike="noStrike" spc="-1" dirty="0">
                <a:solidFill>
                  <a:srgbClr val="000000"/>
                </a:solidFill>
                <a:latin typeface="Franklin Gothic Book"/>
                <a:ea typeface="DejaVu Sans"/>
              </a:rPr>
              <a:t>Topic: Keywords</a:t>
            </a:r>
            <a:endParaRPr lang="en-IN" sz="1600" b="0" strike="noStrike" spc="-1" dirty="0">
              <a:latin typeface="Arial"/>
            </a:endParaRPr>
          </a:p>
          <a:p>
            <a:pPr>
              <a:lnSpc>
                <a:spcPct val="100000"/>
              </a:lnSpc>
            </a:pP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Asset Type: </a:t>
            </a:r>
            <a:r>
              <a:rPr lang="en-IN" sz="1600" b="1" spc="-1" dirty="0">
                <a:solidFill>
                  <a:srgbClr val="000000"/>
                </a:solidFill>
                <a:latin typeface="Franklin Gothic Book"/>
                <a:ea typeface="DejaVu Sans"/>
              </a:rPr>
              <a:t> </a:t>
            </a:r>
            <a:r>
              <a:rPr lang="en-IN" sz="1600" spc="-1" dirty="0">
                <a:solidFill>
                  <a:srgbClr val="000000"/>
                </a:solidFill>
                <a:latin typeface="Franklin Gothic Book"/>
                <a:ea typeface="DejaVu Sans"/>
              </a:rPr>
              <a:t>Search</a:t>
            </a:r>
            <a:r>
              <a:rPr lang="en-IN" sz="1600" b="1" spc="-1" dirty="0">
                <a:solidFill>
                  <a:srgbClr val="000000"/>
                </a:solidFill>
                <a:latin typeface="Franklin Gothic Book"/>
                <a:ea typeface="DejaVu Sans"/>
              </a:rPr>
              <a:t> </a:t>
            </a:r>
            <a:r>
              <a:rPr lang="en-IN" sz="1600" b="0" strike="noStrike" spc="-1" dirty="0">
                <a:solidFill>
                  <a:srgbClr val="000000"/>
                </a:solidFill>
                <a:latin typeface="Franklin Gothic Book"/>
                <a:ea typeface="DejaVu Sans"/>
              </a:rPr>
              <a:t>Ads, Demand Gen, YouTube, Display</a:t>
            </a: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Channels: </a:t>
            </a:r>
            <a:r>
              <a:rPr lang="en-IN" sz="1600" b="0" strike="noStrike" spc="-1" dirty="0">
                <a:solidFill>
                  <a:srgbClr val="000000"/>
                </a:solidFill>
                <a:latin typeface="Franklin Gothic Book"/>
                <a:ea typeface="DejaVu Sans"/>
              </a:rPr>
              <a:t>Google</a:t>
            </a: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Objective: </a:t>
            </a:r>
            <a:r>
              <a:rPr lang="en-IN" sz="1600" strike="noStrike" spc="-1" dirty="0">
                <a:solidFill>
                  <a:srgbClr val="000000"/>
                </a:solidFill>
                <a:latin typeface="Franklin Gothic Book"/>
                <a:ea typeface="DejaVu Sans"/>
              </a:rPr>
              <a:t>Leads</a:t>
            </a:r>
            <a:endParaRPr lang="en-IN" sz="1600" strike="noStrike" spc="-1" dirty="0">
              <a:latin typeface="Arial"/>
            </a:endParaRPr>
          </a:p>
          <a:p>
            <a:pPr>
              <a:lnSpc>
                <a:spcPct val="100000"/>
              </a:lnSpc>
            </a:pP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Audience:</a:t>
            </a:r>
            <a:r>
              <a:rPr lang="en-IN" sz="1600" strike="noStrike" spc="-1" dirty="0">
                <a:solidFill>
                  <a:srgbClr val="000000"/>
                </a:solidFill>
                <a:latin typeface="Franklin Gothic Book"/>
                <a:ea typeface="DejaVu Sans"/>
              </a:rPr>
              <a:t> People searching based on keywords from other cities</a:t>
            </a:r>
            <a:endParaRPr lang="en-IN" sz="1600" strike="noStrike" spc="-1" dirty="0">
              <a:latin typeface="Arial"/>
            </a:endParaRPr>
          </a:p>
          <a:p>
            <a:pPr>
              <a:lnSpc>
                <a:spcPct val="100000"/>
              </a:lnSpc>
            </a:pP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Location: Chennai, Pune, Mumbai, Delhi, Bengaluru, Hyderabad</a:t>
            </a:r>
            <a:endParaRPr lang="en-IN" sz="1600" b="0" strike="noStrike" spc="-1" dirty="0">
              <a:latin typeface="Arial"/>
            </a:endParaRPr>
          </a:p>
          <a:p>
            <a:pPr>
              <a:lnSpc>
                <a:spcPct val="100000"/>
              </a:lnSpc>
            </a:pPr>
            <a:r>
              <a:rPr lang="en-IN" sz="1600" b="1" strike="noStrike" spc="-1" dirty="0">
                <a:solidFill>
                  <a:srgbClr val="000000"/>
                </a:solidFill>
                <a:latin typeface="Franklin Gothic Book"/>
                <a:ea typeface="DejaVu Sans"/>
              </a:rPr>
              <a:t>Interests: </a:t>
            </a:r>
            <a:r>
              <a:rPr lang="en-IN" sz="1600" b="0" strike="noStrike" spc="-1" dirty="0">
                <a:solidFill>
                  <a:srgbClr val="000000"/>
                </a:solidFill>
                <a:latin typeface="Franklin Gothic Book"/>
                <a:ea typeface="DejaVu Sans"/>
              </a:rPr>
              <a:t>People searching Villas, Houses for sale from other cities</a:t>
            </a:r>
            <a:endParaRPr lang="en-IN" sz="1600" b="0" strike="noStrike" spc="-1" dirty="0">
              <a:latin typeface="Arial"/>
            </a:endParaRPr>
          </a:p>
        </p:txBody>
      </p:sp>
      <p:sp>
        <p:nvSpPr>
          <p:cNvPr id="194" name="Rectangle 20"/>
          <p:cNvSpPr/>
          <p:nvPr/>
        </p:nvSpPr>
        <p:spPr>
          <a:xfrm>
            <a:off x="8191508" y="4603771"/>
            <a:ext cx="3897650" cy="1786338"/>
          </a:xfrm>
          <a:prstGeom prst="rect">
            <a:avLst/>
          </a:prstGeom>
          <a:solidFill>
            <a:schemeClr val="accent6">
              <a:lumMod val="40000"/>
              <a:lumOff val="60000"/>
            </a:schemeClr>
          </a:solidFill>
          <a:ln>
            <a:solidFill>
              <a:srgbClr val="D9D9D9"/>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US" sz="1400" b="0" strike="noStrike" spc="-1" dirty="0">
                <a:solidFill>
                  <a:srgbClr val="000000"/>
                </a:solidFill>
                <a:latin typeface="Franklin Gothic Medium"/>
                <a:ea typeface="DejaVu Sans"/>
              </a:rPr>
              <a:t>Monthly Forecast</a:t>
            </a:r>
          </a:p>
          <a:p>
            <a:pPr>
              <a:lnSpc>
                <a:spcPct val="100000"/>
              </a:lnSpc>
            </a:pPr>
            <a:endParaRPr lang="en-US" sz="1400" spc="-1" dirty="0">
              <a:solidFill>
                <a:srgbClr val="000000"/>
              </a:solidFill>
              <a:latin typeface="Franklin Gothic Medium"/>
              <a:ea typeface="DejaVu Sans"/>
            </a:endParaRPr>
          </a:p>
          <a:p>
            <a:pPr>
              <a:lnSpc>
                <a:spcPct val="100000"/>
              </a:lnSpc>
            </a:pPr>
            <a:r>
              <a:rPr lang="en-US" sz="1400" b="0" strike="noStrike" spc="-1" dirty="0">
                <a:solidFill>
                  <a:srgbClr val="000000"/>
                </a:solidFill>
                <a:latin typeface="Franklin Gothic Medium"/>
                <a:ea typeface="DejaVu Sans"/>
              </a:rPr>
              <a:t>Search Volume: Around 5K</a:t>
            </a:r>
          </a:p>
          <a:p>
            <a:pPr>
              <a:lnSpc>
                <a:spcPct val="100000"/>
              </a:lnSpc>
            </a:pPr>
            <a:r>
              <a:rPr lang="en-US" sz="1400" spc="-1" dirty="0">
                <a:solidFill>
                  <a:srgbClr val="000000"/>
                </a:solidFill>
                <a:latin typeface="Franklin Gothic Medium"/>
              </a:rPr>
              <a:t>Expected Traffic: 500 to 650</a:t>
            </a:r>
          </a:p>
          <a:p>
            <a:pPr>
              <a:lnSpc>
                <a:spcPct val="100000"/>
              </a:lnSpc>
            </a:pPr>
            <a:endParaRPr lang="en-US" sz="1400" spc="-1" dirty="0">
              <a:solidFill>
                <a:srgbClr val="000000"/>
              </a:solidFill>
              <a:latin typeface="Franklin Gothic Medium"/>
            </a:endParaRPr>
          </a:p>
          <a:p>
            <a:pPr>
              <a:lnSpc>
                <a:spcPct val="100000"/>
              </a:lnSpc>
            </a:pPr>
            <a:endParaRPr lang="en-US" sz="1400" spc="-1" dirty="0">
              <a:solidFill>
                <a:srgbClr val="000000"/>
              </a:solidFill>
              <a:latin typeface="Franklin Gothic Medium"/>
            </a:endParaRPr>
          </a:p>
          <a:p>
            <a:pPr>
              <a:lnSpc>
                <a:spcPct val="100000"/>
              </a:lnSpc>
            </a:pPr>
            <a:r>
              <a:rPr lang="en-US" sz="1400" b="0" strike="noStrike" spc="-1" dirty="0">
                <a:solidFill>
                  <a:srgbClr val="000000"/>
                </a:solidFill>
                <a:latin typeface="Franklin Gothic Medium"/>
              </a:rPr>
              <a:t>Lead</a:t>
            </a:r>
            <a:r>
              <a:rPr lang="en-US" sz="1400" spc="-1" dirty="0">
                <a:solidFill>
                  <a:srgbClr val="000000"/>
                </a:solidFill>
                <a:latin typeface="Franklin Gothic Medium"/>
              </a:rPr>
              <a:t>s Expected: 50 to 75</a:t>
            </a:r>
            <a:endParaRPr lang="en-IN" sz="1400" b="0" strike="noStrike" spc="-1" dirty="0">
              <a:latin typeface="Arial"/>
            </a:endParaRPr>
          </a:p>
        </p:txBody>
      </p:sp>
      <p:pic>
        <p:nvPicPr>
          <p:cNvPr id="4" name="Picture 3" descr="A screenshot of a phone&#10;&#10;Description automatically generated">
            <a:extLst>
              <a:ext uri="{FF2B5EF4-FFF2-40B4-BE49-F238E27FC236}">
                <a16:creationId xmlns:a16="http://schemas.microsoft.com/office/drawing/2014/main" id="{76CD960C-C96A-E337-0172-DB73DC9E8C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836" y="864061"/>
            <a:ext cx="7772400" cy="968472"/>
          </a:xfrm>
          <a:prstGeom prst="rect">
            <a:avLst/>
          </a:prstGeom>
        </p:spPr>
      </p:pic>
      <p:pic>
        <p:nvPicPr>
          <p:cNvPr id="6" name="Picture 5">
            <a:extLst>
              <a:ext uri="{FF2B5EF4-FFF2-40B4-BE49-F238E27FC236}">
                <a16:creationId xmlns:a16="http://schemas.microsoft.com/office/drawing/2014/main" id="{E1E4E0C0-6F13-A52F-6AE6-B35BCAD97C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5836" y="1843374"/>
            <a:ext cx="7772400" cy="393539"/>
          </a:xfrm>
          <a:prstGeom prst="rect">
            <a:avLst/>
          </a:prstGeom>
        </p:spPr>
      </p:pic>
      <p:pic>
        <p:nvPicPr>
          <p:cNvPr id="9" name="Picture 8">
            <a:extLst>
              <a:ext uri="{FF2B5EF4-FFF2-40B4-BE49-F238E27FC236}">
                <a16:creationId xmlns:a16="http://schemas.microsoft.com/office/drawing/2014/main" id="{A9B94050-11E7-A53E-2F4E-10C5EAA966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5836" y="2318920"/>
            <a:ext cx="7772400" cy="351064"/>
          </a:xfrm>
          <a:prstGeom prst="rect">
            <a:avLst/>
          </a:prstGeom>
        </p:spPr>
      </p:pic>
      <p:pic>
        <p:nvPicPr>
          <p:cNvPr id="12" name="Picture 11">
            <a:extLst>
              <a:ext uri="{FF2B5EF4-FFF2-40B4-BE49-F238E27FC236}">
                <a16:creationId xmlns:a16="http://schemas.microsoft.com/office/drawing/2014/main" id="{E7AA0C8E-AE8F-97F6-7069-48508740A48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5836" y="2685104"/>
            <a:ext cx="7772400" cy="954219"/>
          </a:xfrm>
          <a:prstGeom prst="rect">
            <a:avLst/>
          </a:prstGeom>
        </p:spPr>
      </p:pic>
      <p:pic>
        <p:nvPicPr>
          <p:cNvPr id="14" name="Picture 13">
            <a:extLst>
              <a:ext uri="{FF2B5EF4-FFF2-40B4-BE49-F238E27FC236}">
                <a16:creationId xmlns:a16="http://schemas.microsoft.com/office/drawing/2014/main" id="{74F2918D-62BB-0E16-8983-FF46C1F5834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5836" y="3720030"/>
            <a:ext cx="7772400" cy="433162"/>
          </a:xfrm>
          <a:prstGeom prst="rect">
            <a:avLst/>
          </a:prstGeom>
        </p:spPr>
      </p:pic>
      <p:pic>
        <p:nvPicPr>
          <p:cNvPr id="17" name="Picture 16">
            <a:extLst>
              <a:ext uri="{FF2B5EF4-FFF2-40B4-BE49-F238E27FC236}">
                <a16:creationId xmlns:a16="http://schemas.microsoft.com/office/drawing/2014/main" id="{C3D3AAE2-D3D2-37EE-76F7-5F3B1662DF7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5836" y="4169355"/>
            <a:ext cx="7772400" cy="407785"/>
          </a:xfrm>
          <a:prstGeom prst="rect">
            <a:avLst/>
          </a:prstGeom>
        </p:spPr>
      </p:pic>
      <p:pic>
        <p:nvPicPr>
          <p:cNvPr id="20" name="Picture 19">
            <a:extLst>
              <a:ext uri="{FF2B5EF4-FFF2-40B4-BE49-F238E27FC236}">
                <a16:creationId xmlns:a16="http://schemas.microsoft.com/office/drawing/2014/main" id="{61E55019-9CB6-8B6C-959A-5446A958B37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5836" y="4593303"/>
            <a:ext cx="7772400" cy="397959"/>
          </a:xfrm>
          <a:prstGeom prst="rect">
            <a:avLst/>
          </a:prstGeom>
        </p:spPr>
      </p:pic>
      <p:pic>
        <p:nvPicPr>
          <p:cNvPr id="22" name="Picture 21">
            <a:extLst>
              <a:ext uri="{FF2B5EF4-FFF2-40B4-BE49-F238E27FC236}">
                <a16:creationId xmlns:a16="http://schemas.microsoft.com/office/drawing/2014/main" id="{997D6CDB-ADB8-D73D-2847-4B820A76319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45836" y="4959785"/>
            <a:ext cx="7772400" cy="478176"/>
          </a:xfrm>
          <a:prstGeom prst="rect">
            <a:avLst/>
          </a:prstGeom>
        </p:spPr>
      </p:pic>
      <p:pic>
        <p:nvPicPr>
          <p:cNvPr id="24" name="Picture 23" descr="A screenshot of a graph&#10;&#10;Description automatically generated">
            <a:extLst>
              <a:ext uri="{FF2B5EF4-FFF2-40B4-BE49-F238E27FC236}">
                <a16:creationId xmlns:a16="http://schemas.microsoft.com/office/drawing/2014/main" id="{20B64191-B021-8680-BF20-7352B0C305C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45836" y="5514147"/>
            <a:ext cx="7772400" cy="1083573"/>
          </a:xfrm>
          <a:prstGeom prst="rect">
            <a:avLst/>
          </a:prstGeom>
        </p:spPr>
      </p:pic>
      <p:pic>
        <p:nvPicPr>
          <p:cNvPr id="25" name="Picture 24" descr="A logo with a blue arrow pointing up&#10;&#10;Description automatically generated">
            <a:extLst>
              <a:ext uri="{FF2B5EF4-FFF2-40B4-BE49-F238E27FC236}">
                <a16:creationId xmlns:a16="http://schemas.microsoft.com/office/drawing/2014/main" id="{1A886C0E-4358-8F38-3020-DAADA7691F71}"/>
              </a:ext>
            </a:extLst>
          </p:cNvPr>
          <p:cNvPicPr>
            <a:picLocks noChangeAspect="1"/>
          </p:cNvPicPr>
          <p:nvPr/>
        </p:nvPicPr>
        <p:blipFill rotWithShape="1">
          <a:blip r:embed="rId12"/>
          <a:srcRect l="9248" r="27480" b="47937"/>
          <a:stretch/>
        </p:blipFill>
        <p:spPr>
          <a:xfrm>
            <a:off x="11097352" y="30644"/>
            <a:ext cx="1012989" cy="830400"/>
          </a:xfrm>
          <a:prstGeom prst="rect">
            <a:avLst/>
          </a:prstGeom>
        </p:spPr>
      </p:pic>
    </p:spTree>
    <p:extLst>
      <p:ext uri="{BB962C8B-B14F-4D97-AF65-F5344CB8AC3E}">
        <p14:creationId xmlns:p14="http://schemas.microsoft.com/office/powerpoint/2010/main" val="4218208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CustomShape 1"/>
          <p:cNvSpPr/>
          <p:nvPr/>
        </p:nvSpPr>
        <p:spPr>
          <a:xfrm>
            <a:off x="87120" y="116280"/>
            <a:ext cx="12002040" cy="626040"/>
          </a:xfrm>
          <a:prstGeom prst="rect">
            <a:avLst/>
          </a:prstGeom>
          <a:solidFill>
            <a:schemeClr val="accent1">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IN" sz="2400" b="1" strike="noStrike" spc="-1" dirty="0">
                <a:solidFill>
                  <a:srgbClr val="FFFFFF"/>
                </a:solidFill>
                <a:latin typeface="Franklin Gothic Book"/>
                <a:ea typeface="DejaVu Sans"/>
              </a:rPr>
              <a:t>MARKETING AUTOMATIONS – CUSTOMER ACQUISITION &amp; RE-ENGAGEMENT</a:t>
            </a:r>
            <a:endParaRPr lang="en-IN" sz="2400" b="0" strike="noStrike" spc="-1" dirty="0">
              <a:latin typeface="Arial"/>
            </a:endParaRPr>
          </a:p>
        </p:txBody>
      </p:sp>
      <p:sp>
        <p:nvSpPr>
          <p:cNvPr id="234" name="Rectangle 28"/>
          <p:cNvSpPr/>
          <p:nvPr/>
        </p:nvSpPr>
        <p:spPr>
          <a:xfrm>
            <a:off x="0" y="6597720"/>
            <a:ext cx="12191040" cy="259200"/>
          </a:xfrm>
          <a:prstGeom prst="rect">
            <a:avLst/>
          </a:prstGeom>
          <a:solidFill>
            <a:schemeClr val="accent1">
              <a:lumMod val="60000"/>
              <a:lumOff val="40000"/>
            </a:schemeClr>
          </a:solidFill>
          <a:ln>
            <a:noFill/>
          </a:ln>
        </p:spPr>
        <p:style>
          <a:lnRef idx="2">
            <a:schemeClr val="accent6">
              <a:shade val="50000"/>
            </a:schemeClr>
          </a:lnRef>
          <a:fillRef idx="1">
            <a:schemeClr val="accent6"/>
          </a:fillRef>
          <a:effectRef idx="0">
            <a:schemeClr val="accent6"/>
          </a:effectRef>
          <a:fontRef idx="minor"/>
        </p:style>
        <p:txBody>
          <a:bodyPr lIns="90000" tIns="45000" rIns="90000" bIns="45000" anchor="ctr">
            <a:noAutofit/>
          </a:bodyPr>
          <a:lstStyle/>
          <a:p>
            <a:pPr algn="ctr">
              <a:lnSpc>
                <a:spcPct val="100000"/>
              </a:lnSpc>
              <a:tabLst>
                <a:tab pos="0" algn="l"/>
              </a:tabLst>
            </a:pPr>
            <a:r>
              <a:rPr lang="en-US" sz="1200" b="1" strike="noStrike" spc="-1" dirty="0">
                <a:solidFill>
                  <a:srgbClr val="FFFFFF"/>
                </a:solidFill>
                <a:latin typeface="Franklin Gothic Book"/>
                <a:ea typeface="DejaVu Sans"/>
              </a:rPr>
              <a:t>Confidential @ </a:t>
            </a:r>
            <a:r>
              <a:rPr lang="en-US" sz="1200" b="1" strike="noStrike" spc="-1" dirty="0" err="1">
                <a:solidFill>
                  <a:srgbClr val="FFFFFF"/>
                </a:solidFill>
                <a:latin typeface="Franklin Gothic Book"/>
                <a:ea typeface="DejaVu Sans"/>
              </a:rPr>
              <a:t>Digifyce</a:t>
            </a:r>
            <a:endParaRPr lang="en-IN" sz="1200" b="0" strike="noStrike" spc="-1" dirty="0">
              <a:latin typeface="Arial"/>
            </a:endParaRPr>
          </a:p>
        </p:txBody>
      </p:sp>
      <p:pic>
        <p:nvPicPr>
          <p:cNvPr id="235" name="Picture 2"/>
          <p:cNvPicPr/>
          <p:nvPr/>
        </p:nvPicPr>
        <p:blipFill>
          <a:blip r:embed="rId2"/>
          <a:stretch/>
        </p:blipFill>
        <p:spPr>
          <a:xfrm>
            <a:off x="292680" y="918000"/>
            <a:ext cx="7771320" cy="5504400"/>
          </a:xfrm>
          <a:prstGeom prst="rect">
            <a:avLst/>
          </a:prstGeom>
          <a:ln w="0">
            <a:noFill/>
          </a:ln>
        </p:spPr>
      </p:pic>
      <p:sp>
        <p:nvSpPr>
          <p:cNvPr id="236" name="TextBox 5"/>
          <p:cNvSpPr/>
          <p:nvPr/>
        </p:nvSpPr>
        <p:spPr>
          <a:xfrm>
            <a:off x="8388000" y="2551680"/>
            <a:ext cx="3380040" cy="2036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1600" b="1" strike="noStrike" spc="-1">
                <a:solidFill>
                  <a:srgbClr val="000000"/>
                </a:solidFill>
                <a:latin typeface="Arial"/>
                <a:ea typeface="DejaVu Sans"/>
              </a:rPr>
              <a:t>Marketing Automation: </a:t>
            </a:r>
            <a:endParaRPr lang="en-IN" sz="1600" b="0" strike="noStrike" spc="-1">
              <a:latin typeface="Arial"/>
            </a:endParaRPr>
          </a:p>
          <a:p>
            <a:pPr>
              <a:lnSpc>
                <a:spcPct val="100000"/>
              </a:lnSpc>
            </a:pPr>
            <a:endParaRPr lang="en-IN" sz="1600" b="0" strike="noStrike" spc="-1">
              <a:latin typeface="Arial"/>
            </a:endParaRPr>
          </a:p>
          <a:p>
            <a:pPr>
              <a:lnSpc>
                <a:spcPct val="100000"/>
              </a:lnSpc>
            </a:pPr>
            <a:r>
              <a:rPr lang="en-IN" sz="1600" b="0" strike="noStrike" spc="-1">
                <a:solidFill>
                  <a:srgbClr val="000000"/>
                </a:solidFill>
                <a:latin typeface="Arial"/>
                <a:ea typeface="DejaVu Sans"/>
              </a:rPr>
              <a:t>Based on the user journey and behaviour, segments are created and triggered emails and whatsapp on regular intervals to acquire new customers and retain the existing customers.</a:t>
            </a:r>
            <a:endParaRPr lang="en-IN" sz="1600" b="0" strike="noStrike" spc="-1">
              <a:latin typeface="Arial"/>
            </a:endParaRPr>
          </a:p>
        </p:txBody>
      </p:sp>
      <p:pic>
        <p:nvPicPr>
          <p:cNvPr id="2" name="Picture 1" descr="A logo with a blue arrow pointing up&#10;&#10;Description automatically generated">
            <a:extLst>
              <a:ext uri="{FF2B5EF4-FFF2-40B4-BE49-F238E27FC236}">
                <a16:creationId xmlns:a16="http://schemas.microsoft.com/office/drawing/2014/main" id="{3ADCF90D-1C04-2C09-23FB-A14E1D922391}"/>
              </a:ext>
            </a:extLst>
          </p:cNvPr>
          <p:cNvPicPr>
            <a:picLocks noChangeAspect="1"/>
          </p:cNvPicPr>
          <p:nvPr/>
        </p:nvPicPr>
        <p:blipFill rotWithShape="1">
          <a:blip r:embed="rId3"/>
          <a:srcRect l="9248" r="27480" b="47937"/>
          <a:stretch/>
        </p:blipFill>
        <p:spPr>
          <a:xfrm>
            <a:off x="11097352" y="30644"/>
            <a:ext cx="1012989" cy="8304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CustomShape 1"/>
          <p:cNvSpPr/>
          <p:nvPr/>
        </p:nvSpPr>
        <p:spPr>
          <a:xfrm>
            <a:off x="-403560" y="2183040"/>
            <a:ext cx="12719520" cy="2490840"/>
          </a:xfrm>
          <a:prstGeom prst="rect">
            <a:avLst/>
          </a:prstGeom>
          <a:solidFill>
            <a:schemeClr val="accent1">
              <a:lumMod val="60000"/>
              <a:lumOff val="40000"/>
            </a:schemeClr>
          </a:solidFill>
          <a:ln w="76320">
            <a:solidFill>
              <a:srgbClr val="FFFFFF"/>
            </a:solid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8" name="TextShape 3"/>
          <p:cNvSpPr/>
          <p:nvPr/>
        </p:nvSpPr>
        <p:spPr>
          <a:xfrm>
            <a:off x="1469520" y="2847600"/>
            <a:ext cx="9777960" cy="1162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90000"/>
              </a:lnSpc>
              <a:spcBef>
                <a:spcPts val="1001"/>
              </a:spcBef>
              <a:tabLst>
                <a:tab pos="0" algn="l"/>
              </a:tabLst>
            </a:pPr>
            <a:r>
              <a:rPr lang="en-US" sz="4800" b="0" i="1" strike="noStrike" spc="-1">
                <a:solidFill>
                  <a:srgbClr val="FFFFFF"/>
                </a:solidFill>
                <a:latin typeface="Franklin Gothic Medium"/>
                <a:ea typeface="DejaVu Sans"/>
              </a:rPr>
              <a:t>CAMPAIGNS, BUDGETS, EXECUTION PLAN &amp;  POA</a:t>
            </a:r>
            <a:endParaRPr lang="en-IN" sz="4800" b="0" strike="noStrike" spc="-1">
              <a:latin typeface="Arial"/>
            </a:endParaRPr>
          </a:p>
        </p:txBody>
      </p:sp>
      <p:pic>
        <p:nvPicPr>
          <p:cNvPr id="2" name="Picture 1" descr="A logo with a blue arrow pointing up&#10;&#10;Description automatically generated">
            <a:extLst>
              <a:ext uri="{FF2B5EF4-FFF2-40B4-BE49-F238E27FC236}">
                <a16:creationId xmlns:a16="http://schemas.microsoft.com/office/drawing/2014/main" id="{4CD0C543-56B7-792E-43A6-250017796786}"/>
              </a:ext>
            </a:extLst>
          </p:cNvPr>
          <p:cNvPicPr>
            <a:picLocks noChangeAspect="1"/>
          </p:cNvPicPr>
          <p:nvPr/>
        </p:nvPicPr>
        <p:blipFill rotWithShape="1">
          <a:blip r:embed="rId2"/>
          <a:srcRect l="9248" r="27480" b="47937"/>
          <a:stretch/>
        </p:blipFill>
        <p:spPr>
          <a:xfrm>
            <a:off x="11097352" y="30644"/>
            <a:ext cx="1012989" cy="830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CustomShape 1"/>
          <p:cNvSpPr/>
          <p:nvPr/>
        </p:nvSpPr>
        <p:spPr>
          <a:xfrm>
            <a:off x="87120" y="116280"/>
            <a:ext cx="12002040" cy="626040"/>
          </a:xfrm>
          <a:prstGeom prst="rect">
            <a:avLst/>
          </a:prstGeom>
          <a:solidFill>
            <a:schemeClr val="accent1">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IN" sz="2400" b="1" strike="noStrike" spc="-1" dirty="0">
                <a:solidFill>
                  <a:srgbClr val="FFFFFF"/>
                </a:solidFill>
                <a:latin typeface="Franklin Gothic Book"/>
                <a:ea typeface="DejaVu Sans"/>
              </a:rPr>
              <a:t>META ADS CAMPAIGN PLAN, BUDGETS &amp; EXPECTED RESULTS</a:t>
            </a:r>
            <a:endParaRPr lang="en-IN" sz="2400" b="0" strike="noStrike" spc="-1" dirty="0">
              <a:latin typeface="Arial"/>
            </a:endParaRPr>
          </a:p>
        </p:txBody>
      </p:sp>
      <p:sp>
        <p:nvSpPr>
          <p:cNvPr id="245" name="Rectangle 28"/>
          <p:cNvSpPr/>
          <p:nvPr/>
        </p:nvSpPr>
        <p:spPr>
          <a:xfrm>
            <a:off x="0" y="6597720"/>
            <a:ext cx="12191040" cy="259200"/>
          </a:xfrm>
          <a:prstGeom prst="rect">
            <a:avLst/>
          </a:prstGeom>
          <a:solidFill>
            <a:schemeClr val="accent1">
              <a:lumMod val="60000"/>
              <a:lumOff val="40000"/>
            </a:schemeClr>
          </a:solidFill>
          <a:ln>
            <a:noFill/>
          </a:ln>
        </p:spPr>
        <p:style>
          <a:lnRef idx="2">
            <a:schemeClr val="accent6">
              <a:shade val="50000"/>
            </a:schemeClr>
          </a:lnRef>
          <a:fillRef idx="1">
            <a:schemeClr val="accent6"/>
          </a:fillRef>
          <a:effectRef idx="0">
            <a:schemeClr val="accent6"/>
          </a:effectRef>
          <a:fontRef idx="minor"/>
        </p:style>
        <p:txBody>
          <a:bodyPr lIns="90000" tIns="45000" rIns="90000" bIns="45000" anchor="ctr">
            <a:noAutofit/>
          </a:bodyPr>
          <a:lstStyle/>
          <a:p>
            <a:pPr algn="ctr">
              <a:lnSpc>
                <a:spcPct val="100000"/>
              </a:lnSpc>
              <a:tabLst>
                <a:tab pos="0" algn="l"/>
              </a:tabLst>
            </a:pPr>
            <a:r>
              <a:rPr lang="en-US" sz="1200" b="1" strike="noStrike" spc="-1" dirty="0">
                <a:solidFill>
                  <a:srgbClr val="FFFFFF"/>
                </a:solidFill>
                <a:latin typeface="Franklin Gothic Book"/>
                <a:ea typeface="DejaVu Sans"/>
              </a:rPr>
              <a:t>Confidential @ </a:t>
            </a:r>
            <a:r>
              <a:rPr lang="en-US" sz="1200" b="1" strike="noStrike" spc="-1" dirty="0" err="1">
                <a:solidFill>
                  <a:srgbClr val="FFFFFF"/>
                </a:solidFill>
                <a:latin typeface="Franklin Gothic Book"/>
                <a:ea typeface="DejaVu Sans"/>
              </a:rPr>
              <a:t>Digifyce</a:t>
            </a:r>
            <a:endParaRPr lang="en-IN" sz="1200" b="0" strike="noStrike" spc="-1" dirty="0">
              <a:latin typeface="Arial"/>
            </a:endParaRPr>
          </a:p>
        </p:txBody>
      </p:sp>
      <p:sp>
        <p:nvSpPr>
          <p:cNvPr id="246" name="TextBox 4"/>
          <p:cNvSpPr/>
          <p:nvPr/>
        </p:nvSpPr>
        <p:spPr>
          <a:xfrm>
            <a:off x="493920" y="845640"/>
            <a:ext cx="609732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1400" b="1" strike="noStrike" spc="-1" dirty="0">
                <a:solidFill>
                  <a:srgbClr val="000000"/>
                </a:solidFill>
                <a:latin typeface="Franklin Gothic Medium"/>
                <a:ea typeface="DejaVu Sans"/>
              </a:rPr>
              <a:t>Channel: Meta: FB</a:t>
            </a:r>
            <a:r>
              <a:rPr lang="en-IN" sz="1400" b="1" spc="-1" dirty="0">
                <a:solidFill>
                  <a:srgbClr val="000000"/>
                </a:solidFill>
                <a:latin typeface="Franklin Gothic Medium"/>
                <a:ea typeface="DejaVu Sans"/>
              </a:rPr>
              <a:t> and </a:t>
            </a:r>
            <a:r>
              <a:rPr lang="en-IN" sz="1400" b="1" strike="noStrike" spc="-1" dirty="0">
                <a:solidFill>
                  <a:srgbClr val="000000"/>
                </a:solidFill>
                <a:latin typeface="Franklin Gothic Medium"/>
                <a:ea typeface="DejaVu Sans"/>
              </a:rPr>
              <a:t>Insta</a:t>
            </a:r>
            <a:endParaRPr lang="en-IN" sz="1400" b="0" strike="noStrike" spc="-1" dirty="0">
              <a:latin typeface="Arial"/>
            </a:endParaRPr>
          </a:p>
        </p:txBody>
      </p:sp>
      <p:sp>
        <p:nvSpPr>
          <p:cNvPr id="3" name="TextBox 6">
            <a:extLst>
              <a:ext uri="{FF2B5EF4-FFF2-40B4-BE49-F238E27FC236}">
                <a16:creationId xmlns:a16="http://schemas.microsoft.com/office/drawing/2014/main" id="{4FACA9B9-6A9C-8895-B71D-464243370D5A}"/>
              </a:ext>
            </a:extLst>
          </p:cNvPr>
          <p:cNvSpPr/>
          <p:nvPr/>
        </p:nvSpPr>
        <p:spPr>
          <a:xfrm>
            <a:off x="493920" y="1167844"/>
            <a:ext cx="6655025" cy="26015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IN" sz="1100" b="1" i="1" strike="noStrike" spc="-1" dirty="0">
                <a:solidFill>
                  <a:srgbClr val="000000"/>
                </a:solidFill>
                <a:latin typeface="Franklin Gothic Medium"/>
                <a:ea typeface="DejaVu Sans"/>
              </a:rPr>
              <a:t>*NOTE: BELOW NUMBERS ARE HIGH LEVEL PLAN, THIS WILL BE CHANGED BASED ON THE SCOPE SELECTED</a:t>
            </a:r>
            <a:endParaRPr lang="en-IN" sz="1100" b="0" i="1" strike="noStrike" spc="-1" dirty="0">
              <a:latin typeface="Arial"/>
            </a:endParaRPr>
          </a:p>
        </p:txBody>
      </p:sp>
      <p:graphicFrame>
        <p:nvGraphicFramePr>
          <p:cNvPr id="5" name="Table 4">
            <a:extLst>
              <a:ext uri="{FF2B5EF4-FFF2-40B4-BE49-F238E27FC236}">
                <a16:creationId xmlns:a16="http://schemas.microsoft.com/office/drawing/2014/main" id="{4B5E627D-E593-4133-AAEC-C038EBB74E4F}"/>
              </a:ext>
            </a:extLst>
          </p:cNvPr>
          <p:cNvGraphicFramePr>
            <a:graphicFrameLocks noGrp="1"/>
          </p:cNvGraphicFramePr>
          <p:nvPr>
            <p:extLst>
              <p:ext uri="{D42A27DB-BD31-4B8C-83A1-F6EECF244321}">
                <p14:modId xmlns:p14="http://schemas.microsoft.com/office/powerpoint/2010/main" val="263578304"/>
              </p:ext>
            </p:extLst>
          </p:nvPr>
        </p:nvGraphicFramePr>
        <p:xfrm>
          <a:off x="493920" y="1464234"/>
          <a:ext cx="10887954" cy="4329679"/>
        </p:xfrm>
        <a:graphic>
          <a:graphicData uri="http://schemas.openxmlformats.org/drawingml/2006/table">
            <a:tbl>
              <a:tblPr/>
              <a:tblGrid>
                <a:gridCol w="1685041">
                  <a:extLst>
                    <a:ext uri="{9D8B030D-6E8A-4147-A177-3AD203B41FA5}">
                      <a16:colId xmlns:a16="http://schemas.microsoft.com/office/drawing/2014/main" val="4255910386"/>
                    </a:ext>
                  </a:extLst>
                </a:gridCol>
                <a:gridCol w="3311164">
                  <a:extLst>
                    <a:ext uri="{9D8B030D-6E8A-4147-A177-3AD203B41FA5}">
                      <a16:colId xmlns:a16="http://schemas.microsoft.com/office/drawing/2014/main" val="28093224"/>
                    </a:ext>
                  </a:extLst>
                </a:gridCol>
                <a:gridCol w="2639503">
                  <a:extLst>
                    <a:ext uri="{9D8B030D-6E8A-4147-A177-3AD203B41FA5}">
                      <a16:colId xmlns:a16="http://schemas.microsoft.com/office/drawing/2014/main" val="2365046763"/>
                    </a:ext>
                  </a:extLst>
                </a:gridCol>
                <a:gridCol w="2073896">
                  <a:extLst>
                    <a:ext uri="{9D8B030D-6E8A-4147-A177-3AD203B41FA5}">
                      <a16:colId xmlns:a16="http://schemas.microsoft.com/office/drawing/2014/main" val="1333473318"/>
                    </a:ext>
                  </a:extLst>
                </a:gridCol>
                <a:gridCol w="1178350">
                  <a:extLst>
                    <a:ext uri="{9D8B030D-6E8A-4147-A177-3AD203B41FA5}">
                      <a16:colId xmlns:a16="http://schemas.microsoft.com/office/drawing/2014/main" val="1983172971"/>
                    </a:ext>
                  </a:extLst>
                </a:gridCol>
              </a:tblGrid>
              <a:tr h="186907">
                <a:tc gridSpan="5">
                  <a:txBody>
                    <a:bodyPr/>
                    <a:lstStyle/>
                    <a:p>
                      <a:pPr algn="ctr" rtl="0" fontAlgn="b"/>
                      <a:r>
                        <a:rPr lang="en-IN" sz="1000" b="1">
                          <a:effectLst/>
                        </a:rPr>
                        <a:t>Meta Ads Plan-2024</a:t>
                      </a:r>
                    </a:p>
                  </a:txBody>
                  <a:tcPr marL="15358" marR="15358" marT="10239" marB="1023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B7B7B7"/>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089850430"/>
                  </a:ext>
                </a:extLst>
              </a:tr>
              <a:tr h="340939">
                <a:tc>
                  <a:txBody>
                    <a:bodyPr/>
                    <a:lstStyle/>
                    <a:p>
                      <a:pPr algn="ctr" rtl="0" fontAlgn="b"/>
                      <a:r>
                        <a:rPr lang="en-IN" sz="1000" b="1">
                          <a:effectLst/>
                        </a:rPr>
                        <a:t>Type of Campaign</a:t>
                      </a:r>
                    </a:p>
                  </a:txBody>
                  <a:tcPr marL="15358" marR="15358" marT="10239" marB="10239"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IN" sz="1000" b="1" dirty="0">
                          <a:effectLst/>
                        </a:rPr>
                        <a:t>Campaign Objective</a:t>
                      </a:r>
                    </a:p>
                  </a:txBody>
                  <a:tcPr marL="15358" marR="15358" marT="10239" marB="1023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IN" sz="1000" b="1">
                          <a:effectLst/>
                        </a:rPr>
                        <a:t>Target Audience</a:t>
                      </a:r>
                    </a:p>
                  </a:txBody>
                  <a:tcPr marL="15358" marR="15358" marT="10239" marB="1023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IN" sz="1000" b="1">
                          <a:effectLst/>
                        </a:rPr>
                        <a:t>Creative Type</a:t>
                      </a:r>
                    </a:p>
                  </a:txBody>
                  <a:tcPr marL="15358" marR="15358" marT="10239" marB="10239"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IN" sz="1000" b="1">
                          <a:effectLst/>
                        </a:rPr>
                        <a:t>Location</a:t>
                      </a:r>
                    </a:p>
                  </a:txBody>
                  <a:tcPr marL="15358" marR="15358" marT="10239" marB="10239"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4293770429"/>
                  </a:ext>
                </a:extLst>
              </a:tr>
              <a:tr h="659742">
                <a:tc rowSpan="4">
                  <a:txBody>
                    <a:bodyPr/>
                    <a:lstStyle/>
                    <a:p>
                      <a:pPr algn="ctr" rtl="0" fontAlgn="ctr"/>
                      <a:r>
                        <a:rPr lang="en-IN" sz="1000" b="1" dirty="0">
                          <a:effectLst/>
                        </a:rPr>
                        <a:t>Leads/ Enquiries </a:t>
                      </a:r>
                    </a:p>
                  </a:txBody>
                  <a:tcPr marL="15358" marR="15358" marT="10239" marB="10239"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000" dirty="0">
                          <a:effectLst/>
                        </a:rPr>
                        <a:t>Showcase Property Details – Investment Positioning</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000" dirty="0">
                          <a:effectLst/>
                        </a:rPr>
                        <a:t>Titles: Business Owners, Doctors, Investors</a:t>
                      </a:r>
                      <a:br>
                        <a:rPr lang="en-US" sz="1000" dirty="0">
                          <a:effectLst/>
                        </a:rPr>
                      </a:br>
                      <a:r>
                        <a:rPr lang="en-US" sz="1000" dirty="0">
                          <a:effectLst/>
                        </a:rPr>
                        <a:t>Interests: Real Estate, Investing, Property, etc.,</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000">
                          <a:effectLst/>
                        </a:rPr>
                        <a:t>Visual carousel with brief captions</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000" dirty="0">
                          <a:effectLst/>
                        </a:rPr>
                        <a:t>Coimbatore, T1 Cities, NRI Market</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805471173"/>
                  </a:ext>
                </a:extLst>
              </a:tr>
              <a:tr h="819142">
                <a:tc vMerge="1">
                  <a:txBody>
                    <a:bodyPr/>
                    <a:lstStyle/>
                    <a:p>
                      <a:endParaRPr lang="en-IN"/>
                    </a:p>
                  </a:txBody>
                  <a:tcPr/>
                </a:tc>
                <a:tc>
                  <a:txBody>
                    <a:bodyPr/>
                    <a:lstStyle/>
                    <a:p>
                      <a:pPr algn="ctr" rtl="0" fontAlgn="ctr"/>
                      <a:r>
                        <a:rPr lang="en-US" sz="1000" dirty="0">
                          <a:effectLst/>
                        </a:rPr>
                        <a:t>Buy your dream home </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000" dirty="0">
                          <a:effectLst/>
                        </a:rPr>
                        <a:t>Titles: Business Owners, Doctors, Investors</a:t>
                      </a:r>
                      <a:br>
                        <a:rPr lang="en-US" sz="1000" dirty="0">
                          <a:effectLst/>
                        </a:rPr>
                      </a:br>
                      <a:r>
                        <a:rPr lang="en-US" sz="1000" dirty="0">
                          <a:effectLst/>
                        </a:rPr>
                        <a:t>Interests: Real Estate, Investing, Property, etc.,</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000">
                          <a:effectLst/>
                        </a:rPr>
                        <a:t>Short video ads</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000" dirty="0">
                          <a:effectLst/>
                        </a:rPr>
                        <a:t>Coimbatore, T1 Cities, NRI Market</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4166832816"/>
                  </a:ext>
                </a:extLst>
              </a:tr>
              <a:tr h="978543">
                <a:tc vMerge="1">
                  <a:txBody>
                    <a:bodyPr/>
                    <a:lstStyle/>
                    <a:p>
                      <a:endParaRPr lang="en-IN"/>
                    </a:p>
                  </a:txBody>
                  <a:tcPr/>
                </a:tc>
                <a:tc>
                  <a:txBody>
                    <a:bodyPr/>
                    <a:lstStyle/>
                    <a:p>
                      <a:pPr algn="ctr" rtl="0" fontAlgn="ctr"/>
                      <a:r>
                        <a:rPr lang="en-US" sz="1000" dirty="0">
                          <a:effectLst/>
                        </a:rPr>
                        <a:t>Virtual Tour Positioning</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br>
                        <a:rPr lang="en-US" sz="1000" dirty="0">
                          <a:effectLst/>
                        </a:rPr>
                      </a:br>
                      <a:r>
                        <a:rPr lang="en-US" sz="1000" dirty="0">
                          <a:effectLst/>
                        </a:rPr>
                        <a:t>Interests: Real Estate, Investing, Property, etc.,</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000">
                          <a:effectLst/>
                        </a:rPr>
                        <a:t>Lead generation forms with incentives</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000" dirty="0">
                          <a:effectLst/>
                        </a:rPr>
                        <a:t>Coimbatore, T1 Cities, NRI Market</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4043634051"/>
                  </a:ext>
                </a:extLst>
              </a:tr>
              <a:tr h="525264">
                <a:tc vMerge="1">
                  <a:txBody>
                    <a:bodyPr/>
                    <a:lstStyle/>
                    <a:p>
                      <a:pPr algn="ctr" rtl="0" fontAlgn="ctr"/>
                      <a:endParaRPr lang="en-IN" sz="1000" b="1" dirty="0">
                        <a:effectLst/>
                      </a:endParaRPr>
                    </a:p>
                  </a:txBody>
                  <a:tcPr marL="15358" marR="15358" marT="10239" marB="10239"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000" dirty="0">
                          <a:effectLst/>
                        </a:rPr>
                        <a:t>EMI Based </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000" dirty="0">
                          <a:effectLst/>
                        </a:rPr>
                        <a:t>Titles: Business Owners, Doctors, Investors</a:t>
                      </a:r>
                      <a:br>
                        <a:rPr lang="en-US" sz="1000" dirty="0">
                          <a:effectLst/>
                        </a:rPr>
                      </a:br>
                      <a:r>
                        <a:rPr lang="en-US" sz="1000" dirty="0">
                          <a:effectLst/>
                        </a:rPr>
                        <a:t>Interests: Real Estate, Investing, Property, etc.,</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000">
                          <a:effectLst/>
                        </a:rPr>
                        <a:t>Video Ads &amp; Image Ads</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000" dirty="0">
                          <a:effectLst/>
                        </a:rPr>
                        <a:t>Coimbatore, T1 Cities, NRI Market</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253603874"/>
                  </a:ext>
                </a:extLst>
              </a:tr>
              <a:tr h="819142">
                <a:tc>
                  <a:txBody>
                    <a:bodyPr/>
                    <a:lstStyle/>
                    <a:p>
                      <a:pPr algn="ctr" rtl="0" fontAlgn="ctr"/>
                      <a:r>
                        <a:rPr lang="en-IN" sz="1000" b="1">
                          <a:effectLst/>
                        </a:rPr>
                        <a:t>Engagement (Branding)</a:t>
                      </a:r>
                    </a:p>
                  </a:txBody>
                  <a:tcPr marL="15358" marR="15358" marT="10239" marB="10239"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r>
                        <a:rPr lang="en-US" sz="1000">
                          <a:effectLst/>
                        </a:rPr>
                        <a:t>Foster engagement through regular posts featuring user-generated content, travel tips, and destination spotlights</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r>
                        <a:rPr lang="en-US" sz="1000" dirty="0">
                          <a:effectLst/>
                        </a:rPr>
                        <a:t>Followers and users interested in Real Estate</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r>
                        <a:rPr lang="en-US" sz="1000">
                          <a:effectLst/>
                        </a:rPr>
                        <a:t>Engaging posts with questions, polls, and user stories</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r>
                        <a:rPr lang="en-IN" sz="1000" dirty="0">
                          <a:effectLst/>
                        </a:rPr>
                        <a:t>Coimbatore, T1 Cities, NRI Market</a:t>
                      </a:r>
                    </a:p>
                  </a:txBody>
                  <a:tcPr marL="15358" marR="15358" marT="10239" marB="10239"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502197"/>
                  </a:ext>
                </a:extLst>
              </a:tr>
            </a:tbl>
          </a:graphicData>
        </a:graphic>
      </p:graphicFrame>
      <p:pic>
        <p:nvPicPr>
          <p:cNvPr id="2" name="Picture 1" descr="A logo with a blue arrow pointing up&#10;&#10;Description automatically generated">
            <a:extLst>
              <a:ext uri="{FF2B5EF4-FFF2-40B4-BE49-F238E27FC236}">
                <a16:creationId xmlns:a16="http://schemas.microsoft.com/office/drawing/2014/main" id="{DBA82961-471A-EC74-6A4C-DEA2B101F59D}"/>
              </a:ext>
            </a:extLst>
          </p:cNvPr>
          <p:cNvPicPr>
            <a:picLocks noChangeAspect="1"/>
          </p:cNvPicPr>
          <p:nvPr/>
        </p:nvPicPr>
        <p:blipFill rotWithShape="1">
          <a:blip r:embed="rId2"/>
          <a:srcRect l="9248" r="27480" b="47937"/>
          <a:stretch/>
        </p:blipFill>
        <p:spPr>
          <a:xfrm>
            <a:off x="11097352" y="30644"/>
            <a:ext cx="1012989" cy="830400"/>
          </a:xfrm>
          <a:prstGeom prst="rect">
            <a:avLst/>
          </a:prstGeom>
        </p:spPr>
      </p:pic>
    </p:spTree>
    <p:extLst>
      <p:ext uri="{BB962C8B-B14F-4D97-AF65-F5344CB8AC3E}">
        <p14:creationId xmlns:p14="http://schemas.microsoft.com/office/powerpoint/2010/main" val="2617301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CustomShape 1"/>
          <p:cNvSpPr/>
          <p:nvPr/>
        </p:nvSpPr>
        <p:spPr>
          <a:xfrm>
            <a:off x="87120" y="116280"/>
            <a:ext cx="12002040" cy="626040"/>
          </a:xfrm>
          <a:prstGeom prst="rect">
            <a:avLst/>
          </a:prstGeom>
          <a:solidFill>
            <a:schemeClr val="accent1">
              <a:lumMod val="60000"/>
              <a:lumOff val="40000"/>
            </a:schemeClr>
          </a:solid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IN" sz="2400" b="1" strike="noStrike" spc="-1" dirty="0">
                <a:solidFill>
                  <a:srgbClr val="FFFFFF"/>
                </a:solidFill>
                <a:latin typeface="Franklin Gothic Book"/>
                <a:ea typeface="DejaVu Sans"/>
              </a:rPr>
              <a:t>GOOGLE ADS CAMPAIGN PLAN, BUDGETS &amp; EXPECTED RESULTS</a:t>
            </a:r>
            <a:endParaRPr lang="en-IN" sz="2400" b="0" strike="noStrike" spc="-1" dirty="0">
              <a:latin typeface="Arial"/>
            </a:endParaRPr>
          </a:p>
        </p:txBody>
      </p:sp>
      <p:sp>
        <p:nvSpPr>
          <p:cNvPr id="245" name="Rectangle 28"/>
          <p:cNvSpPr/>
          <p:nvPr/>
        </p:nvSpPr>
        <p:spPr>
          <a:xfrm>
            <a:off x="0" y="6597720"/>
            <a:ext cx="12191040" cy="259200"/>
          </a:xfrm>
          <a:prstGeom prst="rect">
            <a:avLst/>
          </a:prstGeom>
          <a:solidFill>
            <a:schemeClr val="accent1">
              <a:lumMod val="60000"/>
              <a:lumOff val="40000"/>
            </a:schemeClr>
          </a:solidFill>
          <a:ln>
            <a:noFill/>
          </a:ln>
        </p:spPr>
        <p:style>
          <a:lnRef idx="2">
            <a:schemeClr val="accent6">
              <a:shade val="50000"/>
            </a:schemeClr>
          </a:lnRef>
          <a:fillRef idx="1">
            <a:schemeClr val="accent6"/>
          </a:fillRef>
          <a:effectRef idx="0">
            <a:schemeClr val="accent6"/>
          </a:effectRef>
          <a:fontRef idx="minor"/>
        </p:style>
        <p:txBody>
          <a:bodyPr lIns="90000" tIns="45000" rIns="90000" bIns="45000" anchor="ctr">
            <a:noAutofit/>
          </a:bodyPr>
          <a:lstStyle/>
          <a:p>
            <a:pPr algn="ctr">
              <a:lnSpc>
                <a:spcPct val="100000"/>
              </a:lnSpc>
              <a:tabLst>
                <a:tab pos="0" algn="l"/>
              </a:tabLst>
            </a:pPr>
            <a:r>
              <a:rPr lang="en-US" sz="1200" b="1" strike="noStrike" spc="-1" dirty="0">
                <a:solidFill>
                  <a:srgbClr val="FFFFFF"/>
                </a:solidFill>
                <a:latin typeface="Franklin Gothic Book"/>
                <a:ea typeface="DejaVu Sans"/>
              </a:rPr>
              <a:t>Confidential @ </a:t>
            </a:r>
            <a:r>
              <a:rPr lang="en-US" sz="1200" b="1" strike="noStrike" spc="-1" dirty="0" err="1">
                <a:solidFill>
                  <a:srgbClr val="FFFFFF"/>
                </a:solidFill>
                <a:latin typeface="Franklin Gothic Book"/>
                <a:ea typeface="DejaVu Sans"/>
              </a:rPr>
              <a:t>Digifyce</a:t>
            </a:r>
            <a:endParaRPr lang="en-IN" sz="1200" b="0" strike="noStrike" spc="-1" dirty="0">
              <a:latin typeface="Arial"/>
            </a:endParaRPr>
          </a:p>
        </p:txBody>
      </p:sp>
      <p:sp>
        <p:nvSpPr>
          <p:cNvPr id="246" name="TextBox 4"/>
          <p:cNvSpPr/>
          <p:nvPr/>
        </p:nvSpPr>
        <p:spPr>
          <a:xfrm>
            <a:off x="493920" y="845640"/>
            <a:ext cx="6097320" cy="30632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IN" sz="1400" b="1" strike="noStrike" spc="-1" dirty="0">
                <a:solidFill>
                  <a:srgbClr val="000000"/>
                </a:solidFill>
                <a:latin typeface="Franklin Gothic Medium"/>
                <a:ea typeface="DejaVu Sans"/>
              </a:rPr>
              <a:t>Channel: GOOGLE: </a:t>
            </a:r>
            <a:r>
              <a:rPr lang="en-IN" sz="1400" b="1" spc="-1" dirty="0">
                <a:solidFill>
                  <a:srgbClr val="000000"/>
                </a:solidFill>
                <a:latin typeface="Franklin Gothic Medium"/>
                <a:ea typeface="DejaVu Sans"/>
              </a:rPr>
              <a:t>Search, Display and YouTube</a:t>
            </a:r>
            <a:endParaRPr lang="en-IN" sz="1400" b="0" strike="noStrike" spc="-1" dirty="0">
              <a:latin typeface="Arial"/>
            </a:endParaRPr>
          </a:p>
        </p:txBody>
      </p:sp>
      <p:sp>
        <p:nvSpPr>
          <p:cNvPr id="3" name="TextBox 6">
            <a:extLst>
              <a:ext uri="{FF2B5EF4-FFF2-40B4-BE49-F238E27FC236}">
                <a16:creationId xmlns:a16="http://schemas.microsoft.com/office/drawing/2014/main" id="{4FACA9B9-6A9C-8895-B71D-464243370D5A}"/>
              </a:ext>
            </a:extLst>
          </p:cNvPr>
          <p:cNvSpPr/>
          <p:nvPr/>
        </p:nvSpPr>
        <p:spPr>
          <a:xfrm>
            <a:off x="493920" y="1167844"/>
            <a:ext cx="6655025" cy="260156"/>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IN" sz="1100" b="1" i="1" strike="noStrike" spc="-1" dirty="0">
                <a:solidFill>
                  <a:srgbClr val="000000"/>
                </a:solidFill>
                <a:latin typeface="Franklin Gothic Medium"/>
                <a:ea typeface="DejaVu Sans"/>
              </a:rPr>
              <a:t>*NOTE: BELOW NUMBERS ARE HIGH LEVEL PLAN, THIS WILL BE CHANGED BASED ON THE SCOPE SELECTED</a:t>
            </a:r>
            <a:endParaRPr lang="en-IN" sz="1100" b="0" i="1" strike="noStrike" spc="-1" dirty="0">
              <a:latin typeface="Arial"/>
            </a:endParaRPr>
          </a:p>
        </p:txBody>
      </p:sp>
      <p:graphicFrame>
        <p:nvGraphicFramePr>
          <p:cNvPr id="4" name="Table 3">
            <a:extLst>
              <a:ext uri="{FF2B5EF4-FFF2-40B4-BE49-F238E27FC236}">
                <a16:creationId xmlns:a16="http://schemas.microsoft.com/office/drawing/2014/main" id="{598B8328-4FDB-4F27-BDEC-ED48A0D201FD}"/>
              </a:ext>
            </a:extLst>
          </p:cNvPr>
          <p:cNvGraphicFramePr>
            <a:graphicFrameLocks noGrp="1"/>
          </p:cNvGraphicFramePr>
          <p:nvPr>
            <p:extLst>
              <p:ext uri="{D42A27DB-BD31-4B8C-83A1-F6EECF244321}">
                <p14:modId xmlns:p14="http://schemas.microsoft.com/office/powerpoint/2010/main" val="4230976939"/>
              </p:ext>
            </p:extLst>
          </p:nvPr>
        </p:nvGraphicFramePr>
        <p:xfrm>
          <a:off x="691976" y="1712728"/>
          <a:ext cx="10792327" cy="3977428"/>
        </p:xfrm>
        <a:graphic>
          <a:graphicData uri="http://schemas.openxmlformats.org/drawingml/2006/table">
            <a:tbl>
              <a:tblPr/>
              <a:tblGrid>
                <a:gridCol w="1670241">
                  <a:extLst>
                    <a:ext uri="{9D8B030D-6E8A-4147-A177-3AD203B41FA5}">
                      <a16:colId xmlns:a16="http://schemas.microsoft.com/office/drawing/2014/main" val="946857004"/>
                    </a:ext>
                  </a:extLst>
                </a:gridCol>
                <a:gridCol w="3282082">
                  <a:extLst>
                    <a:ext uri="{9D8B030D-6E8A-4147-A177-3AD203B41FA5}">
                      <a16:colId xmlns:a16="http://schemas.microsoft.com/office/drawing/2014/main" val="1243556230"/>
                    </a:ext>
                  </a:extLst>
                </a:gridCol>
                <a:gridCol w="2616321">
                  <a:extLst>
                    <a:ext uri="{9D8B030D-6E8A-4147-A177-3AD203B41FA5}">
                      <a16:colId xmlns:a16="http://schemas.microsoft.com/office/drawing/2014/main" val="3171854685"/>
                    </a:ext>
                  </a:extLst>
                </a:gridCol>
                <a:gridCol w="2055681">
                  <a:extLst>
                    <a:ext uri="{9D8B030D-6E8A-4147-A177-3AD203B41FA5}">
                      <a16:colId xmlns:a16="http://schemas.microsoft.com/office/drawing/2014/main" val="2734799776"/>
                    </a:ext>
                  </a:extLst>
                </a:gridCol>
                <a:gridCol w="1168002">
                  <a:extLst>
                    <a:ext uri="{9D8B030D-6E8A-4147-A177-3AD203B41FA5}">
                      <a16:colId xmlns:a16="http://schemas.microsoft.com/office/drawing/2014/main" val="2277566236"/>
                    </a:ext>
                  </a:extLst>
                </a:gridCol>
              </a:tblGrid>
              <a:tr h="207435">
                <a:tc gridSpan="5">
                  <a:txBody>
                    <a:bodyPr/>
                    <a:lstStyle/>
                    <a:p>
                      <a:pPr algn="ctr" rtl="0" fontAlgn="b"/>
                      <a:r>
                        <a:rPr lang="en-IN" sz="1200" b="1">
                          <a:effectLst/>
                        </a:rPr>
                        <a:t>Google Ads Plan-2024</a:t>
                      </a:r>
                    </a:p>
                  </a:txBody>
                  <a:tcPr marL="18973" marR="18973" marT="12648" marB="1264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B7B7B7"/>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115491332"/>
                  </a:ext>
                </a:extLst>
              </a:tr>
              <a:tr h="389574">
                <a:tc>
                  <a:txBody>
                    <a:bodyPr/>
                    <a:lstStyle/>
                    <a:p>
                      <a:pPr algn="ctr" rtl="0" fontAlgn="b"/>
                      <a:r>
                        <a:rPr lang="en-IN" sz="1200" b="1">
                          <a:effectLst/>
                        </a:rPr>
                        <a:t>Type of Campaign</a:t>
                      </a:r>
                    </a:p>
                  </a:txBody>
                  <a:tcPr marL="18973" marR="18973" marT="12648" marB="12648" anchor="b">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IN" sz="1200" b="1">
                          <a:effectLst/>
                        </a:rPr>
                        <a:t>Campaign Objective</a:t>
                      </a:r>
                    </a:p>
                  </a:txBody>
                  <a:tcPr marL="18973" marR="18973" marT="12648" marB="1264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IN" sz="1200" b="1">
                          <a:effectLst/>
                        </a:rPr>
                        <a:t>Target Audience</a:t>
                      </a:r>
                    </a:p>
                  </a:txBody>
                  <a:tcPr marL="18973" marR="18973" marT="12648" marB="1264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IN" sz="1200" b="1" dirty="0">
                          <a:effectLst/>
                        </a:rPr>
                        <a:t>Creative Type</a:t>
                      </a:r>
                    </a:p>
                  </a:txBody>
                  <a:tcPr marL="18973" marR="18973" marT="12648" marB="12648" anchor="b">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b"/>
                      <a:r>
                        <a:rPr lang="en-IN" sz="1200" b="1">
                          <a:effectLst/>
                        </a:rPr>
                        <a:t>Location</a:t>
                      </a:r>
                    </a:p>
                  </a:txBody>
                  <a:tcPr marL="18973" marR="18973" marT="12648" marB="12648" anchor="b">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2065153802"/>
                  </a:ext>
                </a:extLst>
              </a:tr>
              <a:tr h="753850">
                <a:tc>
                  <a:txBody>
                    <a:bodyPr/>
                    <a:lstStyle/>
                    <a:p>
                      <a:pPr algn="ctr" rtl="0" fontAlgn="ctr"/>
                      <a:r>
                        <a:rPr lang="en-IN" sz="1200" b="1">
                          <a:effectLst/>
                        </a:rPr>
                        <a:t>Search Ads</a:t>
                      </a:r>
                    </a:p>
                  </a:txBody>
                  <a:tcPr marL="18973" marR="18973" marT="12648" marB="12648"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200" dirty="0">
                          <a:effectLst/>
                        </a:rPr>
                        <a:t>Drive traffic and conversions to website</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200" dirty="0">
                          <a:effectLst/>
                        </a:rPr>
                        <a:t>Users searching for villas, houses, property for sale</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200">
                          <a:effectLst/>
                        </a:rPr>
                        <a:t>Text</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200" dirty="0">
                          <a:effectLst/>
                        </a:rPr>
                        <a:t>Coimbatore, T1 Cities, NRI Market</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497920006"/>
                  </a:ext>
                </a:extLst>
              </a:tr>
              <a:tr h="935989">
                <a:tc>
                  <a:txBody>
                    <a:bodyPr/>
                    <a:lstStyle/>
                    <a:p>
                      <a:pPr algn="ctr" rtl="0" fontAlgn="ctr"/>
                      <a:r>
                        <a:rPr lang="en-IN" sz="1200" b="1">
                          <a:effectLst/>
                        </a:rPr>
                        <a:t>Display Ads</a:t>
                      </a:r>
                    </a:p>
                  </a:txBody>
                  <a:tcPr marL="18973" marR="18973" marT="12648" marB="12648"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200">
                          <a:effectLst/>
                        </a:rPr>
                        <a:t>Increase brand awareness and reach potential customers</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200" dirty="0">
                          <a:effectLst/>
                        </a:rPr>
                        <a:t>Users interested in travel and adventure across relevant websites and apps</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200" dirty="0">
                          <a:effectLst/>
                        </a:rPr>
                        <a:t>Single image and Video</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200" dirty="0">
                          <a:effectLst/>
                        </a:rPr>
                        <a:t>Coimbatore, T1 Cities, NRI Market</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3941011334"/>
                  </a:ext>
                </a:extLst>
              </a:tr>
              <a:tr h="935989">
                <a:tc>
                  <a:txBody>
                    <a:bodyPr/>
                    <a:lstStyle/>
                    <a:p>
                      <a:pPr algn="ctr" rtl="0" fontAlgn="ctr"/>
                      <a:r>
                        <a:rPr lang="en-IN" sz="1200" b="1">
                          <a:effectLst/>
                        </a:rPr>
                        <a:t>YouTube Ads</a:t>
                      </a:r>
                    </a:p>
                  </a:txBody>
                  <a:tcPr marL="18973" marR="18973" marT="12648" marB="12648"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200" dirty="0">
                          <a:effectLst/>
                        </a:rPr>
                        <a:t>Increase brand visibility and engagement through video content</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US" sz="1200" dirty="0">
                          <a:effectLst/>
                        </a:rPr>
                        <a:t>YouTube users interested in travel, Investing, </a:t>
                      </a:r>
                      <a:r>
                        <a:rPr lang="en-US" sz="1200" dirty="0" err="1">
                          <a:effectLst/>
                        </a:rPr>
                        <a:t>realestate</a:t>
                      </a:r>
                      <a:r>
                        <a:rPr lang="en-US" sz="1200" dirty="0">
                          <a:effectLst/>
                        </a:rPr>
                        <a:t>, etc.,</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200">
                          <a:effectLst/>
                        </a:rPr>
                        <a:t>Video ads</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tc>
                  <a:txBody>
                    <a:bodyPr/>
                    <a:lstStyle/>
                    <a:p>
                      <a:pPr algn="ctr" rtl="0" fontAlgn="ctr"/>
                      <a:r>
                        <a:rPr lang="en-IN" sz="1200" dirty="0">
                          <a:effectLst/>
                        </a:rPr>
                        <a:t>Coimbatore, T1 Cities, NRI Market</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379177739"/>
                  </a:ext>
                </a:extLst>
              </a:tr>
              <a:tr h="753850">
                <a:tc>
                  <a:txBody>
                    <a:bodyPr/>
                    <a:lstStyle/>
                    <a:p>
                      <a:pPr algn="ctr" rtl="0" fontAlgn="ctr"/>
                      <a:r>
                        <a:rPr lang="en-IN" sz="1200" b="1">
                          <a:effectLst/>
                        </a:rPr>
                        <a:t>Remarketing (Pmax)</a:t>
                      </a:r>
                    </a:p>
                  </a:txBody>
                  <a:tcPr marL="18973" marR="18973" marT="12648" marB="12648" anchor="ctr">
                    <a:lnL w="9525" cap="flat" cmpd="sng" algn="ctr">
                      <a:solidFill>
                        <a:srgbClr val="000000"/>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r>
                        <a:rPr lang="en-US" sz="1200" dirty="0">
                          <a:effectLst/>
                        </a:rPr>
                        <a:t>Re-engage users who have previously visited the website</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r>
                        <a:rPr lang="en-US" sz="1200">
                          <a:effectLst/>
                        </a:rPr>
                        <a:t>Users who have visited the website but haven't converted</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r>
                        <a:rPr lang="en-IN" sz="1200">
                          <a:effectLst/>
                        </a:rPr>
                        <a:t>Text and Visual Ads</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rtl="0" fontAlgn="ctr"/>
                      <a:r>
                        <a:rPr lang="en-IN" sz="1200" dirty="0">
                          <a:effectLst/>
                        </a:rPr>
                        <a:t>Coimbatore, T1 Cities, NRI Market</a:t>
                      </a:r>
                    </a:p>
                  </a:txBody>
                  <a:tcPr marL="18973" marR="18973" marT="12648" marB="12648" anchor="ctr">
                    <a:lnL w="9525" cap="flat" cmpd="sng" algn="ctr">
                      <a:solidFill>
                        <a:srgbClr val="CCCCCC"/>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56176768"/>
                  </a:ext>
                </a:extLst>
              </a:tr>
            </a:tbl>
          </a:graphicData>
        </a:graphic>
      </p:graphicFrame>
      <p:pic>
        <p:nvPicPr>
          <p:cNvPr id="2" name="Picture 1" descr="A logo with a blue arrow pointing up&#10;&#10;Description automatically generated">
            <a:extLst>
              <a:ext uri="{FF2B5EF4-FFF2-40B4-BE49-F238E27FC236}">
                <a16:creationId xmlns:a16="http://schemas.microsoft.com/office/drawing/2014/main" id="{14A6831D-D8D0-7FE5-8C27-E8AE1CF4DC27}"/>
              </a:ext>
            </a:extLst>
          </p:cNvPr>
          <p:cNvPicPr>
            <a:picLocks noChangeAspect="1"/>
          </p:cNvPicPr>
          <p:nvPr/>
        </p:nvPicPr>
        <p:blipFill rotWithShape="1">
          <a:blip r:embed="rId2"/>
          <a:srcRect l="9248" r="27480" b="47937"/>
          <a:stretch/>
        </p:blipFill>
        <p:spPr>
          <a:xfrm>
            <a:off x="11097352" y="30644"/>
            <a:ext cx="1012989" cy="830400"/>
          </a:xfrm>
          <a:prstGeom prst="rect">
            <a:avLst/>
          </a:prstGeom>
        </p:spPr>
      </p:pic>
    </p:spTree>
    <p:extLst>
      <p:ext uri="{BB962C8B-B14F-4D97-AF65-F5344CB8AC3E}">
        <p14:creationId xmlns:p14="http://schemas.microsoft.com/office/powerpoint/2010/main" val="496214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3"/>
          <p:cNvSpPr/>
          <p:nvPr/>
        </p:nvSpPr>
        <p:spPr>
          <a:xfrm>
            <a:off x="-403560" y="2183040"/>
            <a:ext cx="12720600" cy="2491920"/>
          </a:xfrm>
          <a:prstGeom prst="rect">
            <a:avLst/>
          </a:prstGeom>
          <a:solidFill>
            <a:srgbClr val="8DA9DB"/>
          </a:solidFill>
          <a:ln w="76300" cap="flat" cmpd="sng">
            <a:solidFill>
              <a:schemeClr val="lt1"/>
            </a:solidFill>
            <a:prstDash val="solid"/>
            <a:miter lim="800000"/>
            <a:headEnd type="none" w="sm" len="sm"/>
            <a:tailEnd type="none" w="sm" len="sm"/>
          </a:ln>
        </p:spPr>
        <p:txBody>
          <a:bodyPr spcFirstLastPara="1" wrap="square" lIns="91433" tIns="91433" rIns="91433" bIns="91433" anchor="ctr" anchorCtr="0">
            <a:noAutofit/>
          </a:bodyPr>
          <a:lstStyle/>
          <a:p>
            <a:endParaRPr sz="2400">
              <a:latin typeface="Montserrat" pitchFamily="2" charset="77"/>
            </a:endParaRPr>
          </a:p>
        </p:txBody>
      </p:sp>
      <p:sp>
        <p:nvSpPr>
          <p:cNvPr id="250" name="Google Shape;250;p43"/>
          <p:cNvSpPr txBox="1"/>
          <p:nvPr/>
        </p:nvSpPr>
        <p:spPr>
          <a:xfrm>
            <a:off x="1469573" y="2847420"/>
            <a:ext cx="6615649" cy="1163160"/>
          </a:xfrm>
          <a:prstGeom prst="rect">
            <a:avLst/>
          </a:prstGeom>
          <a:noFill/>
          <a:ln>
            <a:noFill/>
          </a:ln>
        </p:spPr>
        <p:txBody>
          <a:bodyPr spcFirstLastPara="1" wrap="square" lIns="91433" tIns="45700" rIns="91433" bIns="45700" anchor="ctr" anchorCtr="0">
            <a:noAutofit/>
          </a:bodyPr>
          <a:lstStyle/>
          <a:p>
            <a:pPr>
              <a:lnSpc>
                <a:spcPct val="90000"/>
              </a:lnSpc>
            </a:pPr>
            <a:r>
              <a:rPr lang="en" sz="4800" b="1" dirty="0">
                <a:solidFill>
                  <a:srgbClr val="FFFFFF"/>
                </a:solidFill>
                <a:latin typeface="Montserrat" pitchFamily="2" charset="77"/>
                <a:ea typeface="Calibri"/>
                <a:cs typeface="Libre Franklin Medium"/>
                <a:sym typeface="Libre Franklin Medium"/>
              </a:rPr>
              <a:t>SOME INTERESTING USE CASES</a:t>
            </a:r>
            <a:endParaRPr sz="4800" b="1" dirty="0">
              <a:solidFill>
                <a:srgbClr val="000000"/>
              </a:solidFill>
              <a:latin typeface="Montserrat" pitchFamily="2" charset="77"/>
              <a:ea typeface="Calibri"/>
              <a:cs typeface="Calibri"/>
              <a:sym typeface="Calibri"/>
            </a:endParaRPr>
          </a:p>
        </p:txBody>
      </p:sp>
      <p:pic>
        <p:nvPicPr>
          <p:cNvPr id="2" name="Picture 1" descr="A logo with a blue arrow pointing up&#10;&#10;Description automatically generated">
            <a:extLst>
              <a:ext uri="{FF2B5EF4-FFF2-40B4-BE49-F238E27FC236}">
                <a16:creationId xmlns:a16="http://schemas.microsoft.com/office/drawing/2014/main" id="{0214D9E6-8425-8A76-E0BC-7F909F23C88C}"/>
              </a:ext>
            </a:extLst>
          </p:cNvPr>
          <p:cNvPicPr>
            <a:picLocks noChangeAspect="1"/>
          </p:cNvPicPr>
          <p:nvPr/>
        </p:nvPicPr>
        <p:blipFill rotWithShape="1">
          <a:blip r:embed="rId3"/>
          <a:srcRect l="9248" r="27480" b="47937"/>
          <a:stretch/>
        </p:blipFill>
        <p:spPr>
          <a:xfrm>
            <a:off x="11297920" y="30644"/>
            <a:ext cx="812421" cy="665984"/>
          </a:xfrm>
          <a:prstGeom prst="rect">
            <a:avLst/>
          </a:prstGeom>
        </p:spPr>
      </p:pic>
      <p:sp>
        <p:nvSpPr>
          <p:cNvPr id="3" name="Google Shape;203;p41">
            <a:extLst>
              <a:ext uri="{FF2B5EF4-FFF2-40B4-BE49-F238E27FC236}">
                <a16:creationId xmlns:a16="http://schemas.microsoft.com/office/drawing/2014/main" id="{35B0119A-0D65-1F6E-C365-5E24E45C2056}"/>
              </a:ext>
            </a:extLst>
          </p:cNvPr>
          <p:cNvSpPr/>
          <p:nvPr/>
        </p:nvSpPr>
        <p:spPr>
          <a:xfrm>
            <a:off x="0" y="6597749"/>
            <a:ext cx="12192000" cy="260252"/>
          </a:xfrm>
          <a:prstGeom prst="rect">
            <a:avLst/>
          </a:prstGeom>
          <a:solidFill>
            <a:srgbClr val="8DA9DB"/>
          </a:solidFill>
          <a:ln>
            <a:noFill/>
          </a:ln>
        </p:spPr>
        <p:txBody>
          <a:bodyPr spcFirstLastPara="1" wrap="square" lIns="91433" tIns="45700" rIns="91433" bIns="45700" anchor="ctr" anchorCtr="0">
            <a:noAutofit/>
          </a:bodyPr>
          <a:lstStyle/>
          <a:p>
            <a:pPr algn="ctr">
              <a:buClr>
                <a:schemeClr val="dk1"/>
              </a:buClr>
              <a:buSzPts val="900"/>
            </a:pPr>
            <a:r>
              <a:rPr lang="en" sz="1200" b="1" dirty="0">
                <a:solidFill>
                  <a:schemeClr val="dk1"/>
                </a:solidFill>
                <a:latin typeface="Montserrat" pitchFamily="2" charset="77"/>
                <a:ea typeface="Libre Franklin"/>
                <a:cs typeface="Libre Franklin"/>
                <a:sym typeface="Libre Franklin"/>
              </a:rPr>
              <a:t>Confidential @ </a:t>
            </a:r>
            <a:r>
              <a:rPr lang="en-IN" sz="1200" b="1" dirty="0" err="1">
                <a:solidFill>
                  <a:schemeClr val="dk1"/>
                </a:solidFill>
                <a:latin typeface="Montserrat" pitchFamily="2" charset="77"/>
                <a:ea typeface="Libre Franklin"/>
                <a:cs typeface="Libre Franklin"/>
                <a:sym typeface="Libre Franklin"/>
              </a:rPr>
              <a:t>Digifyce</a:t>
            </a:r>
            <a:endParaRPr sz="1200" b="1" dirty="0">
              <a:solidFill>
                <a:schemeClr val="dk1"/>
              </a:solidFill>
              <a:latin typeface="Montserrat" pitchFamily="2" charset="77"/>
              <a:ea typeface="Libre Franklin"/>
              <a:cs typeface="Libre Franklin"/>
              <a:sym typeface="Libre Franklin"/>
            </a:endParaRPr>
          </a:p>
        </p:txBody>
      </p:sp>
    </p:spTree>
    <p:extLst>
      <p:ext uri="{BB962C8B-B14F-4D97-AF65-F5344CB8AC3E}">
        <p14:creationId xmlns:p14="http://schemas.microsoft.com/office/powerpoint/2010/main" val="3736499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CustomShape 1"/>
          <p:cNvSpPr/>
          <p:nvPr/>
        </p:nvSpPr>
        <p:spPr>
          <a:xfrm>
            <a:off x="87120" y="116280"/>
            <a:ext cx="12003120" cy="62712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IN" sz="2133" b="1" spc="-1" dirty="0">
                <a:solidFill>
                  <a:srgbClr val="FFFFFF"/>
                </a:solidFill>
                <a:latin typeface="Montserrat" pitchFamily="2" charset="77"/>
              </a:rPr>
              <a:t>COST SAVING DERIVATION FOR A TOP REAL ESTATE AGENT IN SINGAPORE </a:t>
            </a:r>
            <a:endParaRPr lang="en-IN" sz="2133" spc="-1" dirty="0">
              <a:latin typeface="Montserrat" pitchFamily="2" charset="77"/>
            </a:endParaRPr>
          </a:p>
        </p:txBody>
      </p:sp>
      <p:sp>
        <p:nvSpPr>
          <p:cNvPr id="23" name="Rectangle 22">
            <a:extLst>
              <a:ext uri="{FF2B5EF4-FFF2-40B4-BE49-F238E27FC236}">
                <a16:creationId xmlns:a16="http://schemas.microsoft.com/office/drawing/2014/main" id="{E1BEAA64-09B4-47C4-A70E-44CA1260BEB3}"/>
              </a:ext>
            </a:extLst>
          </p:cNvPr>
          <p:cNvSpPr/>
          <p:nvPr/>
        </p:nvSpPr>
        <p:spPr>
          <a:xfrm>
            <a:off x="0" y="6597749"/>
            <a:ext cx="12192000" cy="260252"/>
          </a:xfrm>
          <a:prstGeom prst="rect">
            <a:avLst/>
          </a:prstGeom>
          <a:solidFill>
            <a:schemeClr val="accent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buClrTx/>
              <a:defRPr/>
            </a:pPr>
            <a:r>
              <a:rPr lang="en-US" sz="1067" b="1" spc="-1" dirty="0">
                <a:solidFill>
                  <a:srgbClr val="FFFFFF"/>
                </a:solidFill>
                <a:latin typeface="Montserrat" pitchFamily="2" charset="77"/>
              </a:rPr>
              <a:t>Confidential @ </a:t>
            </a:r>
            <a:r>
              <a:rPr lang="en-US" sz="1067" b="1" spc="-1" dirty="0" err="1">
                <a:solidFill>
                  <a:srgbClr val="FFFFFF"/>
                </a:solidFill>
                <a:latin typeface="Montserrat" pitchFamily="2" charset="77"/>
              </a:rPr>
              <a:t>Digifyce</a:t>
            </a:r>
            <a:endParaRPr lang="en-US" sz="1067" b="1" spc="-1" dirty="0">
              <a:solidFill>
                <a:srgbClr val="FFFFFF"/>
              </a:solidFill>
              <a:latin typeface="Montserrat" pitchFamily="2" charset="77"/>
            </a:endParaRPr>
          </a:p>
        </p:txBody>
      </p:sp>
      <p:pic>
        <p:nvPicPr>
          <p:cNvPr id="4" name="Picture 3" descr="A screenshot of a chart&#10;&#10;Description automatically generated">
            <a:extLst>
              <a:ext uri="{FF2B5EF4-FFF2-40B4-BE49-F238E27FC236}">
                <a16:creationId xmlns:a16="http://schemas.microsoft.com/office/drawing/2014/main" id="{F6A2934E-BE1C-7DBD-7CB7-84FE24D143FE}"/>
              </a:ext>
            </a:extLst>
          </p:cNvPr>
          <p:cNvPicPr>
            <a:picLocks noChangeAspect="1"/>
          </p:cNvPicPr>
          <p:nvPr/>
        </p:nvPicPr>
        <p:blipFill>
          <a:blip r:embed="rId2"/>
          <a:stretch>
            <a:fillRect/>
          </a:stretch>
        </p:blipFill>
        <p:spPr>
          <a:xfrm>
            <a:off x="757186" y="882321"/>
            <a:ext cx="11062636" cy="5576508"/>
          </a:xfrm>
          <a:prstGeom prst="rect">
            <a:avLst/>
          </a:prstGeom>
        </p:spPr>
      </p:pic>
      <p:pic>
        <p:nvPicPr>
          <p:cNvPr id="2" name="Picture 1" descr="A logo with a blue arrow pointing up&#10;&#10;Description automatically generated">
            <a:extLst>
              <a:ext uri="{FF2B5EF4-FFF2-40B4-BE49-F238E27FC236}">
                <a16:creationId xmlns:a16="http://schemas.microsoft.com/office/drawing/2014/main" id="{A54FDAB0-698F-937E-7869-234A5C790F46}"/>
              </a:ext>
            </a:extLst>
          </p:cNvPr>
          <p:cNvPicPr>
            <a:picLocks noChangeAspect="1"/>
          </p:cNvPicPr>
          <p:nvPr/>
        </p:nvPicPr>
        <p:blipFill rotWithShape="1">
          <a:blip r:embed="rId3"/>
          <a:srcRect l="9248" r="27480" b="47937"/>
          <a:stretch/>
        </p:blipFill>
        <p:spPr>
          <a:xfrm>
            <a:off x="11297920" y="84591"/>
            <a:ext cx="812421" cy="665984"/>
          </a:xfrm>
          <a:prstGeom prst="rect">
            <a:avLst/>
          </a:prstGeom>
        </p:spPr>
      </p:pic>
    </p:spTree>
    <p:extLst>
      <p:ext uri="{BB962C8B-B14F-4D97-AF65-F5344CB8AC3E}">
        <p14:creationId xmlns:p14="http://schemas.microsoft.com/office/powerpoint/2010/main" val="3037250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CustomShape 1"/>
          <p:cNvSpPr/>
          <p:nvPr/>
        </p:nvSpPr>
        <p:spPr>
          <a:xfrm>
            <a:off x="87120" y="116280"/>
            <a:ext cx="12003120" cy="62712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IN" sz="2133" b="1" spc="-1" dirty="0">
                <a:solidFill>
                  <a:srgbClr val="FFFFFF"/>
                </a:solidFill>
                <a:latin typeface="Montserrat" pitchFamily="2" charset="77"/>
              </a:rPr>
              <a:t>COST SAVING DERIVATION FOR A TOP REAL ESTATE AGENT IN SINGAPORE </a:t>
            </a:r>
            <a:endParaRPr lang="en-IN" sz="2133" spc="-1" dirty="0">
              <a:latin typeface="Montserrat" pitchFamily="2" charset="77"/>
            </a:endParaRPr>
          </a:p>
        </p:txBody>
      </p:sp>
      <p:sp>
        <p:nvSpPr>
          <p:cNvPr id="23" name="Rectangle 22">
            <a:extLst>
              <a:ext uri="{FF2B5EF4-FFF2-40B4-BE49-F238E27FC236}">
                <a16:creationId xmlns:a16="http://schemas.microsoft.com/office/drawing/2014/main" id="{E1BEAA64-09B4-47C4-A70E-44CA1260BEB3}"/>
              </a:ext>
            </a:extLst>
          </p:cNvPr>
          <p:cNvSpPr/>
          <p:nvPr/>
        </p:nvSpPr>
        <p:spPr>
          <a:xfrm>
            <a:off x="0" y="6597749"/>
            <a:ext cx="12192000" cy="260252"/>
          </a:xfrm>
          <a:prstGeom prst="rect">
            <a:avLst/>
          </a:prstGeom>
          <a:solidFill>
            <a:schemeClr val="accent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buClrTx/>
              <a:defRPr/>
            </a:pPr>
            <a:r>
              <a:rPr lang="en-US" sz="1067" b="1" spc="-1" dirty="0">
                <a:solidFill>
                  <a:srgbClr val="FFFFFF"/>
                </a:solidFill>
                <a:latin typeface="Montserrat" pitchFamily="2" charset="77"/>
              </a:rPr>
              <a:t>Confidential @ </a:t>
            </a:r>
            <a:r>
              <a:rPr lang="en-US" sz="1067" b="1" spc="-1" dirty="0" err="1">
                <a:solidFill>
                  <a:srgbClr val="FFFFFF"/>
                </a:solidFill>
                <a:latin typeface="Montserrat" pitchFamily="2" charset="77"/>
              </a:rPr>
              <a:t>Digifyce</a:t>
            </a:r>
            <a:endParaRPr lang="en-US" sz="1067" b="1" spc="-1" dirty="0">
              <a:solidFill>
                <a:srgbClr val="FFFFFF"/>
              </a:solidFill>
              <a:latin typeface="Montserrat" pitchFamily="2" charset="77"/>
            </a:endParaRPr>
          </a:p>
        </p:txBody>
      </p:sp>
      <p:pic>
        <p:nvPicPr>
          <p:cNvPr id="3" name="Picture 2" descr="A screenshot of a computer&#10;&#10;Description automatically generated">
            <a:extLst>
              <a:ext uri="{FF2B5EF4-FFF2-40B4-BE49-F238E27FC236}">
                <a16:creationId xmlns:a16="http://schemas.microsoft.com/office/drawing/2014/main" id="{609C1092-7CBB-5A2E-C936-67E12E653B14}"/>
              </a:ext>
            </a:extLst>
          </p:cNvPr>
          <p:cNvPicPr>
            <a:picLocks noChangeAspect="1"/>
          </p:cNvPicPr>
          <p:nvPr/>
        </p:nvPicPr>
        <p:blipFill rotWithShape="1">
          <a:blip r:embed="rId2"/>
          <a:srcRect r="2595"/>
          <a:stretch/>
        </p:blipFill>
        <p:spPr>
          <a:xfrm>
            <a:off x="228746" y="828148"/>
            <a:ext cx="11719869" cy="5769600"/>
          </a:xfrm>
          <a:prstGeom prst="rect">
            <a:avLst/>
          </a:prstGeom>
        </p:spPr>
      </p:pic>
      <p:pic>
        <p:nvPicPr>
          <p:cNvPr id="2" name="Picture 1" descr="A logo with a blue arrow pointing up&#10;&#10;Description automatically generated">
            <a:extLst>
              <a:ext uri="{FF2B5EF4-FFF2-40B4-BE49-F238E27FC236}">
                <a16:creationId xmlns:a16="http://schemas.microsoft.com/office/drawing/2014/main" id="{D717757B-E45F-72AC-3D11-8484C3616AF9}"/>
              </a:ext>
            </a:extLst>
          </p:cNvPr>
          <p:cNvPicPr>
            <a:picLocks noChangeAspect="1"/>
          </p:cNvPicPr>
          <p:nvPr/>
        </p:nvPicPr>
        <p:blipFill rotWithShape="1">
          <a:blip r:embed="rId3"/>
          <a:srcRect l="9248" r="27480" b="47937"/>
          <a:stretch/>
        </p:blipFill>
        <p:spPr>
          <a:xfrm>
            <a:off x="11292459" y="77416"/>
            <a:ext cx="812421" cy="665984"/>
          </a:xfrm>
          <a:prstGeom prst="rect">
            <a:avLst/>
          </a:prstGeom>
        </p:spPr>
      </p:pic>
    </p:spTree>
    <p:extLst>
      <p:ext uri="{BB962C8B-B14F-4D97-AF65-F5344CB8AC3E}">
        <p14:creationId xmlns:p14="http://schemas.microsoft.com/office/powerpoint/2010/main" val="3613977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CustomShape 1"/>
          <p:cNvSpPr/>
          <p:nvPr/>
        </p:nvSpPr>
        <p:spPr>
          <a:xfrm>
            <a:off x="87120" y="116280"/>
            <a:ext cx="12003120" cy="62712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r>
              <a:rPr lang="en-IN" sz="2133" b="1" spc="-1" dirty="0">
                <a:solidFill>
                  <a:srgbClr val="FFFFFF"/>
                </a:solidFill>
                <a:latin typeface="Montserrat" pitchFamily="2" charset="77"/>
              </a:rPr>
              <a:t>COST SAVING DERIVATION FOR A TOP REAL ESTATE AGENT IN SINGAPORE </a:t>
            </a:r>
            <a:endParaRPr lang="en-IN" sz="2133" spc="-1" dirty="0">
              <a:latin typeface="Montserrat" pitchFamily="2" charset="77"/>
            </a:endParaRPr>
          </a:p>
        </p:txBody>
      </p:sp>
      <p:sp>
        <p:nvSpPr>
          <p:cNvPr id="23" name="Rectangle 22">
            <a:extLst>
              <a:ext uri="{FF2B5EF4-FFF2-40B4-BE49-F238E27FC236}">
                <a16:creationId xmlns:a16="http://schemas.microsoft.com/office/drawing/2014/main" id="{E1BEAA64-09B4-47C4-A70E-44CA1260BEB3}"/>
              </a:ext>
            </a:extLst>
          </p:cNvPr>
          <p:cNvSpPr/>
          <p:nvPr/>
        </p:nvSpPr>
        <p:spPr>
          <a:xfrm>
            <a:off x="0" y="6597749"/>
            <a:ext cx="12192000" cy="260252"/>
          </a:xfrm>
          <a:prstGeom prst="rect">
            <a:avLst/>
          </a:prstGeom>
          <a:solidFill>
            <a:schemeClr val="accent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buClrTx/>
              <a:defRPr/>
            </a:pPr>
            <a:r>
              <a:rPr lang="en-US" sz="1067" b="1" spc="-1" dirty="0">
                <a:solidFill>
                  <a:srgbClr val="FFFFFF"/>
                </a:solidFill>
                <a:latin typeface="Montserrat" pitchFamily="2" charset="77"/>
              </a:rPr>
              <a:t>Confidential @ </a:t>
            </a:r>
            <a:r>
              <a:rPr lang="en-US" sz="1067" b="1" spc="-1" dirty="0" err="1">
                <a:solidFill>
                  <a:srgbClr val="FFFFFF"/>
                </a:solidFill>
                <a:latin typeface="Montserrat" pitchFamily="2" charset="77"/>
              </a:rPr>
              <a:t>Digifyce</a:t>
            </a:r>
            <a:endParaRPr lang="en-US" sz="1067" b="1" spc="-1" dirty="0">
              <a:solidFill>
                <a:srgbClr val="FFFFFF"/>
              </a:solidFill>
              <a:latin typeface="Montserrat" pitchFamily="2" charset="77"/>
            </a:endParaRPr>
          </a:p>
        </p:txBody>
      </p:sp>
      <p:pic>
        <p:nvPicPr>
          <p:cNvPr id="4" name="Picture 3" descr="A screenshot of a computer&#10;&#10;Description automatically generated">
            <a:extLst>
              <a:ext uri="{FF2B5EF4-FFF2-40B4-BE49-F238E27FC236}">
                <a16:creationId xmlns:a16="http://schemas.microsoft.com/office/drawing/2014/main" id="{2E04C404-1064-A02B-F277-547561536A6E}"/>
              </a:ext>
            </a:extLst>
          </p:cNvPr>
          <p:cNvPicPr>
            <a:picLocks noChangeAspect="1"/>
          </p:cNvPicPr>
          <p:nvPr/>
        </p:nvPicPr>
        <p:blipFill>
          <a:blip r:embed="rId2"/>
          <a:stretch>
            <a:fillRect/>
          </a:stretch>
        </p:blipFill>
        <p:spPr>
          <a:xfrm>
            <a:off x="155230" y="930719"/>
            <a:ext cx="11866900" cy="5209427"/>
          </a:xfrm>
          <a:prstGeom prst="rect">
            <a:avLst/>
          </a:prstGeom>
        </p:spPr>
      </p:pic>
      <p:pic>
        <p:nvPicPr>
          <p:cNvPr id="2" name="Picture 1" descr="A logo with a blue arrow pointing up&#10;&#10;Description automatically generated">
            <a:extLst>
              <a:ext uri="{FF2B5EF4-FFF2-40B4-BE49-F238E27FC236}">
                <a16:creationId xmlns:a16="http://schemas.microsoft.com/office/drawing/2014/main" id="{BFAA33C8-147D-520D-6742-C858CC95EC84}"/>
              </a:ext>
            </a:extLst>
          </p:cNvPr>
          <p:cNvPicPr>
            <a:picLocks noChangeAspect="1"/>
          </p:cNvPicPr>
          <p:nvPr/>
        </p:nvPicPr>
        <p:blipFill rotWithShape="1">
          <a:blip r:embed="rId3"/>
          <a:srcRect l="9248" r="27480" b="47937"/>
          <a:stretch/>
        </p:blipFill>
        <p:spPr>
          <a:xfrm>
            <a:off x="11292459" y="140124"/>
            <a:ext cx="812421" cy="665984"/>
          </a:xfrm>
          <a:prstGeom prst="rect">
            <a:avLst/>
          </a:prstGeom>
        </p:spPr>
      </p:pic>
    </p:spTree>
    <p:extLst>
      <p:ext uri="{BB962C8B-B14F-4D97-AF65-F5344CB8AC3E}">
        <p14:creationId xmlns:p14="http://schemas.microsoft.com/office/powerpoint/2010/main" val="13928950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4"/>
          <p:cNvSpPr/>
          <p:nvPr/>
        </p:nvSpPr>
        <p:spPr>
          <a:xfrm>
            <a:off x="87120" y="116280"/>
            <a:ext cx="12003200" cy="627200"/>
          </a:xfrm>
          <a:prstGeom prst="rect">
            <a:avLst/>
          </a:prstGeom>
          <a:solidFill>
            <a:srgbClr val="0942A1"/>
          </a:solidFill>
          <a:ln w="12700" cap="flat" cmpd="sng">
            <a:solidFill>
              <a:schemeClr val="lt1"/>
            </a:solidFill>
            <a:prstDash val="solid"/>
            <a:miter lim="800000"/>
            <a:headEnd type="none" w="sm" len="sm"/>
            <a:tailEnd type="none" w="sm" len="sm"/>
          </a:ln>
        </p:spPr>
        <p:txBody>
          <a:bodyPr spcFirstLastPara="1" wrap="square" lIns="90000" tIns="45000" rIns="90000" bIns="45000" anchor="ctr" anchorCtr="0">
            <a:noAutofit/>
          </a:bodyPr>
          <a:lstStyle/>
          <a:p>
            <a:pPr algn="ctr"/>
            <a:r>
              <a:rPr lang="en" sz="2400" b="1" dirty="0">
                <a:solidFill>
                  <a:schemeClr val="lt1"/>
                </a:solidFill>
                <a:latin typeface="Libre Franklin"/>
                <a:ea typeface="Libre Franklin"/>
                <a:cs typeface="Libre Franklin"/>
                <a:sym typeface="Libre Franklin"/>
              </a:rPr>
              <a:t>CASE STUDY 1:  LUXURY REAL ESTATE BUILDER</a:t>
            </a:r>
            <a:r>
              <a:rPr lang="en" sz="2400" b="1" dirty="0">
                <a:solidFill>
                  <a:schemeClr val="dk1"/>
                </a:solidFill>
                <a:latin typeface="Libre Franklin"/>
                <a:ea typeface="Libre Franklin"/>
                <a:cs typeface="Libre Franklin"/>
                <a:sym typeface="Libre Franklin"/>
              </a:rPr>
              <a:t> </a:t>
            </a:r>
            <a:endParaRPr sz="2400" dirty="0">
              <a:solidFill>
                <a:schemeClr val="dk1"/>
              </a:solidFill>
              <a:latin typeface="Arial"/>
              <a:ea typeface="Arial"/>
              <a:cs typeface="Arial"/>
              <a:sym typeface="Arial"/>
            </a:endParaRPr>
          </a:p>
        </p:txBody>
      </p:sp>
      <p:sp>
        <p:nvSpPr>
          <p:cNvPr id="253" name="Google Shape;253;p44"/>
          <p:cNvSpPr/>
          <p:nvPr/>
        </p:nvSpPr>
        <p:spPr>
          <a:xfrm>
            <a:off x="0" y="6597748"/>
            <a:ext cx="12192000" cy="260400"/>
          </a:xfrm>
          <a:prstGeom prst="rect">
            <a:avLst/>
          </a:prstGeom>
          <a:solidFill>
            <a:srgbClr val="0942A1"/>
          </a:solidFill>
          <a:ln>
            <a:noFill/>
          </a:ln>
        </p:spPr>
        <p:txBody>
          <a:bodyPr spcFirstLastPara="1" wrap="square" lIns="91433" tIns="45700" rIns="91433" bIns="45700" anchor="ctr" anchorCtr="0">
            <a:noAutofit/>
          </a:bodyPr>
          <a:lstStyle/>
          <a:p>
            <a:pPr algn="ctr">
              <a:buClr>
                <a:schemeClr val="dk1"/>
              </a:buClr>
              <a:buSzPts val="900"/>
            </a:pPr>
            <a:r>
              <a:rPr lang="en" sz="1200" b="1">
                <a:solidFill>
                  <a:schemeClr val="lt1"/>
                </a:solidFill>
                <a:latin typeface="Libre Franklin"/>
                <a:ea typeface="Libre Franklin"/>
                <a:cs typeface="Libre Franklin"/>
                <a:sym typeface="Libre Franklin"/>
              </a:rPr>
              <a:t>Confidential @ Soul Creationz</a:t>
            </a:r>
            <a:endParaRPr sz="1200" b="1">
              <a:solidFill>
                <a:schemeClr val="lt1"/>
              </a:solidFill>
              <a:latin typeface="Libre Franklin"/>
              <a:ea typeface="Libre Franklin"/>
              <a:cs typeface="Libre Franklin"/>
              <a:sym typeface="Libre Franklin"/>
            </a:endParaRPr>
          </a:p>
        </p:txBody>
      </p:sp>
      <p:cxnSp>
        <p:nvCxnSpPr>
          <p:cNvPr id="254" name="Google Shape;254;p44"/>
          <p:cNvCxnSpPr/>
          <p:nvPr/>
        </p:nvCxnSpPr>
        <p:spPr>
          <a:xfrm>
            <a:off x="485139" y="2057871"/>
            <a:ext cx="3799200" cy="0"/>
          </a:xfrm>
          <a:prstGeom prst="straightConnector1">
            <a:avLst/>
          </a:prstGeom>
          <a:noFill/>
          <a:ln w="9525" cap="flat" cmpd="sng">
            <a:solidFill>
              <a:schemeClr val="lt1"/>
            </a:solidFill>
            <a:prstDash val="solid"/>
            <a:miter lim="800000"/>
            <a:headEnd type="none" w="sm" len="sm"/>
            <a:tailEnd type="none" w="sm" len="sm"/>
          </a:ln>
        </p:spPr>
      </p:cxnSp>
      <p:cxnSp>
        <p:nvCxnSpPr>
          <p:cNvPr id="255" name="Google Shape;255;p44"/>
          <p:cNvCxnSpPr/>
          <p:nvPr/>
        </p:nvCxnSpPr>
        <p:spPr>
          <a:xfrm>
            <a:off x="818371" y="2852821"/>
            <a:ext cx="3117600" cy="25200"/>
          </a:xfrm>
          <a:prstGeom prst="straightConnector1">
            <a:avLst/>
          </a:prstGeom>
          <a:noFill/>
          <a:ln w="9525" cap="flat" cmpd="sng">
            <a:solidFill>
              <a:schemeClr val="lt1"/>
            </a:solidFill>
            <a:prstDash val="solid"/>
            <a:miter lim="800000"/>
            <a:headEnd type="none" w="sm" len="sm"/>
            <a:tailEnd type="none" w="sm" len="sm"/>
          </a:ln>
        </p:spPr>
      </p:cxnSp>
      <p:cxnSp>
        <p:nvCxnSpPr>
          <p:cNvPr id="256" name="Google Shape;256;p44"/>
          <p:cNvCxnSpPr>
            <a:stCxn id="257" idx="1"/>
            <a:endCxn id="257" idx="3"/>
          </p:cNvCxnSpPr>
          <p:nvPr/>
        </p:nvCxnSpPr>
        <p:spPr>
          <a:xfrm>
            <a:off x="1291483" y="3878043"/>
            <a:ext cx="2226400" cy="0"/>
          </a:xfrm>
          <a:prstGeom prst="straightConnector1">
            <a:avLst/>
          </a:prstGeom>
          <a:noFill/>
          <a:ln w="9525" cap="flat" cmpd="sng">
            <a:solidFill>
              <a:schemeClr val="lt1"/>
            </a:solidFill>
            <a:prstDash val="solid"/>
            <a:miter lim="800000"/>
            <a:headEnd type="none" w="sm" len="sm"/>
            <a:tailEnd type="none" w="sm" len="sm"/>
          </a:ln>
        </p:spPr>
      </p:cxnSp>
      <p:cxnSp>
        <p:nvCxnSpPr>
          <p:cNvPr id="258" name="Google Shape;258;p44"/>
          <p:cNvCxnSpPr/>
          <p:nvPr/>
        </p:nvCxnSpPr>
        <p:spPr>
          <a:xfrm>
            <a:off x="859687" y="4521743"/>
            <a:ext cx="3331600" cy="0"/>
          </a:xfrm>
          <a:prstGeom prst="straightConnector1">
            <a:avLst/>
          </a:prstGeom>
          <a:noFill/>
          <a:ln w="9525" cap="flat" cmpd="sng">
            <a:solidFill>
              <a:schemeClr val="lt1"/>
            </a:solidFill>
            <a:prstDash val="solid"/>
            <a:miter lim="800000"/>
            <a:headEnd type="none" w="sm" len="sm"/>
            <a:tailEnd type="none" w="sm" len="sm"/>
          </a:ln>
        </p:spPr>
      </p:cxnSp>
      <p:sp>
        <p:nvSpPr>
          <p:cNvPr id="259" name="Google Shape;259;p44"/>
          <p:cNvSpPr/>
          <p:nvPr/>
        </p:nvSpPr>
        <p:spPr>
          <a:xfrm>
            <a:off x="-80988" y="1688467"/>
            <a:ext cx="1881349" cy="305599"/>
          </a:xfrm>
          <a:prstGeom prst="rect">
            <a:avLst/>
          </a:prstGeom>
          <a:noFill/>
          <a:ln>
            <a:noFill/>
          </a:ln>
        </p:spPr>
        <p:txBody>
          <a:bodyPr spcFirstLastPara="1" wrap="square" lIns="90000" tIns="45000" rIns="90000" bIns="45000" anchor="ctr" anchorCtr="0">
            <a:noAutofit/>
          </a:bodyPr>
          <a:lstStyle/>
          <a:p>
            <a:pPr algn="ctr">
              <a:buClr>
                <a:srgbClr val="000000"/>
              </a:buClr>
              <a:buSzPts val="900"/>
            </a:pPr>
            <a:r>
              <a:rPr lang="en" sz="1200" b="1" dirty="0">
                <a:solidFill>
                  <a:schemeClr val="dk1"/>
                </a:solidFill>
              </a:rPr>
              <a:t>Reach </a:t>
            </a:r>
            <a:r>
              <a:rPr lang="en" sz="1200" b="1" dirty="0">
                <a:solidFill>
                  <a:schemeClr val="dk1"/>
                </a:solidFill>
                <a:latin typeface="Arial"/>
                <a:ea typeface="Arial"/>
                <a:cs typeface="Arial"/>
                <a:sym typeface="Arial"/>
              </a:rPr>
              <a:t> = </a:t>
            </a:r>
            <a:endParaRPr sz="1200" b="1" dirty="0">
              <a:solidFill>
                <a:schemeClr val="dk1"/>
              </a:solidFill>
              <a:latin typeface="Arial"/>
              <a:ea typeface="Arial"/>
              <a:cs typeface="Arial"/>
              <a:sym typeface="Arial"/>
            </a:endParaRPr>
          </a:p>
          <a:p>
            <a:pPr algn="ctr">
              <a:buClr>
                <a:srgbClr val="000000"/>
              </a:buClr>
              <a:buSzPts val="900"/>
            </a:pPr>
            <a:r>
              <a:rPr lang="en" sz="1200" b="1" dirty="0">
                <a:solidFill>
                  <a:schemeClr val="dk1"/>
                </a:solidFill>
              </a:rPr>
              <a:t>2.5million</a:t>
            </a:r>
            <a:endParaRPr sz="1200" b="1" dirty="0">
              <a:solidFill>
                <a:schemeClr val="dk1"/>
              </a:solidFill>
              <a:latin typeface="Arial"/>
              <a:ea typeface="Arial"/>
              <a:cs typeface="Arial"/>
              <a:sym typeface="Arial"/>
            </a:endParaRPr>
          </a:p>
        </p:txBody>
      </p:sp>
      <p:sp>
        <p:nvSpPr>
          <p:cNvPr id="260" name="Google Shape;260;p44"/>
          <p:cNvSpPr/>
          <p:nvPr/>
        </p:nvSpPr>
        <p:spPr>
          <a:xfrm>
            <a:off x="239841" y="3581947"/>
            <a:ext cx="808011" cy="305600"/>
          </a:xfrm>
          <a:prstGeom prst="rect">
            <a:avLst/>
          </a:prstGeom>
          <a:noFill/>
          <a:ln>
            <a:noFill/>
          </a:ln>
        </p:spPr>
        <p:txBody>
          <a:bodyPr spcFirstLastPara="1" wrap="square" lIns="90000" tIns="45000" rIns="90000" bIns="45000" anchor="ctr" anchorCtr="0">
            <a:noAutofit/>
          </a:bodyPr>
          <a:lstStyle/>
          <a:p>
            <a:pPr algn="ctr">
              <a:buClr>
                <a:schemeClr val="dk1"/>
              </a:buClr>
              <a:buSzPts val="900"/>
            </a:pPr>
            <a:r>
              <a:rPr lang="en" sz="1200" b="1">
                <a:solidFill>
                  <a:schemeClr val="dk1"/>
                </a:solidFill>
              </a:rPr>
              <a:t>Traffic</a:t>
            </a:r>
            <a:r>
              <a:rPr lang="en" sz="1200" b="1">
                <a:solidFill>
                  <a:schemeClr val="dk1"/>
                </a:solidFill>
                <a:latin typeface="Arial"/>
                <a:ea typeface="Arial"/>
                <a:cs typeface="Arial"/>
                <a:sym typeface="Arial"/>
              </a:rPr>
              <a:t> = </a:t>
            </a:r>
            <a:r>
              <a:rPr lang="en" sz="1200" b="1">
                <a:solidFill>
                  <a:schemeClr val="dk1"/>
                </a:solidFill>
              </a:rPr>
              <a:t>13000</a:t>
            </a:r>
            <a:endParaRPr sz="1200" b="1">
              <a:solidFill>
                <a:schemeClr val="dk1"/>
              </a:solidFill>
              <a:latin typeface="Arial"/>
              <a:ea typeface="Arial"/>
              <a:cs typeface="Arial"/>
              <a:sym typeface="Arial"/>
            </a:endParaRPr>
          </a:p>
        </p:txBody>
      </p:sp>
      <p:sp>
        <p:nvSpPr>
          <p:cNvPr id="261" name="Google Shape;261;p44"/>
          <p:cNvSpPr/>
          <p:nvPr/>
        </p:nvSpPr>
        <p:spPr>
          <a:xfrm>
            <a:off x="359487" y="4834635"/>
            <a:ext cx="2166000" cy="306000"/>
          </a:xfrm>
          <a:prstGeom prst="rect">
            <a:avLst/>
          </a:prstGeom>
          <a:noFill/>
          <a:ln>
            <a:noFill/>
          </a:ln>
        </p:spPr>
        <p:txBody>
          <a:bodyPr spcFirstLastPara="1" wrap="square" lIns="90000" tIns="45000" rIns="90000" bIns="45000" anchor="ctr" anchorCtr="0">
            <a:noAutofit/>
          </a:bodyPr>
          <a:lstStyle/>
          <a:p>
            <a:pPr algn="ctr">
              <a:buClr>
                <a:schemeClr val="dk1"/>
              </a:buClr>
              <a:buSzPts val="900"/>
            </a:pPr>
            <a:r>
              <a:rPr lang="en" sz="1200" b="1" dirty="0">
                <a:solidFill>
                  <a:schemeClr val="dk1"/>
                </a:solidFill>
              </a:rPr>
              <a:t>Leads=1400</a:t>
            </a:r>
            <a:endParaRPr sz="1200" b="1" dirty="0">
              <a:solidFill>
                <a:schemeClr val="dk1"/>
              </a:solidFill>
              <a:latin typeface="Arial"/>
              <a:ea typeface="Arial"/>
              <a:cs typeface="Arial"/>
              <a:sym typeface="Arial"/>
            </a:endParaRPr>
          </a:p>
        </p:txBody>
      </p:sp>
      <p:sp>
        <p:nvSpPr>
          <p:cNvPr id="262" name="Google Shape;262;p44"/>
          <p:cNvSpPr/>
          <p:nvPr/>
        </p:nvSpPr>
        <p:spPr>
          <a:xfrm>
            <a:off x="87148" y="1905076"/>
            <a:ext cx="1936400" cy="305600"/>
          </a:xfrm>
          <a:prstGeom prst="rect">
            <a:avLst/>
          </a:prstGeom>
          <a:noFill/>
          <a:ln>
            <a:noFill/>
          </a:ln>
        </p:spPr>
        <p:txBody>
          <a:bodyPr spcFirstLastPara="1" wrap="square" lIns="90000" tIns="45000" rIns="90000" bIns="45000" anchor="ctr" anchorCtr="0">
            <a:noAutofit/>
          </a:bodyPr>
          <a:lstStyle/>
          <a:p>
            <a:pPr algn="ctr">
              <a:buClr>
                <a:schemeClr val="dk1"/>
              </a:buClr>
              <a:buSzPts val="900"/>
            </a:pPr>
            <a:endParaRPr sz="1200" b="1">
              <a:solidFill>
                <a:schemeClr val="dk1"/>
              </a:solidFill>
              <a:latin typeface="Arial"/>
              <a:ea typeface="Arial"/>
              <a:cs typeface="Arial"/>
              <a:sym typeface="Arial"/>
            </a:endParaRPr>
          </a:p>
        </p:txBody>
      </p:sp>
      <p:sp>
        <p:nvSpPr>
          <p:cNvPr id="263" name="Google Shape;263;p44"/>
          <p:cNvSpPr/>
          <p:nvPr/>
        </p:nvSpPr>
        <p:spPr>
          <a:xfrm>
            <a:off x="203543" y="918441"/>
            <a:ext cx="4453200" cy="260400"/>
          </a:xfrm>
          <a:prstGeom prst="rect">
            <a:avLst/>
          </a:prstGeom>
          <a:noFill/>
          <a:ln>
            <a:noFill/>
          </a:ln>
        </p:spPr>
        <p:txBody>
          <a:bodyPr spcFirstLastPara="1" wrap="square" lIns="90000" tIns="45000" rIns="90000" bIns="45000" anchor="t" anchorCtr="0">
            <a:noAutofit/>
          </a:bodyPr>
          <a:lstStyle/>
          <a:p>
            <a:pPr>
              <a:buClr>
                <a:srgbClr val="000000"/>
              </a:buClr>
              <a:buSzPts val="900"/>
            </a:pPr>
            <a:r>
              <a:rPr lang="en" sz="1200" b="1" u="sng">
                <a:solidFill>
                  <a:schemeClr val="dk1"/>
                </a:solidFill>
                <a:latin typeface="Arial"/>
                <a:ea typeface="Arial"/>
                <a:cs typeface="Arial"/>
                <a:sym typeface="Arial"/>
              </a:rPr>
              <a:t>OVERALL PERFORMANCE FUNNEL FOR LAST QUARTER</a:t>
            </a:r>
            <a:endParaRPr sz="1867" u="sng">
              <a:solidFill>
                <a:schemeClr val="dk1"/>
              </a:solidFill>
              <a:latin typeface="Arial"/>
              <a:ea typeface="Arial"/>
              <a:cs typeface="Arial"/>
              <a:sym typeface="Arial"/>
            </a:endParaRPr>
          </a:p>
        </p:txBody>
      </p:sp>
      <p:sp>
        <p:nvSpPr>
          <p:cNvPr id="264" name="Google Shape;264;p44"/>
          <p:cNvSpPr/>
          <p:nvPr/>
        </p:nvSpPr>
        <p:spPr>
          <a:xfrm>
            <a:off x="1898623" y="4831008"/>
            <a:ext cx="922400" cy="516400"/>
          </a:xfrm>
          <a:prstGeom prst="rect">
            <a:avLst/>
          </a:prstGeom>
          <a:noFill/>
          <a:ln>
            <a:noFill/>
          </a:ln>
        </p:spPr>
        <p:txBody>
          <a:bodyPr spcFirstLastPara="1" wrap="square" lIns="90000" tIns="45000" rIns="90000" bIns="45000" anchor="ctr" anchorCtr="0">
            <a:noAutofit/>
          </a:bodyPr>
          <a:lstStyle/>
          <a:p>
            <a:pPr algn="ctr">
              <a:buClr>
                <a:schemeClr val="dk1"/>
              </a:buClr>
              <a:buSzPts val="900"/>
            </a:pPr>
            <a:endParaRPr sz="1067" b="1">
              <a:solidFill>
                <a:schemeClr val="dk1"/>
              </a:solidFill>
              <a:latin typeface="Arial"/>
              <a:ea typeface="Arial"/>
              <a:cs typeface="Arial"/>
              <a:sym typeface="Arial"/>
            </a:endParaRPr>
          </a:p>
        </p:txBody>
      </p:sp>
      <p:cxnSp>
        <p:nvCxnSpPr>
          <p:cNvPr id="265" name="Google Shape;265;p44"/>
          <p:cNvCxnSpPr/>
          <p:nvPr/>
        </p:nvCxnSpPr>
        <p:spPr>
          <a:xfrm>
            <a:off x="4971009" y="1144144"/>
            <a:ext cx="0" cy="5036400"/>
          </a:xfrm>
          <a:prstGeom prst="straightConnector1">
            <a:avLst/>
          </a:prstGeom>
          <a:noFill/>
          <a:ln w="9525" cap="flat" cmpd="sng">
            <a:solidFill>
              <a:srgbClr val="BFBFBF"/>
            </a:solidFill>
            <a:prstDash val="dash"/>
            <a:miter lim="800000"/>
            <a:headEnd type="none" w="sm" len="sm"/>
            <a:tailEnd type="none" w="sm" len="sm"/>
          </a:ln>
        </p:spPr>
      </p:cxnSp>
      <p:sp>
        <p:nvSpPr>
          <p:cNvPr id="266" name="Google Shape;266;p44"/>
          <p:cNvSpPr txBox="1"/>
          <p:nvPr/>
        </p:nvSpPr>
        <p:spPr>
          <a:xfrm>
            <a:off x="3773817" y="3307707"/>
            <a:ext cx="6326000" cy="318060"/>
          </a:xfrm>
          <a:prstGeom prst="rect">
            <a:avLst/>
          </a:prstGeom>
          <a:noFill/>
          <a:ln>
            <a:noFill/>
          </a:ln>
        </p:spPr>
        <p:txBody>
          <a:bodyPr spcFirstLastPara="1" wrap="square" lIns="91433" tIns="45700" rIns="91433" bIns="45700" anchor="t" anchorCtr="0">
            <a:spAutoFit/>
          </a:bodyPr>
          <a:lstStyle/>
          <a:p>
            <a:pPr>
              <a:buClr>
                <a:srgbClr val="000000"/>
              </a:buClr>
              <a:buSzPts val="900"/>
            </a:pPr>
            <a:r>
              <a:rPr lang="en" sz="1467" b="1">
                <a:solidFill>
                  <a:schemeClr val="dk1"/>
                </a:solidFill>
              </a:rPr>
              <a:t>47%</a:t>
            </a:r>
            <a:endParaRPr sz="1467"/>
          </a:p>
        </p:txBody>
      </p:sp>
      <p:sp>
        <p:nvSpPr>
          <p:cNvPr id="267" name="Google Shape;267;p44"/>
          <p:cNvSpPr txBox="1"/>
          <p:nvPr/>
        </p:nvSpPr>
        <p:spPr>
          <a:xfrm>
            <a:off x="3442871" y="4089937"/>
            <a:ext cx="6326000" cy="318060"/>
          </a:xfrm>
          <a:prstGeom prst="rect">
            <a:avLst/>
          </a:prstGeom>
          <a:noFill/>
          <a:ln>
            <a:noFill/>
          </a:ln>
        </p:spPr>
        <p:txBody>
          <a:bodyPr spcFirstLastPara="1" wrap="square" lIns="91433" tIns="45700" rIns="91433" bIns="45700" anchor="t" anchorCtr="0">
            <a:spAutoFit/>
          </a:bodyPr>
          <a:lstStyle/>
          <a:p>
            <a:pPr>
              <a:buClr>
                <a:srgbClr val="000000"/>
              </a:buClr>
              <a:buSzPts val="900"/>
            </a:pPr>
            <a:r>
              <a:rPr lang="en" sz="1467" b="1">
                <a:solidFill>
                  <a:schemeClr val="dk1"/>
                </a:solidFill>
                <a:latin typeface="Arial"/>
                <a:ea typeface="Arial"/>
                <a:cs typeface="Arial"/>
                <a:sym typeface="Arial"/>
              </a:rPr>
              <a:t>4.65 %</a:t>
            </a:r>
            <a:endParaRPr sz="1467"/>
          </a:p>
        </p:txBody>
      </p:sp>
      <p:sp>
        <p:nvSpPr>
          <p:cNvPr id="268" name="Google Shape;268;p44"/>
          <p:cNvSpPr txBox="1"/>
          <p:nvPr/>
        </p:nvSpPr>
        <p:spPr>
          <a:xfrm>
            <a:off x="5659667" y="4342767"/>
            <a:ext cx="6326000" cy="2124195"/>
          </a:xfrm>
          <a:prstGeom prst="rect">
            <a:avLst/>
          </a:prstGeom>
          <a:solidFill>
            <a:srgbClr val="D8D8D8"/>
          </a:solidFill>
          <a:ln>
            <a:noFill/>
          </a:ln>
        </p:spPr>
        <p:txBody>
          <a:bodyPr spcFirstLastPara="1" wrap="square" lIns="91433" tIns="45700" rIns="91433" bIns="45700" anchor="t" anchorCtr="0">
            <a:spAutoFit/>
          </a:bodyPr>
          <a:lstStyle/>
          <a:p>
            <a:r>
              <a:rPr lang="en" sz="1467" b="1">
                <a:solidFill>
                  <a:srgbClr val="262626"/>
                </a:solidFill>
                <a:latin typeface="Libre Franklin Medium"/>
                <a:ea typeface="Libre Franklin Medium"/>
                <a:cs typeface="Libre Franklin Medium"/>
                <a:sym typeface="Libre Franklin Medium"/>
              </a:rPr>
              <a:t>CAMPAIGN SNIPPETS: </a:t>
            </a:r>
            <a:endParaRPr sz="1467"/>
          </a:p>
          <a:p>
            <a:endParaRPr sz="1467" b="1">
              <a:solidFill>
                <a:srgbClr val="262626"/>
              </a:solidFill>
              <a:latin typeface="Libre Franklin Medium"/>
              <a:ea typeface="Libre Franklin Medium"/>
              <a:cs typeface="Libre Franklin Medium"/>
              <a:sym typeface="Libre Franklin Medium"/>
            </a:endParaRPr>
          </a:p>
          <a:p>
            <a:pPr marL="287859" indent="-296326">
              <a:buSzPts val="1100"/>
              <a:buFont typeface="Arial"/>
              <a:buChar char="•"/>
            </a:pPr>
            <a:r>
              <a:rPr lang="en" sz="1467" b="1">
                <a:latin typeface="Libre Franklin"/>
                <a:ea typeface="Libre Franklin"/>
                <a:cs typeface="Libre Franklin"/>
                <a:sym typeface="Libre Franklin"/>
              </a:rPr>
              <a:t>45 % decrease in lead cost </a:t>
            </a:r>
            <a:endParaRPr sz="1467" b="1">
              <a:latin typeface="Libre Franklin"/>
              <a:ea typeface="Libre Franklin"/>
              <a:cs typeface="Libre Franklin"/>
              <a:sym typeface="Libre Franklin"/>
            </a:endParaRPr>
          </a:p>
          <a:p>
            <a:pPr marL="287859" indent="-296326">
              <a:buSzPts val="1100"/>
              <a:buFont typeface="Libre Franklin"/>
              <a:buChar char="•"/>
            </a:pPr>
            <a:r>
              <a:rPr lang="en" sz="1467" b="1">
                <a:latin typeface="Libre Franklin"/>
                <a:ea typeface="Libre Franklin"/>
                <a:cs typeface="Libre Franklin"/>
                <a:sym typeface="Libre Franklin"/>
              </a:rPr>
              <a:t>SGD 30 million conversion value</a:t>
            </a:r>
            <a:endParaRPr sz="1467" b="1">
              <a:latin typeface="Libre Franklin"/>
              <a:ea typeface="Libre Franklin"/>
              <a:cs typeface="Libre Franklin"/>
              <a:sym typeface="Libre Franklin"/>
            </a:endParaRPr>
          </a:p>
          <a:p>
            <a:pPr marL="287859" indent="-296326">
              <a:buSzPts val="1100"/>
              <a:buFont typeface="Libre Franklin"/>
              <a:buChar char="•"/>
            </a:pPr>
            <a:r>
              <a:rPr lang="en" sz="1467" b="1">
                <a:latin typeface="Libre Franklin"/>
                <a:ea typeface="Libre Franklin"/>
                <a:cs typeface="Libre Franklin"/>
                <a:sym typeface="Libre Franklin"/>
              </a:rPr>
              <a:t>55% increase in lead</a:t>
            </a:r>
            <a:endParaRPr sz="1467" b="1">
              <a:latin typeface="Libre Franklin"/>
              <a:ea typeface="Libre Franklin"/>
              <a:cs typeface="Libre Franklin"/>
              <a:sym typeface="Libre Franklin"/>
            </a:endParaRPr>
          </a:p>
          <a:p>
            <a:pPr>
              <a:buClr>
                <a:schemeClr val="dk1"/>
              </a:buClr>
              <a:buSzPts val="800"/>
            </a:pPr>
            <a:endParaRPr sz="1467" b="1">
              <a:solidFill>
                <a:srgbClr val="262626"/>
              </a:solidFill>
              <a:latin typeface="Libre Franklin Medium"/>
              <a:ea typeface="Libre Franklin Medium"/>
              <a:cs typeface="Libre Franklin Medium"/>
              <a:sym typeface="Libre Franklin Medium"/>
            </a:endParaRPr>
          </a:p>
          <a:p>
            <a:pPr>
              <a:buClr>
                <a:schemeClr val="dk1"/>
              </a:buClr>
            </a:pPr>
            <a:r>
              <a:rPr lang="en" sz="1467" b="1">
                <a:solidFill>
                  <a:schemeClr val="dk1"/>
                </a:solidFill>
                <a:latin typeface="Libre Franklin"/>
                <a:ea typeface="Libre Franklin"/>
                <a:cs typeface="Libre Franklin"/>
                <a:sym typeface="Libre Franklin"/>
              </a:rPr>
              <a:t>Tools Used: Facebook | Instagram | Google Display | Google Search | Social CRM | Email (Social CRM) | Landing Pages</a:t>
            </a:r>
            <a:br>
              <a:rPr lang="en" sz="1333">
                <a:solidFill>
                  <a:schemeClr val="dk1"/>
                </a:solidFill>
                <a:latin typeface="Libre Franklin"/>
                <a:ea typeface="Libre Franklin"/>
                <a:cs typeface="Libre Franklin"/>
                <a:sym typeface="Libre Franklin"/>
              </a:rPr>
            </a:br>
            <a:endParaRPr sz="1467" b="1">
              <a:solidFill>
                <a:srgbClr val="262626"/>
              </a:solidFill>
              <a:latin typeface="Libre Franklin Medium"/>
              <a:ea typeface="Libre Franklin Medium"/>
              <a:cs typeface="Libre Franklin Medium"/>
              <a:sym typeface="Libre Franklin Medium"/>
            </a:endParaRPr>
          </a:p>
        </p:txBody>
      </p:sp>
      <p:sp>
        <p:nvSpPr>
          <p:cNvPr id="269" name="Google Shape;269;p44"/>
          <p:cNvSpPr txBox="1"/>
          <p:nvPr/>
        </p:nvSpPr>
        <p:spPr>
          <a:xfrm>
            <a:off x="5370952" y="898770"/>
            <a:ext cx="6093200" cy="379615"/>
          </a:xfrm>
          <a:prstGeom prst="rect">
            <a:avLst/>
          </a:prstGeom>
          <a:noFill/>
          <a:ln>
            <a:noFill/>
          </a:ln>
        </p:spPr>
        <p:txBody>
          <a:bodyPr spcFirstLastPara="1" wrap="square" lIns="91433" tIns="45700" rIns="91433" bIns="45700" anchor="t" anchorCtr="0">
            <a:spAutoFit/>
          </a:bodyPr>
          <a:lstStyle/>
          <a:p>
            <a:r>
              <a:rPr lang="en" sz="1867" b="1" u="sng">
                <a:solidFill>
                  <a:srgbClr val="262626"/>
                </a:solidFill>
                <a:latin typeface="Arial"/>
                <a:ea typeface="Arial"/>
                <a:cs typeface="Arial"/>
                <a:sym typeface="Arial"/>
              </a:rPr>
              <a:t>Successful Campaign Screenshots: </a:t>
            </a:r>
            <a:endParaRPr sz="1867" b="1" u="sng">
              <a:solidFill>
                <a:srgbClr val="262626"/>
              </a:solidFill>
              <a:latin typeface="Arial"/>
              <a:ea typeface="Arial"/>
              <a:cs typeface="Arial"/>
              <a:sym typeface="Arial"/>
            </a:endParaRPr>
          </a:p>
        </p:txBody>
      </p:sp>
      <p:sp>
        <p:nvSpPr>
          <p:cNvPr id="270" name="Google Shape;270;p44"/>
          <p:cNvSpPr txBox="1"/>
          <p:nvPr/>
        </p:nvSpPr>
        <p:spPr>
          <a:xfrm>
            <a:off x="4191163" y="2414589"/>
            <a:ext cx="6326000" cy="318060"/>
          </a:xfrm>
          <a:prstGeom prst="rect">
            <a:avLst/>
          </a:prstGeom>
          <a:noFill/>
          <a:ln>
            <a:noFill/>
          </a:ln>
        </p:spPr>
        <p:txBody>
          <a:bodyPr spcFirstLastPara="1" wrap="square" lIns="91433" tIns="45700" rIns="91433" bIns="45700" anchor="t" anchorCtr="0">
            <a:spAutoFit/>
          </a:bodyPr>
          <a:lstStyle/>
          <a:p>
            <a:pPr>
              <a:buClr>
                <a:srgbClr val="000000"/>
              </a:buClr>
              <a:buSzPts val="900"/>
            </a:pPr>
            <a:endParaRPr sz="1467"/>
          </a:p>
        </p:txBody>
      </p:sp>
      <p:grpSp>
        <p:nvGrpSpPr>
          <p:cNvPr id="271" name="Google Shape;271;p44"/>
          <p:cNvGrpSpPr/>
          <p:nvPr/>
        </p:nvGrpSpPr>
        <p:grpSpPr>
          <a:xfrm rot="10800000">
            <a:off x="578265" y="1634509"/>
            <a:ext cx="3743508" cy="3839745"/>
            <a:chOff x="2991269" y="1153325"/>
            <a:chExt cx="3514811" cy="3252003"/>
          </a:xfrm>
        </p:grpSpPr>
        <p:sp>
          <p:nvSpPr>
            <p:cNvPr id="272" name="Google Shape;272;p44"/>
            <p:cNvSpPr/>
            <p:nvPr/>
          </p:nvSpPr>
          <p:spPr>
            <a:xfrm>
              <a:off x="3477586" y="2585458"/>
              <a:ext cx="2541910" cy="950456"/>
            </a:xfrm>
            <a:custGeom>
              <a:avLst/>
              <a:gdLst/>
              <a:ahLst/>
              <a:cxnLst/>
              <a:rect l="l" t="t" r="r" b="b"/>
              <a:pathLst>
                <a:path w="126826" h="43529" extrusionOk="0">
                  <a:moveTo>
                    <a:pt x="0" y="20002"/>
                  </a:moveTo>
                  <a:lnTo>
                    <a:pt x="63389" y="43529"/>
                  </a:lnTo>
                  <a:lnTo>
                    <a:pt x="126826" y="19907"/>
                  </a:lnTo>
                  <a:lnTo>
                    <a:pt x="63580" y="0"/>
                  </a:lnTo>
                  <a:close/>
                </a:path>
              </a:pathLst>
            </a:custGeom>
            <a:solidFill>
              <a:srgbClr val="8DA9DB"/>
            </a:solidFill>
            <a:ln>
              <a:noFill/>
            </a:ln>
          </p:spPr>
          <p:txBody>
            <a:bodyPr/>
            <a:lstStyle/>
            <a:p>
              <a:endParaRPr lang="en-US" sz="2400"/>
            </a:p>
          </p:txBody>
        </p:sp>
        <p:sp>
          <p:nvSpPr>
            <p:cNvPr id="273" name="Google Shape;273;p44"/>
            <p:cNvSpPr/>
            <p:nvPr/>
          </p:nvSpPr>
          <p:spPr>
            <a:xfrm>
              <a:off x="2991269" y="3020977"/>
              <a:ext cx="1758228" cy="1384350"/>
            </a:xfrm>
            <a:custGeom>
              <a:avLst/>
              <a:gdLst/>
              <a:ahLst/>
              <a:cxnLst/>
              <a:rect l="l" t="t" r="r" b="b"/>
              <a:pathLst>
                <a:path w="87725" h="63817" extrusionOk="0">
                  <a:moveTo>
                    <a:pt x="24288" y="0"/>
                  </a:moveTo>
                  <a:lnTo>
                    <a:pt x="0" y="29908"/>
                  </a:lnTo>
                  <a:lnTo>
                    <a:pt x="87725" y="63817"/>
                  </a:lnTo>
                  <a:lnTo>
                    <a:pt x="87725" y="42291"/>
                  </a:lnTo>
                  <a:lnTo>
                    <a:pt x="87725" y="23526"/>
                  </a:lnTo>
                  <a:close/>
                </a:path>
              </a:pathLst>
            </a:custGeom>
            <a:solidFill>
              <a:srgbClr val="8DA9DB"/>
            </a:solidFill>
            <a:ln>
              <a:noFill/>
            </a:ln>
          </p:spPr>
          <p:txBody>
            <a:bodyPr/>
            <a:lstStyle/>
            <a:p>
              <a:endParaRPr lang="en-US" sz="2400"/>
            </a:p>
          </p:txBody>
        </p:sp>
        <p:sp>
          <p:nvSpPr>
            <p:cNvPr id="274" name="Google Shape;274;p44"/>
            <p:cNvSpPr/>
            <p:nvPr/>
          </p:nvSpPr>
          <p:spPr>
            <a:xfrm flipH="1">
              <a:off x="4747852" y="3020977"/>
              <a:ext cx="1758228" cy="1384350"/>
            </a:xfrm>
            <a:custGeom>
              <a:avLst/>
              <a:gdLst/>
              <a:ahLst/>
              <a:cxnLst/>
              <a:rect l="l" t="t" r="r" b="b"/>
              <a:pathLst>
                <a:path w="87725" h="63817" extrusionOk="0">
                  <a:moveTo>
                    <a:pt x="24288" y="0"/>
                  </a:moveTo>
                  <a:lnTo>
                    <a:pt x="0" y="29908"/>
                  </a:lnTo>
                  <a:lnTo>
                    <a:pt x="87725" y="63817"/>
                  </a:lnTo>
                  <a:lnTo>
                    <a:pt x="87725" y="42291"/>
                  </a:lnTo>
                  <a:lnTo>
                    <a:pt x="87725" y="23526"/>
                  </a:lnTo>
                  <a:close/>
                </a:path>
              </a:pathLst>
            </a:custGeom>
            <a:solidFill>
              <a:srgbClr val="8DA9DB"/>
            </a:solidFill>
            <a:ln>
              <a:noFill/>
            </a:ln>
          </p:spPr>
          <p:txBody>
            <a:bodyPr/>
            <a:lstStyle/>
            <a:p>
              <a:endParaRPr lang="en-US" sz="2400"/>
            </a:p>
          </p:txBody>
        </p:sp>
        <p:sp>
          <p:nvSpPr>
            <p:cNvPr id="275" name="Google Shape;275;p44"/>
            <p:cNvSpPr/>
            <p:nvPr/>
          </p:nvSpPr>
          <p:spPr>
            <a:xfrm>
              <a:off x="3969199" y="2001324"/>
              <a:ext cx="1565850" cy="585863"/>
            </a:xfrm>
            <a:custGeom>
              <a:avLst/>
              <a:gdLst/>
              <a:ahLst/>
              <a:cxnLst/>
              <a:rect l="l" t="t" r="r" b="b"/>
              <a:pathLst>
                <a:path w="24053" h="8150" extrusionOk="0">
                  <a:moveTo>
                    <a:pt x="0" y="3827"/>
                  </a:moveTo>
                  <a:lnTo>
                    <a:pt x="11976" y="8150"/>
                  </a:lnTo>
                  <a:lnTo>
                    <a:pt x="24053" y="3827"/>
                  </a:lnTo>
                  <a:lnTo>
                    <a:pt x="12126" y="0"/>
                  </a:lnTo>
                  <a:close/>
                </a:path>
              </a:pathLst>
            </a:custGeom>
            <a:solidFill>
              <a:srgbClr val="8DA9DB"/>
            </a:solidFill>
            <a:ln>
              <a:noFill/>
            </a:ln>
          </p:spPr>
          <p:txBody>
            <a:bodyPr/>
            <a:lstStyle/>
            <a:p>
              <a:endParaRPr lang="en-US" sz="2400"/>
            </a:p>
          </p:txBody>
        </p:sp>
        <p:sp>
          <p:nvSpPr>
            <p:cNvPr id="276" name="Google Shape;276;p44"/>
            <p:cNvSpPr/>
            <p:nvPr/>
          </p:nvSpPr>
          <p:spPr>
            <a:xfrm>
              <a:off x="3563255" y="2275837"/>
              <a:ext cx="1189300" cy="1015326"/>
            </a:xfrm>
            <a:custGeom>
              <a:avLst/>
              <a:gdLst/>
              <a:ahLst/>
              <a:cxnLst/>
              <a:rect l="l" t="t" r="r" b="b"/>
              <a:pathLst>
                <a:path w="18238" h="14114" extrusionOk="0">
                  <a:moveTo>
                    <a:pt x="6262" y="0"/>
                  </a:moveTo>
                  <a:lnTo>
                    <a:pt x="18238" y="4324"/>
                  </a:lnTo>
                  <a:lnTo>
                    <a:pt x="18238" y="14114"/>
                  </a:lnTo>
                  <a:lnTo>
                    <a:pt x="0" y="7554"/>
                  </a:lnTo>
                  <a:close/>
                </a:path>
              </a:pathLst>
            </a:custGeom>
            <a:solidFill>
              <a:srgbClr val="8DA9DB"/>
            </a:solidFill>
            <a:ln>
              <a:noFill/>
            </a:ln>
          </p:spPr>
          <p:txBody>
            <a:bodyPr/>
            <a:lstStyle/>
            <a:p>
              <a:endParaRPr lang="en-US" sz="2400"/>
            </a:p>
          </p:txBody>
        </p:sp>
        <p:sp>
          <p:nvSpPr>
            <p:cNvPr id="277" name="Google Shape;277;p44"/>
            <p:cNvSpPr/>
            <p:nvPr/>
          </p:nvSpPr>
          <p:spPr>
            <a:xfrm flipH="1">
              <a:off x="4749365" y="2275837"/>
              <a:ext cx="1189300" cy="1015326"/>
            </a:xfrm>
            <a:custGeom>
              <a:avLst/>
              <a:gdLst/>
              <a:ahLst/>
              <a:cxnLst/>
              <a:rect l="l" t="t" r="r" b="b"/>
              <a:pathLst>
                <a:path w="18238" h="14114" extrusionOk="0">
                  <a:moveTo>
                    <a:pt x="6262" y="0"/>
                  </a:moveTo>
                  <a:lnTo>
                    <a:pt x="18238" y="4324"/>
                  </a:lnTo>
                  <a:lnTo>
                    <a:pt x="18238" y="14114"/>
                  </a:lnTo>
                  <a:lnTo>
                    <a:pt x="0" y="7554"/>
                  </a:lnTo>
                  <a:close/>
                </a:path>
              </a:pathLst>
            </a:custGeom>
            <a:solidFill>
              <a:srgbClr val="8DA9DB"/>
            </a:solidFill>
            <a:ln>
              <a:noFill/>
            </a:ln>
          </p:spPr>
          <p:txBody>
            <a:bodyPr/>
            <a:lstStyle/>
            <a:p>
              <a:endParaRPr lang="en-US" sz="2400"/>
            </a:p>
          </p:txBody>
        </p:sp>
        <p:sp>
          <p:nvSpPr>
            <p:cNvPr id="278" name="Google Shape;278;p44"/>
            <p:cNvSpPr/>
            <p:nvPr/>
          </p:nvSpPr>
          <p:spPr>
            <a:xfrm>
              <a:off x="4059061" y="1153325"/>
              <a:ext cx="693508" cy="1201140"/>
            </a:xfrm>
            <a:custGeom>
              <a:avLst/>
              <a:gdLst/>
              <a:ahLst/>
              <a:cxnLst/>
              <a:rect l="l" t="t" r="r" b="b"/>
              <a:pathLst>
                <a:path w="10635" h="16697" extrusionOk="0">
                  <a:moveTo>
                    <a:pt x="10635" y="0"/>
                  </a:moveTo>
                  <a:lnTo>
                    <a:pt x="0" y="12722"/>
                  </a:lnTo>
                  <a:lnTo>
                    <a:pt x="10635" y="16697"/>
                  </a:lnTo>
                  <a:close/>
                </a:path>
              </a:pathLst>
            </a:custGeom>
            <a:solidFill>
              <a:srgbClr val="8DA9DB"/>
            </a:solidFill>
            <a:ln>
              <a:noFill/>
            </a:ln>
          </p:spPr>
          <p:txBody>
            <a:bodyPr/>
            <a:lstStyle/>
            <a:p>
              <a:endParaRPr lang="en-US" sz="2400"/>
            </a:p>
          </p:txBody>
        </p:sp>
        <p:sp>
          <p:nvSpPr>
            <p:cNvPr id="279" name="Google Shape;279;p44"/>
            <p:cNvSpPr/>
            <p:nvPr/>
          </p:nvSpPr>
          <p:spPr>
            <a:xfrm flipH="1">
              <a:off x="4749350" y="1153325"/>
              <a:ext cx="693508" cy="1201140"/>
            </a:xfrm>
            <a:custGeom>
              <a:avLst/>
              <a:gdLst/>
              <a:ahLst/>
              <a:cxnLst/>
              <a:rect l="l" t="t" r="r" b="b"/>
              <a:pathLst>
                <a:path w="10635" h="16697" extrusionOk="0">
                  <a:moveTo>
                    <a:pt x="10635" y="0"/>
                  </a:moveTo>
                  <a:lnTo>
                    <a:pt x="0" y="12722"/>
                  </a:lnTo>
                  <a:lnTo>
                    <a:pt x="10635" y="16697"/>
                  </a:lnTo>
                  <a:close/>
                </a:path>
              </a:pathLst>
            </a:custGeom>
            <a:solidFill>
              <a:srgbClr val="8DA9DB"/>
            </a:solidFill>
            <a:ln>
              <a:noFill/>
            </a:ln>
          </p:spPr>
          <p:txBody>
            <a:bodyPr/>
            <a:lstStyle/>
            <a:p>
              <a:endParaRPr lang="en-US" sz="2400"/>
            </a:p>
          </p:txBody>
        </p:sp>
      </p:grpSp>
      <p:sp>
        <p:nvSpPr>
          <p:cNvPr id="280" name="Google Shape;280;p44"/>
          <p:cNvSpPr txBox="1"/>
          <p:nvPr/>
        </p:nvSpPr>
        <p:spPr>
          <a:xfrm>
            <a:off x="3697167" y="2057033"/>
            <a:ext cx="4000000" cy="615513"/>
          </a:xfrm>
          <a:prstGeom prst="rect">
            <a:avLst/>
          </a:prstGeom>
          <a:noFill/>
          <a:ln>
            <a:noFill/>
          </a:ln>
        </p:spPr>
        <p:txBody>
          <a:bodyPr spcFirstLastPara="1" wrap="square" lIns="121900" tIns="121900" rIns="121900" bIns="121900" anchor="t" anchorCtr="0">
            <a:spAutoFit/>
          </a:bodyPr>
          <a:lstStyle/>
          <a:p>
            <a:endParaRPr sz="2400"/>
          </a:p>
        </p:txBody>
      </p:sp>
      <p:pic>
        <p:nvPicPr>
          <p:cNvPr id="281" name="Google Shape;281;p44"/>
          <p:cNvPicPr preferRelativeResize="0"/>
          <p:nvPr/>
        </p:nvPicPr>
        <p:blipFill rotWithShape="1">
          <a:blip r:embed="rId3">
            <a:alphaModFix/>
          </a:blip>
          <a:srcRect l="67714" t="36401" r="17809" b="24856"/>
          <a:stretch/>
        </p:blipFill>
        <p:spPr>
          <a:xfrm>
            <a:off x="5480737" y="1178826"/>
            <a:ext cx="2109904" cy="3176253"/>
          </a:xfrm>
          <a:prstGeom prst="rect">
            <a:avLst/>
          </a:prstGeom>
          <a:noFill/>
          <a:ln>
            <a:noFill/>
          </a:ln>
        </p:spPr>
      </p:pic>
      <p:pic>
        <p:nvPicPr>
          <p:cNvPr id="2" name="Picture 1" descr="A logo with a blue arrow pointing up&#10;&#10;Description automatically generated">
            <a:extLst>
              <a:ext uri="{FF2B5EF4-FFF2-40B4-BE49-F238E27FC236}">
                <a16:creationId xmlns:a16="http://schemas.microsoft.com/office/drawing/2014/main" id="{53320740-5B9E-5575-A8B9-E0C3EE6B8525}"/>
              </a:ext>
            </a:extLst>
          </p:cNvPr>
          <p:cNvPicPr>
            <a:picLocks noChangeAspect="1"/>
          </p:cNvPicPr>
          <p:nvPr/>
        </p:nvPicPr>
        <p:blipFill rotWithShape="1">
          <a:blip r:embed="rId4"/>
          <a:srcRect l="9248" r="27480" b="47937"/>
          <a:stretch/>
        </p:blipFill>
        <p:spPr>
          <a:xfrm>
            <a:off x="11097352" y="30644"/>
            <a:ext cx="1012989" cy="830400"/>
          </a:xfrm>
          <a:prstGeom prst="rect">
            <a:avLst/>
          </a:prstGeom>
        </p:spPr>
      </p:pic>
    </p:spTree>
    <p:extLst>
      <p:ext uri="{BB962C8B-B14F-4D97-AF65-F5344CB8AC3E}">
        <p14:creationId xmlns:p14="http://schemas.microsoft.com/office/powerpoint/2010/main" val="36129973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CustomShape 1"/>
          <p:cNvSpPr/>
          <p:nvPr/>
        </p:nvSpPr>
        <p:spPr>
          <a:xfrm>
            <a:off x="87120" y="116280"/>
            <a:ext cx="12003120" cy="627120"/>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r>
              <a:rPr lang="en-IN" sz="2400" b="1" spc="-1" dirty="0">
                <a:latin typeface="Franklin Gothic Book"/>
              </a:rPr>
              <a:t>CASE STUDY 1: RENOWNDED AUTOMOBILE DEALERS FOR THE “AUDI BRAND” </a:t>
            </a:r>
            <a:endParaRPr lang="en-IN" sz="2400" spc="-1" dirty="0">
              <a:latin typeface="Arial"/>
            </a:endParaRPr>
          </a:p>
        </p:txBody>
      </p:sp>
      <p:sp>
        <p:nvSpPr>
          <p:cNvPr id="35" name="Rectangle 34">
            <a:extLst>
              <a:ext uri="{FF2B5EF4-FFF2-40B4-BE49-F238E27FC236}">
                <a16:creationId xmlns:a16="http://schemas.microsoft.com/office/drawing/2014/main" id="{6006DD16-CBFC-46B1-9082-A5E84F65EDB7}"/>
              </a:ext>
            </a:extLst>
          </p:cNvPr>
          <p:cNvSpPr/>
          <p:nvPr/>
        </p:nvSpPr>
        <p:spPr>
          <a:xfrm>
            <a:off x="0" y="6597749"/>
            <a:ext cx="12192000" cy="260252"/>
          </a:xfrm>
          <a:prstGeom prst="rect">
            <a:avLst/>
          </a:prstGeom>
          <a:solidFill>
            <a:schemeClr val="accent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buClrTx/>
              <a:defRPr/>
            </a:pPr>
            <a:r>
              <a:rPr lang="en-US" sz="1200" b="1" spc="-1" dirty="0">
                <a:solidFill>
                  <a:schemeClr val="tx1"/>
                </a:solidFill>
                <a:latin typeface="Franklin Gothic Book"/>
              </a:rPr>
              <a:t>Confidential @ Soul </a:t>
            </a:r>
            <a:r>
              <a:rPr lang="en-US" sz="1200" b="1" spc="-1" dirty="0" err="1">
                <a:solidFill>
                  <a:schemeClr val="tx1"/>
                </a:solidFill>
                <a:latin typeface="Franklin Gothic Book"/>
              </a:rPr>
              <a:t>Creationz</a:t>
            </a:r>
            <a:endParaRPr lang="en-US" sz="1200" b="1" spc="-1" dirty="0">
              <a:solidFill>
                <a:schemeClr val="tx1"/>
              </a:solidFill>
              <a:latin typeface="Franklin Gothic Book"/>
            </a:endParaRPr>
          </a:p>
        </p:txBody>
      </p:sp>
      <p:sp>
        <p:nvSpPr>
          <p:cNvPr id="2" name="Google Shape;108;p4">
            <a:extLst>
              <a:ext uri="{FF2B5EF4-FFF2-40B4-BE49-F238E27FC236}">
                <a16:creationId xmlns:a16="http://schemas.microsoft.com/office/drawing/2014/main" id="{07BA9C46-B67C-39EB-EC88-61346AB55274}"/>
              </a:ext>
            </a:extLst>
          </p:cNvPr>
          <p:cNvSpPr/>
          <p:nvPr/>
        </p:nvSpPr>
        <p:spPr>
          <a:xfrm>
            <a:off x="163677" y="1442371"/>
            <a:ext cx="4453168" cy="4929404"/>
          </a:xfrm>
          <a:prstGeom prst="flowChartMerge">
            <a:avLst/>
          </a:prstGeom>
          <a:solidFill>
            <a:srgbClr val="D8E2F3"/>
          </a:solidFill>
          <a:ln w="12700" cap="flat" cmpd="sng">
            <a:solidFill>
              <a:srgbClr val="D8E2F3"/>
            </a:solidFill>
            <a:prstDash val="solid"/>
            <a:miter lim="800000"/>
            <a:headEnd type="none" w="sm" len="sm"/>
            <a:tailEnd type="none" w="sm" len="sm"/>
          </a:ln>
        </p:spPr>
        <p:txBody>
          <a:bodyPr spcFirstLastPara="1" wrap="square" lIns="91425" tIns="45700" rIns="91425" bIns="45700" anchor="ctr" anchorCtr="0">
            <a:noAutofit/>
          </a:bodyPr>
          <a:lstStyle/>
          <a:p>
            <a:pPr algn="ctr">
              <a:buSzPts val="1800"/>
            </a:pPr>
            <a:endParaRPr>
              <a:solidFill>
                <a:schemeClr val="lt1"/>
              </a:solidFill>
              <a:latin typeface="Calibri"/>
              <a:ea typeface="Calibri"/>
              <a:cs typeface="Calibri"/>
              <a:sym typeface="Calibri"/>
            </a:endParaRPr>
          </a:p>
        </p:txBody>
      </p:sp>
      <p:cxnSp>
        <p:nvCxnSpPr>
          <p:cNvPr id="3" name="Google Shape;109;p4">
            <a:extLst>
              <a:ext uri="{FF2B5EF4-FFF2-40B4-BE49-F238E27FC236}">
                <a16:creationId xmlns:a16="http://schemas.microsoft.com/office/drawing/2014/main" id="{DD44D7B9-2544-4C37-32AB-D67F3D97E722}"/>
              </a:ext>
            </a:extLst>
          </p:cNvPr>
          <p:cNvCxnSpPr>
            <a:cxnSpLocks/>
          </p:cNvCxnSpPr>
          <p:nvPr/>
        </p:nvCxnSpPr>
        <p:spPr>
          <a:xfrm>
            <a:off x="485139" y="2057872"/>
            <a:ext cx="3799127" cy="1"/>
          </a:xfrm>
          <a:prstGeom prst="straightConnector1">
            <a:avLst/>
          </a:prstGeom>
          <a:noFill/>
          <a:ln w="9525" cap="flat" cmpd="sng">
            <a:solidFill>
              <a:schemeClr val="lt1"/>
            </a:solidFill>
            <a:prstDash val="solid"/>
            <a:miter lim="800000"/>
            <a:headEnd type="none" w="sm" len="sm"/>
            <a:tailEnd type="none" w="sm" len="sm"/>
          </a:ln>
        </p:spPr>
      </p:cxnSp>
      <p:cxnSp>
        <p:nvCxnSpPr>
          <p:cNvPr id="4" name="Google Shape;110;p4">
            <a:extLst>
              <a:ext uri="{FF2B5EF4-FFF2-40B4-BE49-F238E27FC236}">
                <a16:creationId xmlns:a16="http://schemas.microsoft.com/office/drawing/2014/main" id="{23904C2F-621C-B34E-A512-5047ACA76DCD}"/>
              </a:ext>
            </a:extLst>
          </p:cNvPr>
          <p:cNvCxnSpPr>
            <a:cxnSpLocks/>
          </p:cNvCxnSpPr>
          <p:nvPr/>
        </p:nvCxnSpPr>
        <p:spPr>
          <a:xfrm>
            <a:off x="818372" y="2852822"/>
            <a:ext cx="3117525" cy="25377"/>
          </a:xfrm>
          <a:prstGeom prst="straightConnector1">
            <a:avLst/>
          </a:prstGeom>
          <a:noFill/>
          <a:ln w="9525" cap="flat" cmpd="sng">
            <a:solidFill>
              <a:schemeClr val="lt1"/>
            </a:solidFill>
            <a:prstDash val="solid"/>
            <a:miter lim="800000"/>
            <a:headEnd type="none" w="sm" len="sm"/>
            <a:tailEnd type="none" w="sm" len="sm"/>
          </a:ln>
        </p:spPr>
      </p:cxnSp>
      <p:cxnSp>
        <p:nvCxnSpPr>
          <p:cNvPr id="5" name="Google Shape;111;p4">
            <a:extLst>
              <a:ext uri="{FF2B5EF4-FFF2-40B4-BE49-F238E27FC236}">
                <a16:creationId xmlns:a16="http://schemas.microsoft.com/office/drawing/2014/main" id="{3A541029-AFD3-305A-6D66-3EC831DD6777}"/>
              </a:ext>
            </a:extLst>
          </p:cNvPr>
          <p:cNvCxnSpPr>
            <a:cxnSpLocks/>
            <a:stCxn id="2" idx="1"/>
            <a:endCxn id="2" idx="3"/>
          </p:cNvCxnSpPr>
          <p:nvPr/>
        </p:nvCxnSpPr>
        <p:spPr>
          <a:xfrm>
            <a:off x="1276969" y="3907073"/>
            <a:ext cx="2226584" cy="0"/>
          </a:xfrm>
          <a:prstGeom prst="straightConnector1">
            <a:avLst/>
          </a:prstGeom>
          <a:noFill/>
          <a:ln w="9525" cap="flat" cmpd="sng">
            <a:solidFill>
              <a:schemeClr val="lt1"/>
            </a:solidFill>
            <a:prstDash val="solid"/>
            <a:miter lim="800000"/>
            <a:headEnd type="none" w="sm" len="sm"/>
            <a:tailEnd type="none" w="sm" len="sm"/>
          </a:ln>
        </p:spPr>
      </p:cxnSp>
      <p:cxnSp>
        <p:nvCxnSpPr>
          <p:cNvPr id="6" name="Google Shape;112;p4">
            <a:extLst>
              <a:ext uri="{FF2B5EF4-FFF2-40B4-BE49-F238E27FC236}">
                <a16:creationId xmlns:a16="http://schemas.microsoft.com/office/drawing/2014/main" id="{A49EA065-1C11-1C63-2833-FB8DAD88154C}"/>
              </a:ext>
            </a:extLst>
          </p:cNvPr>
          <p:cNvCxnSpPr>
            <a:cxnSpLocks/>
          </p:cNvCxnSpPr>
          <p:nvPr/>
        </p:nvCxnSpPr>
        <p:spPr>
          <a:xfrm>
            <a:off x="859687" y="4521744"/>
            <a:ext cx="3331476" cy="1"/>
          </a:xfrm>
          <a:prstGeom prst="straightConnector1">
            <a:avLst/>
          </a:prstGeom>
          <a:noFill/>
          <a:ln w="9525" cap="flat" cmpd="sng">
            <a:solidFill>
              <a:schemeClr val="lt1"/>
            </a:solidFill>
            <a:prstDash val="solid"/>
            <a:miter lim="800000"/>
            <a:headEnd type="none" w="sm" len="sm"/>
            <a:tailEnd type="none" w="sm" len="sm"/>
          </a:ln>
        </p:spPr>
      </p:cxnSp>
      <p:sp>
        <p:nvSpPr>
          <p:cNvPr id="7" name="Google Shape;113;p4">
            <a:extLst>
              <a:ext uri="{FF2B5EF4-FFF2-40B4-BE49-F238E27FC236}">
                <a16:creationId xmlns:a16="http://schemas.microsoft.com/office/drawing/2014/main" id="{A2383800-4D16-BA77-9117-8A6A3746CA19}"/>
              </a:ext>
            </a:extLst>
          </p:cNvPr>
          <p:cNvSpPr/>
          <p:nvPr/>
        </p:nvSpPr>
        <p:spPr>
          <a:xfrm>
            <a:off x="1109924" y="1593589"/>
            <a:ext cx="2385523" cy="305555"/>
          </a:xfrm>
          <a:prstGeom prst="rect">
            <a:avLst/>
          </a:prstGeom>
          <a:noFill/>
          <a:ln>
            <a:noFill/>
          </a:ln>
        </p:spPr>
        <p:txBody>
          <a:bodyPr spcFirstLastPara="1" wrap="square" lIns="90000" tIns="45000" rIns="90000" bIns="45000" anchor="ctr" anchorCtr="0">
            <a:noAutofit/>
          </a:bodyPr>
          <a:lstStyle/>
          <a:p>
            <a:pPr algn="ctr">
              <a:buSzPts val="1200"/>
            </a:pPr>
            <a:r>
              <a:rPr lang="en-US" sz="1200" b="1">
                <a:solidFill>
                  <a:schemeClr val="dk1"/>
                </a:solidFill>
              </a:rPr>
              <a:t>Impressions = 8,75,496</a:t>
            </a:r>
            <a:endParaRPr sz="1200" b="1">
              <a:solidFill>
                <a:schemeClr val="dk1"/>
              </a:solidFill>
            </a:endParaRPr>
          </a:p>
        </p:txBody>
      </p:sp>
      <p:sp>
        <p:nvSpPr>
          <p:cNvPr id="8" name="Google Shape;114;p4">
            <a:extLst>
              <a:ext uri="{FF2B5EF4-FFF2-40B4-BE49-F238E27FC236}">
                <a16:creationId xmlns:a16="http://schemas.microsoft.com/office/drawing/2014/main" id="{CFC933DF-3269-53B1-8376-E772274637C7}"/>
              </a:ext>
            </a:extLst>
          </p:cNvPr>
          <p:cNvSpPr/>
          <p:nvPr/>
        </p:nvSpPr>
        <p:spPr>
          <a:xfrm>
            <a:off x="485145" y="2317641"/>
            <a:ext cx="3551155" cy="305555"/>
          </a:xfrm>
          <a:prstGeom prst="rect">
            <a:avLst/>
          </a:prstGeom>
          <a:noFill/>
          <a:ln>
            <a:noFill/>
          </a:ln>
        </p:spPr>
        <p:txBody>
          <a:bodyPr spcFirstLastPara="1" wrap="square" lIns="90000" tIns="45000" rIns="90000" bIns="45000" anchor="ctr" anchorCtr="0">
            <a:noAutofit/>
          </a:bodyPr>
          <a:lstStyle/>
          <a:p>
            <a:pPr algn="ctr">
              <a:buClr>
                <a:schemeClr val="dk1"/>
              </a:buClr>
              <a:buSzPts val="1200"/>
            </a:pPr>
            <a:r>
              <a:rPr lang="en-US" sz="1200" b="1">
                <a:solidFill>
                  <a:schemeClr val="dk1"/>
                </a:solidFill>
              </a:rPr>
              <a:t>Reach = 2,50,469</a:t>
            </a:r>
            <a:endParaRPr sz="1200" b="1">
              <a:solidFill>
                <a:schemeClr val="dk1"/>
              </a:solidFill>
            </a:endParaRPr>
          </a:p>
        </p:txBody>
      </p:sp>
      <p:sp>
        <p:nvSpPr>
          <p:cNvPr id="9" name="Google Shape;115;p4">
            <a:extLst>
              <a:ext uri="{FF2B5EF4-FFF2-40B4-BE49-F238E27FC236}">
                <a16:creationId xmlns:a16="http://schemas.microsoft.com/office/drawing/2014/main" id="{98617DA9-0D9F-7B96-4F01-9FF6B9958968}"/>
              </a:ext>
            </a:extLst>
          </p:cNvPr>
          <p:cNvSpPr/>
          <p:nvPr/>
        </p:nvSpPr>
        <p:spPr>
          <a:xfrm>
            <a:off x="1276698" y="3186733"/>
            <a:ext cx="2166175" cy="305887"/>
          </a:xfrm>
          <a:prstGeom prst="rect">
            <a:avLst/>
          </a:prstGeom>
          <a:noFill/>
          <a:ln>
            <a:noFill/>
          </a:ln>
        </p:spPr>
        <p:txBody>
          <a:bodyPr spcFirstLastPara="1" wrap="square" lIns="90000" tIns="45000" rIns="90000" bIns="45000" anchor="ctr" anchorCtr="0">
            <a:noAutofit/>
          </a:bodyPr>
          <a:lstStyle/>
          <a:p>
            <a:pPr algn="ctr">
              <a:buClr>
                <a:schemeClr val="dk1"/>
              </a:buClr>
              <a:buSzPts val="1200"/>
            </a:pPr>
            <a:r>
              <a:rPr lang="en-US" sz="1200" b="1" dirty="0">
                <a:solidFill>
                  <a:schemeClr val="dk1"/>
                </a:solidFill>
              </a:rPr>
              <a:t>Clicks = 18,417</a:t>
            </a:r>
            <a:endParaRPr sz="1200" b="1" dirty="0">
              <a:solidFill>
                <a:schemeClr val="dk1"/>
              </a:solidFill>
            </a:endParaRPr>
          </a:p>
        </p:txBody>
      </p:sp>
      <p:sp>
        <p:nvSpPr>
          <p:cNvPr id="10" name="Google Shape;116;p4">
            <a:extLst>
              <a:ext uri="{FF2B5EF4-FFF2-40B4-BE49-F238E27FC236}">
                <a16:creationId xmlns:a16="http://schemas.microsoft.com/office/drawing/2014/main" id="{57666594-FEE4-B90C-1286-F0562C058281}"/>
              </a:ext>
            </a:extLst>
          </p:cNvPr>
          <p:cNvSpPr/>
          <p:nvPr/>
        </p:nvSpPr>
        <p:spPr>
          <a:xfrm>
            <a:off x="1413882" y="3953560"/>
            <a:ext cx="1936511" cy="305555"/>
          </a:xfrm>
          <a:prstGeom prst="rect">
            <a:avLst/>
          </a:prstGeom>
          <a:noFill/>
          <a:ln>
            <a:noFill/>
          </a:ln>
        </p:spPr>
        <p:txBody>
          <a:bodyPr spcFirstLastPara="1" wrap="square" lIns="90000" tIns="45000" rIns="90000" bIns="45000" anchor="ctr" anchorCtr="0">
            <a:noAutofit/>
          </a:bodyPr>
          <a:lstStyle/>
          <a:p>
            <a:pPr algn="ctr">
              <a:buClr>
                <a:schemeClr val="dk1"/>
              </a:buClr>
              <a:buSzPts val="1200"/>
            </a:pPr>
            <a:r>
              <a:rPr lang="en-US" sz="1200" b="1" dirty="0">
                <a:solidFill>
                  <a:schemeClr val="dk1"/>
                </a:solidFill>
              </a:rPr>
              <a:t>Leads</a:t>
            </a:r>
            <a:r>
              <a:rPr lang="en-US" sz="1400" b="1" dirty="0">
                <a:solidFill>
                  <a:schemeClr val="dk1"/>
                </a:solidFill>
              </a:rPr>
              <a:t> </a:t>
            </a:r>
            <a:r>
              <a:rPr lang="en-US" sz="1200" b="1" dirty="0">
                <a:solidFill>
                  <a:schemeClr val="dk1"/>
                </a:solidFill>
              </a:rPr>
              <a:t> = 858</a:t>
            </a:r>
            <a:endParaRPr sz="1200" b="1" dirty="0">
              <a:solidFill>
                <a:schemeClr val="dk1"/>
              </a:solidFill>
            </a:endParaRPr>
          </a:p>
        </p:txBody>
      </p:sp>
      <p:sp>
        <p:nvSpPr>
          <p:cNvPr id="11" name="Google Shape;117;p4">
            <a:extLst>
              <a:ext uri="{FF2B5EF4-FFF2-40B4-BE49-F238E27FC236}">
                <a16:creationId xmlns:a16="http://schemas.microsoft.com/office/drawing/2014/main" id="{FF5C2D60-0917-6F01-4133-6D62207C77D3}"/>
              </a:ext>
            </a:extLst>
          </p:cNvPr>
          <p:cNvSpPr/>
          <p:nvPr/>
        </p:nvSpPr>
        <p:spPr>
          <a:xfrm>
            <a:off x="2080945" y="5176652"/>
            <a:ext cx="922323" cy="287915"/>
          </a:xfrm>
          <a:prstGeom prst="rightArrow">
            <a:avLst>
              <a:gd name="adj1" fmla="val 50000"/>
              <a:gd name="adj2" fmla="val 50000"/>
            </a:avLst>
          </a:prstGeom>
          <a:solidFill>
            <a:srgbClr val="D8E2F3"/>
          </a:solidFill>
          <a:ln w="12700" cap="flat" cmpd="sng">
            <a:solidFill>
              <a:srgbClr val="D8E2F3"/>
            </a:solidFill>
            <a:prstDash val="solid"/>
            <a:miter lim="800000"/>
            <a:headEnd type="none" w="sm" len="sm"/>
            <a:tailEnd type="none" w="sm" len="sm"/>
          </a:ln>
        </p:spPr>
        <p:txBody>
          <a:bodyPr spcFirstLastPara="1" wrap="square" lIns="91425" tIns="45700" rIns="91425" bIns="45700" anchor="ctr" anchorCtr="0">
            <a:noAutofit/>
          </a:bodyPr>
          <a:lstStyle/>
          <a:p>
            <a:pPr algn="ctr">
              <a:buSzPts val="1800"/>
            </a:pPr>
            <a:endParaRPr>
              <a:solidFill>
                <a:schemeClr val="lt1"/>
              </a:solidFill>
              <a:latin typeface="Calibri"/>
              <a:ea typeface="Calibri"/>
              <a:cs typeface="Calibri"/>
              <a:sym typeface="Calibri"/>
            </a:endParaRPr>
          </a:p>
        </p:txBody>
      </p:sp>
      <p:sp>
        <p:nvSpPr>
          <p:cNvPr id="15" name="Google Shape;122;p4">
            <a:extLst>
              <a:ext uri="{FF2B5EF4-FFF2-40B4-BE49-F238E27FC236}">
                <a16:creationId xmlns:a16="http://schemas.microsoft.com/office/drawing/2014/main" id="{30855D96-E4DF-D644-6309-545937EEE161}"/>
              </a:ext>
            </a:extLst>
          </p:cNvPr>
          <p:cNvSpPr/>
          <p:nvPr/>
        </p:nvSpPr>
        <p:spPr>
          <a:xfrm>
            <a:off x="203544" y="918443"/>
            <a:ext cx="4453171" cy="260252"/>
          </a:xfrm>
          <a:prstGeom prst="rect">
            <a:avLst/>
          </a:prstGeom>
          <a:noFill/>
          <a:ln>
            <a:noFill/>
          </a:ln>
        </p:spPr>
        <p:txBody>
          <a:bodyPr spcFirstLastPara="1" wrap="square" lIns="90000" tIns="45000" rIns="90000" bIns="45000" anchor="t" anchorCtr="0">
            <a:noAutofit/>
          </a:bodyPr>
          <a:lstStyle/>
          <a:p>
            <a:pPr>
              <a:buSzPts val="1200"/>
            </a:pPr>
            <a:r>
              <a:rPr lang="en-US" sz="1200" b="1" u="sng" dirty="0">
                <a:solidFill>
                  <a:schemeClr val="dk1"/>
                </a:solidFill>
              </a:rPr>
              <a:t>OVERALL PERFORMANCE FUNNEL FOR LAST QUARTER</a:t>
            </a:r>
            <a:endParaRPr lang="en-US" u="sng" dirty="0">
              <a:solidFill>
                <a:schemeClr val="dk1"/>
              </a:solidFill>
            </a:endParaRPr>
          </a:p>
        </p:txBody>
      </p:sp>
      <p:sp>
        <p:nvSpPr>
          <p:cNvPr id="17" name="Google Shape;116;p4">
            <a:extLst>
              <a:ext uri="{FF2B5EF4-FFF2-40B4-BE49-F238E27FC236}">
                <a16:creationId xmlns:a16="http://schemas.microsoft.com/office/drawing/2014/main" id="{85459105-70C7-83D4-575C-C6889B58A678}"/>
              </a:ext>
            </a:extLst>
          </p:cNvPr>
          <p:cNvSpPr/>
          <p:nvPr/>
        </p:nvSpPr>
        <p:spPr>
          <a:xfrm>
            <a:off x="1898621" y="4831009"/>
            <a:ext cx="922323" cy="516572"/>
          </a:xfrm>
          <a:prstGeom prst="rect">
            <a:avLst/>
          </a:prstGeom>
          <a:noFill/>
          <a:ln>
            <a:noFill/>
          </a:ln>
        </p:spPr>
        <p:txBody>
          <a:bodyPr spcFirstLastPara="1" wrap="square" lIns="90000" tIns="45000" rIns="90000" bIns="45000" anchor="ctr" anchorCtr="0">
            <a:noAutofit/>
          </a:bodyPr>
          <a:lstStyle/>
          <a:p>
            <a:pPr algn="ctr">
              <a:buClr>
                <a:schemeClr val="dk1"/>
              </a:buClr>
              <a:buSzPts val="1200"/>
            </a:pPr>
            <a:r>
              <a:rPr lang="en-US" sz="1100" b="1" dirty="0">
                <a:solidFill>
                  <a:schemeClr val="dk1"/>
                </a:solidFill>
              </a:rPr>
              <a:t>TEST DRIVES</a:t>
            </a:r>
          </a:p>
          <a:p>
            <a:pPr algn="ctr">
              <a:buClr>
                <a:schemeClr val="dk1"/>
              </a:buClr>
              <a:buSzPts val="1200"/>
            </a:pPr>
            <a:r>
              <a:rPr lang="en-US" sz="1400" b="1" dirty="0">
                <a:solidFill>
                  <a:schemeClr val="dk1"/>
                </a:solidFill>
              </a:rPr>
              <a:t>96</a:t>
            </a:r>
            <a:endParaRPr lang="en-US" sz="1100" b="1" dirty="0">
              <a:solidFill>
                <a:schemeClr val="dk1"/>
              </a:solidFill>
            </a:endParaRPr>
          </a:p>
        </p:txBody>
      </p:sp>
      <p:cxnSp>
        <p:nvCxnSpPr>
          <p:cNvPr id="26" name="Straight Connector 25">
            <a:extLst>
              <a:ext uri="{FF2B5EF4-FFF2-40B4-BE49-F238E27FC236}">
                <a16:creationId xmlns:a16="http://schemas.microsoft.com/office/drawing/2014/main" id="{95A5D0AD-E94A-7899-A24E-FE979012AB4C}"/>
              </a:ext>
            </a:extLst>
          </p:cNvPr>
          <p:cNvCxnSpPr>
            <a:cxnSpLocks/>
          </p:cNvCxnSpPr>
          <p:nvPr/>
        </p:nvCxnSpPr>
        <p:spPr>
          <a:xfrm>
            <a:off x="4971011" y="1144144"/>
            <a:ext cx="0" cy="5036243"/>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668ADA46-9BEE-9A98-44FD-00C65ACA5173}"/>
              </a:ext>
            </a:extLst>
          </p:cNvPr>
          <p:cNvSpPr txBox="1"/>
          <p:nvPr/>
        </p:nvSpPr>
        <p:spPr>
          <a:xfrm>
            <a:off x="3773817" y="3307708"/>
            <a:ext cx="6325984" cy="307777"/>
          </a:xfrm>
          <a:prstGeom prst="rect">
            <a:avLst/>
          </a:prstGeom>
          <a:noFill/>
        </p:spPr>
        <p:txBody>
          <a:bodyPr wrap="square">
            <a:spAutoFit/>
          </a:bodyPr>
          <a:lstStyle/>
          <a:p>
            <a:pPr>
              <a:buSzPts val="1200"/>
            </a:pPr>
            <a:r>
              <a:rPr lang="en-US" sz="1400" b="1" dirty="0">
                <a:solidFill>
                  <a:schemeClr val="dk1"/>
                </a:solidFill>
              </a:rPr>
              <a:t>7.35 %</a:t>
            </a:r>
          </a:p>
        </p:txBody>
      </p:sp>
      <p:sp>
        <p:nvSpPr>
          <p:cNvPr id="34" name="TextBox 33">
            <a:extLst>
              <a:ext uri="{FF2B5EF4-FFF2-40B4-BE49-F238E27FC236}">
                <a16:creationId xmlns:a16="http://schemas.microsoft.com/office/drawing/2014/main" id="{7EB9EE93-585A-A5CD-4A07-5C02799274E6}"/>
              </a:ext>
            </a:extLst>
          </p:cNvPr>
          <p:cNvSpPr txBox="1"/>
          <p:nvPr/>
        </p:nvSpPr>
        <p:spPr>
          <a:xfrm>
            <a:off x="3442871" y="4089937"/>
            <a:ext cx="6325984" cy="307777"/>
          </a:xfrm>
          <a:prstGeom prst="rect">
            <a:avLst/>
          </a:prstGeom>
          <a:noFill/>
        </p:spPr>
        <p:txBody>
          <a:bodyPr wrap="square">
            <a:spAutoFit/>
          </a:bodyPr>
          <a:lstStyle/>
          <a:p>
            <a:pPr>
              <a:buSzPts val="1200"/>
            </a:pPr>
            <a:r>
              <a:rPr lang="en-US" sz="1400" b="1" dirty="0">
                <a:solidFill>
                  <a:schemeClr val="dk1"/>
                </a:solidFill>
              </a:rPr>
              <a:t>4.65 %</a:t>
            </a:r>
          </a:p>
        </p:txBody>
      </p:sp>
      <p:sp>
        <p:nvSpPr>
          <p:cNvPr id="36" name="TextBox 35">
            <a:extLst>
              <a:ext uri="{FF2B5EF4-FFF2-40B4-BE49-F238E27FC236}">
                <a16:creationId xmlns:a16="http://schemas.microsoft.com/office/drawing/2014/main" id="{4D984D82-C83E-92A5-1309-7FD1B6FD7102}"/>
              </a:ext>
            </a:extLst>
          </p:cNvPr>
          <p:cNvSpPr txBox="1"/>
          <p:nvPr/>
        </p:nvSpPr>
        <p:spPr>
          <a:xfrm>
            <a:off x="3091579" y="5175197"/>
            <a:ext cx="6325984" cy="307777"/>
          </a:xfrm>
          <a:prstGeom prst="rect">
            <a:avLst/>
          </a:prstGeom>
          <a:noFill/>
        </p:spPr>
        <p:txBody>
          <a:bodyPr wrap="square">
            <a:spAutoFit/>
          </a:bodyPr>
          <a:lstStyle/>
          <a:p>
            <a:pPr>
              <a:buSzPts val="1200"/>
            </a:pPr>
            <a:r>
              <a:rPr lang="en-US" sz="1400" b="1" dirty="0">
                <a:solidFill>
                  <a:srgbClr val="00B050"/>
                </a:solidFill>
              </a:rPr>
              <a:t>11.2 %</a:t>
            </a:r>
          </a:p>
        </p:txBody>
      </p:sp>
      <p:pic>
        <p:nvPicPr>
          <p:cNvPr id="38" name="Google Shape;427;p24">
            <a:extLst>
              <a:ext uri="{FF2B5EF4-FFF2-40B4-BE49-F238E27FC236}">
                <a16:creationId xmlns:a16="http://schemas.microsoft.com/office/drawing/2014/main" id="{4844FE1B-8E9E-6EC0-175E-3FA645B314B1}"/>
              </a:ext>
            </a:extLst>
          </p:cNvPr>
          <p:cNvPicPr preferRelativeResize="0"/>
          <p:nvPr/>
        </p:nvPicPr>
        <p:blipFill rotWithShape="1">
          <a:blip r:embed="rId2">
            <a:alphaModFix/>
          </a:blip>
          <a:srcRect/>
          <a:stretch/>
        </p:blipFill>
        <p:spPr>
          <a:xfrm>
            <a:off x="5370953" y="1366849"/>
            <a:ext cx="1932915" cy="3454409"/>
          </a:xfrm>
          <a:prstGeom prst="rect">
            <a:avLst/>
          </a:prstGeom>
          <a:noFill/>
          <a:ln>
            <a:noFill/>
          </a:ln>
        </p:spPr>
      </p:pic>
      <p:pic>
        <p:nvPicPr>
          <p:cNvPr id="39" name="Google Shape;428;p24">
            <a:extLst>
              <a:ext uri="{FF2B5EF4-FFF2-40B4-BE49-F238E27FC236}">
                <a16:creationId xmlns:a16="http://schemas.microsoft.com/office/drawing/2014/main" id="{A3B38243-61DC-9962-812E-A077AFA5398D}"/>
              </a:ext>
            </a:extLst>
          </p:cNvPr>
          <p:cNvPicPr preferRelativeResize="0"/>
          <p:nvPr/>
        </p:nvPicPr>
        <p:blipFill rotWithShape="1">
          <a:blip r:embed="rId3">
            <a:alphaModFix/>
          </a:blip>
          <a:srcRect/>
          <a:stretch/>
        </p:blipFill>
        <p:spPr>
          <a:xfrm>
            <a:off x="7643517" y="1400582"/>
            <a:ext cx="1917251" cy="3429231"/>
          </a:xfrm>
          <a:prstGeom prst="rect">
            <a:avLst/>
          </a:prstGeom>
          <a:noFill/>
          <a:ln>
            <a:noFill/>
          </a:ln>
        </p:spPr>
      </p:pic>
      <p:pic>
        <p:nvPicPr>
          <p:cNvPr id="40" name="Google Shape;345;p15">
            <a:extLst>
              <a:ext uri="{FF2B5EF4-FFF2-40B4-BE49-F238E27FC236}">
                <a16:creationId xmlns:a16="http://schemas.microsoft.com/office/drawing/2014/main" id="{6AEFC5FD-0ADD-ABAD-1494-D7A691CA1C2F}"/>
              </a:ext>
            </a:extLst>
          </p:cNvPr>
          <p:cNvPicPr preferRelativeResize="0"/>
          <p:nvPr/>
        </p:nvPicPr>
        <p:blipFill rotWithShape="1">
          <a:blip r:embed="rId4">
            <a:alphaModFix/>
          </a:blip>
          <a:srcRect/>
          <a:stretch/>
        </p:blipFill>
        <p:spPr>
          <a:xfrm>
            <a:off x="9816322" y="1356002"/>
            <a:ext cx="2003924" cy="3429231"/>
          </a:xfrm>
          <a:prstGeom prst="rect">
            <a:avLst/>
          </a:prstGeom>
          <a:noFill/>
          <a:ln>
            <a:noFill/>
          </a:ln>
        </p:spPr>
      </p:pic>
      <p:sp>
        <p:nvSpPr>
          <p:cNvPr id="41" name="TextBox 40">
            <a:extLst>
              <a:ext uri="{FF2B5EF4-FFF2-40B4-BE49-F238E27FC236}">
                <a16:creationId xmlns:a16="http://schemas.microsoft.com/office/drawing/2014/main" id="{73E13BF5-B885-981B-F3F9-EA972EA48D13}"/>
              </a:ext>
            </a:extLst>
          </p:cNvPr>
          <p:cNvSpPr txBox="1"/>
          <p:nvPr/>
        </p:nvSpPr>
        <p:spPr>
          <a:xfrm>
            <a:off x="5618539" y="4898968"/>
            <a:ext cx="5221549" cy="1569660"/>
          </a:xfrm>
          <a:prstGeom prst="rect">
            <a:avLst/>
          </a:prstGeom>
          <a:solidFill>
            <a:schemeClr val="bg1">
              <a:lumMod val="85000"/>
            </a:schemeClr>
          </a:solidFill>
        </p:spPr>
        <p:txBody>
          <a:bodyPr wrap="square" rtlCol="0">
            <a:spAutoFit/>
          </a:bodyPr>
          <a:lstStyle/>
          <a:p>
            <a:r>
              <a:rPr lang="en-US" sz="1200" b="1" dirty="0">
                <a:solidFill>
                  <a:schemeClr val="tx1">
                    <a:lumMod val="85000"/>
                    <a:lumOff val="15000"/>
                  </a:schemeClr>
                </a:solidFill>
                <a:latin typeface="Franklin Gothic Medium" panose="020B0603020102020204" pitchFamily="34" charset="0"/>
                <a:ea typeface="Open Sans" panose="020B0606030504020204" pitchFamily="34" charset="0"/>
                <a:cs typeface="Open Sans" panose="020B0606030504020204" pitchFamily="34" charset="0"/>
                <a:sym typeface="Spectral Light"/>
              </a:rPr>
              <a:t>CAMPAIGN SNIPPETS: (Oct, Nov &amp; Dec 2023)</a:t>
            </a:r>
          </a:p>
          <a:p>
            <a:endParaRPr lang="en-US" sz="1200" b="1" dirty="0">
              <a:solidFill>
                <a:schemeClr val="tx1">
                  <a:lumMod val="85000"/>
                  <a:lumOff val="15000"/>
                </a:schemeClr>
              </a:solidFill>
              <a:latin typeface="Franklin Gothic Medium" panose="020B0603020102020204" pitchFamily="34" charset="0"/>
              <a:ea typeface="Open Sans" panose="020B0606030504020204" pitchFamily="34" charset="0"/>
              <a:cs typeface="Open Sans" panose="020B0606030504020204" pitchFamily="34" charset="0"/>
              <a:sym typeface="Spectral Light"/>
            </a:endParaRPr>
          </a:p>
          <a:p>
            <a:pPr marL="285744" indent="-285744">
              <a:buFont typeface="Arial" panose="020B0604020202020204" pitchFamily="34" charset="0"/>
              <a:buChar char="•"/>
            </a:pPr>
            <a:r>
              <a:rPr lang="en-US" sz="1200" b="1" dirty="0">
                <a:solidFill>
                  <a:schemeClr val="tx1">
                    <a:lumMod val="85000"/>
                    <a:lumOff val="15000"/>
                  </a:schemeClr>
                </a:solidFill>
                <a:latin typeface="Franklin Gothic Medium" panose="020B0603020102020204" pitchFamily="34" charset="0"/>
              </a:rPr>
              <a:t>Facebook Leads: 499 Leads </a:t>
            </a:r>
          </a:p>
          <a:p>
            <a:pPr marL="285744" indent="-285744">
              <a:buClr>
                <a:schemeClr val="dk1"/>
              </a:buClr>
              <a:buSzPts val="1100"/>
              <a:buFont typeface="Arial" panose="020B0604020202020204" pitchFamily="34" charset="0"/>
              <a:buChar char="•"/>
            </a:pPr>
            <a:r>
              <a:rPr lang="en-US" sz="1200" b="1" dirty="0">
                <a:solidFill>
                  <a:schemeClr val="tx1">
                    <a:lumMod val="85000"/>
                    <a:lumOff val="15000"/>
                  </a:schemeClr>
                </a:solidFill>
                <a:latin typeface="Franklin Gothic Medium" panose="020B0603020102020204" pitchFamily="34" charset="0"/>
              </a:rPr>
              <a:t>Google Leads: 359 Leads</a:t>
            </a:r>
          </a:p>
          <a:p>
            <a:pPr>
              <a:buClr>
                <a:schemeClr val="dk1"/>
              </a:buClr>
              <a:buSzPts val="1100"/>
            </a:pPr>
            <a:endParaRPr lang="en-US" sz="1200" b="1" dirty="0">
              <a:solidFill>
                <a:schemeClr val="tx1">
                  <a:lumMod val="85000"/>
                  <a:lumOff val="15000"/>
                </a:schemeClr>
              </a:solidFill>
              <a:latin typeface="Franklin Gothic Medium" panose="020B0603020102020204" pitchFamily="34" charset="0"/>
            </a:endParaRPr>
          </a:p>
          <a:p>
            <a:pPr>
              <a:buClr>
                <a:schemeClr val="dk1"/>
              </a:buClr>
              <a:buSzPts val="1100"/>
            </a:pPr>
            <a:r>
              <a:rPr lang="en-US" sz="1200" b="1" dirty="0">
                <a:solidFill>
                  <a:schemeClr val="tx1">
                    <a:lumMod val="85000"/>
                    <a:lumOff val="15000"/>
                  </a:schemeClr>
                </a:solidFill>
                <a:latin typeface="Franklin Gothic Medium" panose="020B0603020102020204" pitchFamily="34" charset="0"/>
                <a:ea typeface="Open Sans" panose="020B0606030504020204" pitchFamily="34" charset="0"/>
                <a:cs typeface="Open Sans" panose="020B0606030504020204" pitchFamily="34" charset="0"/>
                <a:sym typeface="Spectral Light"/>
              </a:rPr>
              <a:t>From our overall campaign strategy &amp; executions, business received around 96 test drives from the 858 leads given in last 3 month i.e. (Oct, Nov, Dec 2023)</a:t>
            </a:r>
            <a:endParaRPr lang="en-US" sz="1200" b="1" dirty="0">
              <a:solidFill>
                <a:schemeClr val="tx1">
                  <a:lumMod val="85000"/>
                  <a:lumOff val="15000"/>
                </a:schemeClr>
              </a:solidFill>
              <a:latin typeface="Franklin Gothic Medium" panose="020B0603020102020204" pitchFamily="34" charset="0"/>
            </a:endParaRPr>
          </a:p>
        </p:txBody>
      </p:sp>
      <p:sp>
        <p:nvSpPr>
          <p:cNvPr id="43" name="TextBox 42">
            <a:extLst>
              <a:ext uri="{FF2B5EF4-FFF2-40B4-BE49-F238E27FC236}">
                <a16:creationId xmlns:a16="http://schemas.microsoft.com/office/drawing/2014/main" id="{87390DCB-1E1C-57D1-9B62-FB631EA1FB22}"/>
              </a:ext>
            </a:extLst>
          </p:cNvPr>
          <p:cNvSpPr txBox="1"/>
          <p:nvPr/>
        </p:nvSpPr>
        <p:spPr>
          <a:xfrm>
            <a:off x="5370953" y="898770"/>
            <a:ext cx="6093228" cy="307777"/>
          </a:xfrm>
          <a:prstGeom prst="rect">
            <a:avLst/>
          </a:prstGeom>
          <a:noFill/>
        </p:spPr>
        <p:txBody>
          <a:bodyPr wrap="square">
            <a:spAutoFit/>
          </a:bodyPr>
          <a:lstStyle/>
          <a:p>
            <a:r>
              <a:rPr lang="en-US" sz="1400" b="1" u="sng" dirty="0">
                <a:solidFill>
                  <a:schemeClr val="tx1">
                    <a:lumMod val="85000"/>
                    <a:lumOff val="15000"/>
                  </a:schemeClr>
                </a:solidFill>
                <a:latin typeface="Greycliff Bold"/>
                <a:ea typeface="Open Sans" panose="020B0606030504020204" pitchFamily="34" charset="0"/>
                <a:cs typeface="Open Sans" panose="020B0606030504020204" pitchFamily="34" charset="0"/>
              </a:rPr>
              <a:t>Successful Campaign Screenshots: </a:t>
            </a:r>
            <a:endParaRPr lang="en-US" sz="1400" b="1" u="sng" dirty="0">
              <a:solidFill>
                <a:schemeClr val="tx1">
                  <a:lumMod val="85000"/>
                  <a:lumOff val="15000"/>
                </a:schemeClr>
              </a:solidFill>
              <a:latin typeface="Greycliff Bold"/>
              <a:ea typeface="Open Sans" panose="020B0606030504020204" pitchFamily="34" charset="0"/>
              <a:cs typeface="Open Sans" panose="020B0606030504020204" pitchFamily="34" charset="0"/>
              <a:sym typeface="Spectral Light"/>
            </a:endParaRPr>
          </a:p>
        </p:txBody>
      </p:sp>
      <p:sp>
        <p:nvSpPr>
          <p:cNvPr id="54" name="TextBox 53">
            <a:extLst>
              <a:ext uri="{FF2B5EF4-FFF2-40B4-BE49-F238E27FC236}">
                <a16:creationId xmlns:a16="http://schemas.microsoft.com/office/drawing/2014/main" id="{D9D43EA6-39C4-BA89-DF71-88970C5CA756}"/>
              </a:ext>
            </a:extLst>
          </p:cNvPr>
          <p:cNvSpPr txBox="1"/>
          <p:nvPr/>
        </p:nvSpPr>
        <p:spPr>
          <a:xfrm>
            <a:off x="4191163" y="2414589"/>
            <a:ext cx="6325984" cy="307777"/>
          </a:xfrm>
          <a:prstGeom prst="rect">
            <a:avLst/>
          </a:prstGeom>
          <a:noFill/>
        </p:spPr>
        <p:txBody>
          <a:bodyPr wrap="square">
            <a:spAutoFit/>
          </a:bodyPr>
          <a:lstStyle/>
          <a:p>
            <a:pPr>
              <a:buSzPts val="1200"/>
            </a:pPr>
            <a:r>
              <a:rPr lang="en-US" sz="1400" b="1" dirty="0">
                <a:solidFill>
                  <a:schemeClr val="dk1"/>
                </a:solidFill>
              </a:rPr>
              <a:t>28.6 %</a:t>
            </a:r>
          </a:p>
        </p:txBody>
      </p:sp>
      <p:sp>
        <p:nvSpPr>
          <p:cNvPr id="12" name="Rectangle 11">
            <a:extLst>
              <a:ext uri="{FF2B5EF4-FFF2-40B4-BE49-F238E27FC236}">
                <a16:creationId xmlns:a16="http://schemas.microsoft.com/office/drawing/2014/main" id="{1850C3A7-B94C-1F5E-0718-4EE086D2D94D}"/>
              </a:ext>
            </a:extLst>
          </p:cNvPr>
          <p:cNvSpPr/>
          <p:nvPr/>
        </p:nvSpPr>
        <p:spPr>
          <a:xfrm>
            <a:off x="5921830" y="1413342"/>
            <a:ext cx="511628" cy="1802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3" name="Rectangle 12">
            <a:extLst>
              <a:ext uri="{FF2B5EF4-FFF2-40B4-BE49-F238E27FC236}">
                <a16:creationId xmlns:a16="http://schemas.microsoft.com/office/drawing/2014/main" id="{8395B3EE-ACED-445A-D6FC-F20BE9870DD3}"/>
              </a:ext>
            </a:extLst>
          </p:cNvPr>
          <p:cNvSpPr/>
          <p:nvPr/>
        </p:nvSpPr>
        <p:spPr>
          <a:xfrm>
            <a:off x="8194411" y="1423399"/>
            <a:ext cx="511628" cy="1815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4" name="Rectangle 13">
            <a:extLst>
              <a:ext uri="{FF2B5EF4-FFF2-40B4-BE49-F238E27FC236}">
                <a16:creationId xmlns:a16="http://schemas.microsoft.com/office/drawing/2014/main" id="{06A096DE-3C8F-03E0-02B2-2399BACBBB3A}"/>
              </a:ext>
            </a:extLst>
          </p:cNvPr>
          <p:cNvSpPr/>
          <p:nvPr/>
        </p:nvSpPr>
        <p:spPr>
          <a:xfrm>
            <a:off x="9987260" y="3719599"/>
            <a:ext cx="1705656" cy="2239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pic>
        <p:nvPicPr>
          <p:cNvPr id="16" name="Picture 15" descr="A logo with a blue arrow pointing up&#10;&#10;Description automatically generated">
            <a:extLst>
              <a:ext uri="{FF2B5EF4-FFF2-40B4-BE49-F238E27FC236}">
                <a16:creationId xmlns:a16="http://schemas.microsoft.com/office/drawing/2014/main" id="{E01C06C1-096C-572C-9ED4-24180234DEAF}"/>
              </a:ext>
            </a:extLst>
          </p:cNvPr>
          <p:cNvPicPr>
            <a:picLocks noChangeAspect="1"/>
          </p:cNvPicPr>
          <p:nvPr/>
        </p:nvPicPr>
        <p:blipFill rotWithShape="1">
          <a:blip r:embed="rId5"/>
          <a:srcRect l="9248" r="27480" b="47937"/>
          <a:stretch/>
        </p:blipFill>
        <p:spPr>
          <a:xfrm>
            <a:off x="11097352" y="30644"/>
            <a:ext cx="1012989" cy="830400"/>
          </a:xfrm>
          <a:prstGeom prst="rect">
            <a:avLst/>
          </a:prstGeom>
        </p:spPr>
      </p:pic>
    </p:spTree>
    <p:extLst>
      <p:ext uri="{BB962C8B-B14F-4D97-AF65-F5344CB8AC3E}">
        <p14:creationId xmlns:p14="http://schemas.microsoft.com/office/powerpoint/2010/main" val="4131440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6"/>
          <p:cNvSpPr/>
          <p:nvPr/>
        </p:nvSpPr>
        <p:spPr>
          <a:xfrm>
            <a:off x="1210094" y="3092990"/>
            <a:ext cx="406836" cy="406836"/>
          </a:xfrm>
          <a:custGeom>
            <a:avLst/>
            <a:gdLst/>
            <a:ahLst/>
            <a:cxnLst/>
            <a:rect l="l" t="t" r="r" b="b"/>
            <a:pathLst>
              <a:path w="610254" h="610254" extrusionOk="0">
                <a:moveTo>
                  <a:pt x="0" y="0"/>
                </a:moveTo>
                <a:lnTo>
                  <a:pt x="610254" y="0"/>
                </a:lnTo>
                <a:lnTo>
                  <a:pt x="610254" y="610254"/>
                </a:lnTo>
                <a:lnTo>
                  <a:pt x="0" y="610254"/>
                </a:lnTo>
                <a:lnTo>
                  <a:pt x="0" y="0"/>
                </a:lnTo>
                <a:close/>
              </a:path>
            </a:pathLst>
          </a:custGeom>
          <a:blipFill rotWithShape="1">
            <a:blip r:embed="rId3">
              <a:alphaModFix/>
            </a:blip>
            <a:stretch>
              <a:fillRect/>
            </a:stretch>
          </a:blipFill>
          <a:ln>
            <a:noFill/>
          </a:ln>
        </p:spPr>
        <p:txBody>
          <a:bodyPr/>
          <a:lstStyle/>
          <a:p>
            <a:endParaRPr lang="en-US" sz="2400">
              <a:latin typeface="Montserrat" pitchFamily="2" charset="77"/>
            </a:endParaRPr>
          </a:p>
        </p:txBody>
      </p:sp>
      <p:sp>
        <p:nvSpPr>
          <p:cNvPr id="486" name="Google Shape;486;p66"/>
          <p:cNvSpPr/>
          <p:nvPr/>
        </p:nvSpPr>
        <p:spPr>
          <a:xfrm>
            <a:off x="1246098" y="3814207"/>
            <a:ext cx="334829" cy="432037"/>
          </a:xfrm>
          <a:custGeom>
            <a:avLst/>
            <a:gdLst/>
            <a:ahLst/>
            <a:cxnLst/>
            <a:rect l="l" t="t" r="r" b="b"/>
            <a:pathLst>
              <a:path w="502243" h="648055" extrusionOk="0">
                <a:moveTo>
                  <a:pt x="0" y="0"/>
                </a:moveTo>
                <a:lnTo>
                  <a:pt x="502243" y="0"/>
                </a:lnTo>
                <a:lnTo>
                  <a:pt x="502243" y="648055"/>
                </a:lnTo>
                <a:lnTo>
                  <a:pt x="0" y="648055"/>
                </a:lnTo>
                <a:lnTo>
                  <a:pt x="0" y="0"/>
                </a:lnTo>
                <a:close/>
              </a:path>
            </a:pathLst>
          </a:custGeom>
          <a:blipFill rotWithShape="1">
            <a:blip r:embed="rId4">
              <a:alphaModFix/>
            </a:blip>
            <a:stretch>
              <a:fillRect/>
            </a:stretch>
          </a:blipFill>
          <a:ln>
            <a:noFill/>
          </a:ln>
        </p:spPr>
        <p:txBody>
          <a:bodyPr/>
          <a:lstStyle/>
          <a:p>
            <a:endParaRPr lang="en-US" sz="2400">
              <a:latin typeface="Montserrat" pitchFamily="2" charset="77"/>
            </a:endParaRPr>
          </a:p>
        </p:txBody>
      </p:sp>
      <p:sp>
        <p:nvSpPr>
          <p:cNvPr id="487" name="Google Shape;487;p66"/>
          <p:cNvSpPr txBox="1"/>
          <p:nvPr/>
        </p:nvSpPr>
        <p:spPr>
          <a:xfrm>
            <a:off x="1263345" y="573757"/>
            <a:ext cx="3915247" cy="689356"/>
          </a:xfrm>
          <a:prstGeom prst="rect">
            <a:avLst/>
          </a:prstGeom>
          <a:noFill/>
          <a:ln>
            <a:noFill/>
          </a:ln>
        </p:spPr>
        <p:txBody>
          <a:bodyPr spcFirstLastPara="1" wrap="square" lIns="0" tIns="0" rIns="0" bIns="0" anchor="t" anchorCtr="0">
            <a:spAutoFit/>
          </a:bodyPr>
          <a:lstStyle/>
          <a:p>
            <a:pPr>
              <a:lnSpc>
                <a:spcPct val="119978"/>
              </a:lnSpc>
            </a:pPr>
            <a:r>
              <a:rPr lang="en" sz="3733" b="1" dirty="0">
                <a:solidFill>
                  <a:srgbClr val="0D2C95"/>
                </a:solidFill>
                <a:latin typeface="Montserrat" pitchFamily="2" charset="77"/>
                <a:ea typeface="Libre Franklin"/>
                <a:cs typeface="Libre Franklin"/>
                <a:sym typeface="Libre Franklin"/>
              </a:rPr>
              <a:t>Get in Touch</a:t>
            </a:r>
            <a:endParaRPr sz="1467" dirty="0">
              <a:latin typeface="Montserrat" pitchFamily="2" charset="77"/>
            </a:endParaRPr>
          </a:p>
        </p:txBody>
      </p:sp>
      <p:sp>
        <p:nvSpPr>
          <p:cNvPr id="488" name="Google Shape;488;p66"/>
          <p:cNvSpPr txBox="1"/>
          <p:nvPr/>
        </p:nvSpPr>
        <p:spPr>
          <a:xfrm>
            <a:off x="1696377" y="2961550"/>
            <a:ext cx="1735351" cy="402226"/>
          </a:xfrm>
          <a:prstGeom prst="rect">
            <a:avLst/>
          </a:prstGeom>
          <a:noFill/>
          <a:ln>
            <a:noFill/>
          </a:ln>
        </p:spPr>
        <p:txBody>
          <a:bodyPr spcFirstLastPara="1" wrap="square" lIns="0" tIns="0" rIns="0" bIns="0" anchor="t" anchorCtr="0">
            <a:spAutoFit/>
          </a:bodyPr>
          <a:lstStyle/>
          <a:p>
            <a:pPr>
              <a:lnSpc>
                <a:spcPct val="139989"/>
              </a:lnSpc>
            </a:pPr>
            <a:r>
              <a:rPr lang="en" sz="1867">
                <a:solidFill>
                  <a:srgbClr val="0D2C95"/>
                </a:solidFill>
                <a:latin typeface="Montserrat" pitchFamily="2" charset="77"/>
                <a:ea typeface="Libre Franklin"/>
                <a:cs typeface="Libre Franklin"/>
                <a:sym typeface="Libre Franklin"/>
              </a:rPr>
              <a:t>Website</a:t>
            </a:r>
            <a:endParaRPr sz="1467">
              <a:latin typeface="Montserrat" pitchFamily="2" charset="77"/>
            </a:endParaRPr>
          </a:p>
        </p:txBody>
      </p:sp>
      <p:sp>
        <p:nvSpPr>
          <p:cNvPr id="489" name="Google Shape;489;p66"/>
          <p:cNvSpPr txBox="1"/>
          <p:nvPr/>
        </p:nvSpPr>
        <p:spPr>
          <a:xfrm>
            <a:off x="1696377" y="3271008"/>
            <a:ext cx="2233513" cy="316049"/>
          </a:xfrm>
          <a:prstGeom prst="rect">
            <a:avLst/>
          </a:prstGeom>
          <a:noFill/>
          <a:ln>
            <a:noFill/>
          </a:ln>
        </p:spPr>
        <p:txBody>
          <a:bodyPr spcFirstLastPara="1" wrap="square" lIns="0" tIns="0" rIns="0" bIns="0" anchor="t" anchorCtr="0">
            <a:spAutoFit/>
          </a:bodyPr>
          <a:lstStyle/>
          <a:p>
            <a:pPr>
              <a:lnSpc>
                <a:spcPct val="140040"/>
              </a:lnSpc>
            </a:pPr>
            <a:r>
              <a:rPr lang="en" sz="1467" dirty="0" err="1">
                <a:solidFill>
                  <a:srgbClr val="0D2C95"/>
                </a:solidFill>
                <a:latin typeface="Montserrat" pitchFamily="2" charset="77"/>
                <a:ea typeface="Libre Franklin"/>
                <a:cs typeface="Libre Franklin"/>
                <a:sym typeface="Libre Franklin"/>
              </a:rPr>
              <a:t>www.digifyce.com</a:t>
            </a:r>
            <a:endParaRPr sz="1467" dirty="0">
              <a:solidFill>
                <a:srgbClr val="0D2C95"/>
              </a:solidFill>
              <a:latin typeface="Montserrat" pitchFamily="2" charset="77"/>
              <a:ea typeface="Libre Franklin"/>
              <a:cs typeface="Libre Franklin"/>
              <a:sym typeface="Libre Franklin"/>
            </a:endParaRPr>
          </a:p>
        </p:txBody>
      </p:sp>
      <p:sp>
        <p:nvSpPr>
          <p:cNvPr id="490" name="Google Shape;490;p66"/>
          <p:cNvSpPr txBox="1"/>
          <p:nvPr/>
        </p:nvSpPr>
        <p:spPr>
          <a:xfrm>
            <a:off x="1696377" y="3804525"/>
            <a:ext cx="2233513" cy="287195"/>
          </a:xfrm>
          <a:prstGeom prst="rect">
            <a:avLst/>
          </a:prstGeom>
          <a:noFill/>
          <a:ln>
            <a:noFill/>
          </a:ln>
        </p:spPr>
        <p:txBody>
          <a:bodyPr spcFirstLastPara="1" wrap="square" lIns="0" tIns="0" rIns="0" bIns="0" anchor="t" anchorCtr="0">
            <a:spAutoFit/>
          </a:bodyPr>
          <a:lstStyle/>
          <a:p>
            <a:pPr>
              <a:lnSpc>
                <a:spcPct val="139989"/>
              </a:lnSpc>
            </a:pPr>
            <a:r>
              <a:rPr lang="en" sz="1333" dirty="0">
                <a:solidFill>
                  <a:srgbClr val="0D2C95"/>
                </a:solidFill>
                <a:latin typeface="Montserrat" pitchFamily="2" charset="77"/>
                <a:sym typeface="Libre Franklin"/>
              </a:rPr>
              <a:t>RAJKUMAR</a:t>
            </a:r>
            <a:endParaRPr sz="1067" dirty="0">
              <a:latin typeface="Montserrat" pitchFamily="2" charset="77"/>
            </a:endParaRPr>
          </a:p>
        </p:txBody>
      </p:sp>
      <p:sp>
        <p:nvSpPr>
          <p:cNvPr id="491" name="Google Shape;491;p66"/>
          <p:cNvSpPr txBox="1"/>
          <p:nvPr/>
        </p:nvSpPr>
        <p:spPr>
          <a:xfrm>
            <a:off x="1696376" y="4206685"/>
            <a:ext cx="2575200" cy="689612"/>
          </a:xfrm>
          <a:prstGeom prst="rect">
            <a:avLst/>
          </a:prstGeom>
          <a:noFill/>
          <a:ln>
            <a:noFill/>
          </a:ln>
        </p:spPr>
        <p:txBody>
          <a:bodyPr spcFirstLastPara="1" wrap="square" lIns="0" tIns="0" rIns="0" bIns="0" anchor="t" anchorCtr="0">
            <a:spAutoFit/>
          </a:bodyPr>
          <a:lstStyle/>
          <a:p>
            <a:pPr>
              <a:lnSpc>
                <a:spcPct val="140040"/>
              </a:lnSpc>
            </a:pPr>
            <a:r>
              <a:rPr lang="en-US" sz="1067" dirty="0">
                <a:solidFill>
                  <a:srgbClr val="0D2C95"/>
                </a:solidFill>
                <a:latin typeface="Montserrat" pitchFamily="2" charset="77"/>
                <a:sym typeface="Libre Franklin"/>
              </a:rPr>
              <a:t>Director</a:t>
            </a:r>
            <a:endParaRPr sz="1067" dirty="0">
              <a:latin typeface="Montserrat" pitchFamily="2" charset="77"/>
            </a:endParaRPr>
          </a:p>
          <a:p>
            <a:pPr>
              <a:lnSpc>
                <a:spcPct val="140040"/>
              </a:lnSpc>
            </a:pPr>
            <a:r>
              <a:rPr lang="en-IN" sz="1067" u="sng" dirty="0">
                <a:solidFill>
                  <a:schemeClr val="hlink"/>
                </a:solidFill>
                <a:latin typeface="Montserrat" pitchFamily="2" charset="77"/>
                <a:sym typeface="Libre Franklin"/>
                <a:hlinkClick r:id="rId5"/>
              </a:rPr>
              <a:t>rajkumar@digifyce.com</a:t>
            </a:r>
            <a:endParaRPr lang="en-IN" sz="1067" u="sng" dirty="0">
              <a:solidFill>
                <a:schemeClr val="hlink"/>
              </a:solidFill>
              <a:latin typeface="Montserrat" pitchFamily="2" charset="77"/>
              <a:sym typeface="Libre Franklin"/>
            </a:endParaRPr>
          </a:p>
          <a:p>
            <a:pPr>
              <a:lnSpc>
                <a:spcPct val="140040"/>
              </a:lnSpc>
            </a:pPr>
            <a:r>
              <a:rPr lang="en-IN" sz="1067" u="sng" dirty="0">
                <a:solidFill>
                  <a:schemeClr val="hlink"/>
                </a:solidFill>
                <a:latin typeface="Montserrat" pitchFamily="2" charset="77"/>
                <a:sym typeface="Libre Franklin"/>
              </a:rPr>
              <a:t>Ph: +91 99434 14300</a:t>
            </a:r>
            <a:endParaRPr sz="1067" dirty="0">
              <a:latin typeface="Montserrat" pitchFamily="2" charset="77"/>
            </a:endParaRPr>
          </a:p>
        </p:txBody>
      </p:sp>
      <p:sp>
        <p:nvSpPr>
          <p:cNvPr id="492" name="Google Shape;492;p66"/>
          <p:cNvSpPr txBox="1"/>
          <p:nvPr/>
        </p:nvSpPr>
        <p:spPr>
          <a:xfrm>
            <a:off x="1338038" y="1326292"/>
            <a:ext cx="3765857" cy="1231106"/>
          </a:xfrm>
          <a:prstGeom prst="rect">
            <a:avLst/>
          </a:prstGeom>
          <a:noFill/>
          <a:ln>
            <a:noFill/>
          </a:ln>
        </p:spPr>
        <p:txBody>
          <a:bodyPr spcFirstLastPara="1" wrap="square" lIns="0" tIns="0" rIns="0" bIns="0" anchor="t" anchorCtr="0">
            <a:spAutoFit/>
          </a:bodyPr>
          <a:lstStyle/>
          <a:p>
            <a:r>
              <a:rPr lang="en-IN" sz="1600" dirty="0" err="1">
                <a:solidFill>
                  <a:srgbClr val="0D2C95"/>
                </a:solidFill>
                <a:latin typeface="Montserrat" pitchFamily="2" charset="77"/>
                <a:ea typeface="Libre Franklin"/>
                <a:cs typeface="Libre Franklin"/>
                <a:sym typeface="Libre Franklin"/>
              </a:rPr>
              <a:t>Digifyce</a:t>
            </a:r>
            <a:r>
              <a:rPr lang="en" sz="1600" dirty="0">
                <a:solidFill>
                  <a:srgbClr val="0D2C95"/>
                </a:solidFill>
                <a:latin typeface="Montserrat" pitchFamily="2" charset="77"/>
                <a:ea typeface="Libre Franklin"/>
                <a:cs typeface="Libre Franklin"/>
                <a:sym typeface="Libre Franklin"/>
              </a:rPr>
              <a:t>.</a:t>
            </a:r>
            <a:endParaRPr sz="1467" dirty="0">
              <a:latin typeface="Montserrat" pitchFamily="2" charset="77"/>
            </a:endParaRPr>
          </a:p>
          <a:p>
            <a:endParaRPr sz="1600" dirty="0">
              <a:solidFill>
                <a:srgbClr val="0D2C95"/>
              </a:solidFill>
              <a:latin typeface="Montserrat" pitchFamily="2" charset="77"/>
              <a:ea typeface="Libre Franklin"/>
              <a:cs typeface="Libre Franklin"/>
              <a:sym typeface="Libre Franklin"/>
            </a:endParaRPr>
          </a:p>
          <a:p>
            <a:r>
              <a:rPr lang="en" sz="1600" dirty="0">
                <a:solidFill>
                  <a:srgbClr val="0D2C95"/>
                </a:solidFill>
                <a:latin typeface="Montserrat" pitchFamily="2" charset="77"/>
                <a:ea typeface="Libre Franklin"/>
                <a:cs typeface="Libre Franklin"/>
                <a:sym typeface="Libre Franklin"/>
              </a:rPr>
              <a:t>20+ Members Team</a:t>
            </a:r>
            <a:endParaRPr sz="1467" dirty="0">
              <a:latin typeface="Montserrat" pitchFamily="2" charset="77"/>
            </a:endParaRPr>
          </a:p>
          <a:p>
            <a:r>
              <a:rPr lang="en" sz="1600" dirty="0">
                <a:solidFill>
                  <a:srgbClr val="0D2C95"/>
                </a:solidFill>
                <a:latin typeface="Montserrat" pitchFamily="2" charset="77"/>
                <a:ea typeface="Libre Franklin"/>
                <a:cs typeface="Libre Franklin"/>
                <a:sym typeface="Libre Franklin"/>
              </a:rPr>
              <a:t>Singapore, Malaysia &amp; India</a:t>
            </a:r>
            <a:endParaRPr sz="1467" dirty="0">
              <a:latin typeface="Montserrat" pitchFamily="2" charset="77"/>
            </a:endParaRPr>
          </a:p>
          <a:p>
            <a:r>
              <a:rPr lang="en" sz="1600" dirty="0">
                <a:solidFill>
                  <a:srgbClr val="0D2C95"/>
                </a:solidFill>
                <a:latin typeface="Montserrat" pitchFamily="2" charset="77"/>
                <a:ea typeface="Libre Franklin"/>
                <a:cs typeface="Libre Franklin"/>
                <a:sym typeface="Libre Franklin"/>
              </a:rPr>
              <a:t>#</a:t>
            </a:r>
            <a:r>
              <a:rPr lang="en" sz="1600" dirty="0" err="1">
                <a:solidFill>
                  <a:srgbClr val="0D2C95"/>
                </a:solidFill>
                <a:latin typeface="Montserrat" pitchFamily="2" charset="77"/>
                <a:ea typeface="Libre Franklin"/>
                <a:cs typeface="Libre Franklin"/>
                <a:sym typeface="Libre Franklin"/>
              </a:rPr>
              <a:t>MarTech</a:t>
            </a:r>
            <a:r>
              <a:rPr lang="en" sz="1600" dirty="0">
                <a:solidFill>
                  <a:srgbClr val="0D2C95"/>
                </a:solidFill>
                <a:latin typeface="Montserrat" pitchFamily="2" charset="77"/>
                <a:ea typeface="Libre Franklin"/>
                <a:cs typeface="Libre Franklin"/>
                <a:sym typeface="Libre Franklin"/>
              </a:rPr>
              <a:t> #Digital #Tech</a:t>
            </a:r>
            <a:endParaRPr sz="1467" dirty="0">
              <a:latin typeface="Montserrat" pitchFamily="2" charset="77"/>
            </a:endParaRPr>
          </a:p>
        </p:txBody>
      </p:sp>
      <p:pic>
        <p:nvPicPr>
          <p:cNvPr id="2" name="Picture 1" descr="A logo with a blue arrow pointing up&#10;&#10;Description automatically generated">
            <a:extLst>
              <a:ext uri="{FF2B5EF4-FFF2-40B4-BE49-F238E27FC236}">
                <a16:creationId xmlns:a16="http://schemas.microsoft.com/office/drawing/2014/main" id="{1909744C-8D88-74E2-84B7-69475A3D2552}"/>
              </a:ext>
            </a:extLst>
          </p:cNvPr>
          <p:cNvPicPr>
            <a:picLocks noChangeAspect="1"/>
          </p:cNvPicPr>
          <p:nvPr/>
        </p:nvPicPr>
        <p:blipFill>
          <a:blip r:embed="rId6"/>
          <a:stretch>
            <a:fillRect/>
          </a:stretch>
        </p:blipFill>
        <p:spPr>
          <a:xfrm>
            <a:off x="6872455" y="1947759"/>
            <a:ext cx="3659173" cy="3645467"/>
          </a:xfrm>
          <a:prstGeom prst="rect">
            <a:avLst/>
          </a:prstGeom>
        </p:spPr>
      </p:pic>
      <p:sp>
        <p:nvSpPr>
          <p:cNvPr id="6" name="Google Shape;486;p66">
            <a:extLst>
              <a:ext uri="{FF2B5EF4-FFF2-40B4-BE49-F238E27FC236}">
                <a16:creationId xmlns:a16="http://schemas.microsoft.com/office/drawing/2014/main" id="{AB42DA9E-7D38-5FB4-C02F-C3BF0C1417B9}"/>
              </a:ext>
            </a:extLst>
          </p:cNvPr>
          <p:cNvSpPr/>
          <p:nvPr/>
        </p:nvSpPr>
        <p:spPr>
          <a:xfrm>
            <a:off x="1210094" y="5194730"/>
            <a:ext cx="334829" cy="432037"/>
          </a:xfrm>
          <a:custGeom>
            <a:avLst/>
            <a:gdLst/>
            <a:ahLst/>
            <a:cxnLst/>
            <a:rect l="l" t="t" r="r" b="b"/>
            <a:pathLst>
              <a:path w="502243" h="648055" extrusionOk="0">
                <a:moveTo>
                  <a:pt x="0" y="0"/>
                </a:moveTo>
                <a:lnTo>
                  <a:pt x="502243" y="0"/>
                </a:lnTo>
                <a:lnTo>
                  <a:pt x="502243" y="648055"/>
                </a:lnTo>
                <a:lnTo>
                  <a:pt x="0" y="648055"/>
                </a:lnTo>
                <a:lnTo>
                  <a:pt x="0" y="0"/>
                </a:lnTo>
                <a:close/>
              </a:path>
            </a:pathLst>
          </a:custGeom>
          <a:blipFill rotWithShape="1">
            <a:blip r:embed="rId4">
              <a:alphaModFix/>
            </a:blip>
            <a:stretch>
              <a:fillRect/>
            </a:stretch>
          </a:blipFill>
          <a:ln>
            <a:noFill/>
          </a:ln>
        </p:spPr>
        <p:txBody>
          <a:bodyPr/>
          <a:lstStyle/>
          <a:p>
            <a:endParaRPr lang="en-US" sz="2400">
              <a:latin typeface="Montserrat" pitchFamily="2" charset="77"/>
            </a:endParaRPr>
          </a:p>
        </p:txBody>
      </p:sp>
      <p:sp>
        <p:nvSpPr>
          <p:cNvPr id="7" name="Google Shape;490;p66">
            <a:extLst>
              <a:ext uri="{FF2B5EF4-FFF2-40B4-BE49-F238E27FC236}">
                <a16:creationId xmlns:a16="http://schemas.microsoft.com/office/drawing/2014/main" id="{9988153D-5AAC-8B9F-D618-4142F3050C97}"/>
              </a:ext>
            </a:extLst>
          </p:cNvPr>
          <p:cNvSpPr txBox="1"/>
          <p:nvPr/>
        </p:nvSpPr>
        <p:spPr>
          <a:xfrm>
            <a:off x="1660373" y="5185047"/>
            <a:ext cx="2233513" cy="287195"/>
          </a:xfrm>
          <a:prstGeom prst="rect">
            <a:avLst/>
          </a:prstGeom>
          <a:noFill/>
          <a:ln>
            <a:noFill/>
          </a:ln>
        </p:spPr>
        <p:txBody>
          <a:bodyPr spcFirstLastPara="1" wrap="square" lIns="0" tIns="0" rIns="0" bIns="0" anchor="t" anchorCtr="0">
            <a:spAutoFit/>
          </a:bodyPr>
          <a:lstStyle/>
          <a:p>
            <a:pPr>
              <a:lnSpc>
                <a:spcPct val="139989"/>
              </a:lnSpc>
            </a:pPr>
            <a:r>
              <a:rPr lang="en" sz="1333" dirty="0">
                <a:solidFill>
                  <a:srgbClr val="0D2C95"/>
                </a:solidFill>
                <a:latin typeface="Montserrat" pitchFamily="2" charset="77"/>
                <a:ea typeface="Libre Franklin"/>
                <a:cs typeface="Libre Franklin"/>
                <a:sym typeface="Libre Franklin"/>
              </a:rPr>
              <a:t>RAGAV</a:t>
            </a:r>
            <a:endParaRPr sz="1067" dirty="0">
              <a:latin typeface="Montserrat" pitchFamily="2" charset="77"/>
            </a:endParaRPr>
          </a:p>
        </p:txBody>
      </p:sp>
      <p:sp>
        <p:nvSpPr>
          <p:cNvPr id="8" name="Google Shape;491;p66">
            <a:extLst>
              <a:ext uri="{FF2B5EF4-FFF2-40B4-BE49-F238E27FC236}">
                <a16:creationId xmlns:a16="http://schemas.microsoft.com/office/drawing/2014/main" id="{86FF49A7-4F2B-EF0D-74A2-7D23632F7C43}"/>
              </a:ext>
            </a:extLst>
          </p:cNvPr>
          <p:cNvSpPr txBox="1"/>
          <p:nvPr/>
        </p:nvSpPr>
        <p:spPr>
          <a:xfrm>
            <a:off x="1660372" y="5587208"/>
            <a:ext cx="2575200" cy="689612"/>
          </a:xfrm>
          <a:prstGeom prst="rect">
            <a:avLst/>
          </a:prstGeom>
          <a:noFill/>
          <a:ln>
            <a:noFill/>
          </a:ln>
        </p:spPr>
        <p:txBody>
          <a:bodyPr spcFirstLastPara="1" wrap="square" lIns="0" tIns="0" rIns="0" bIns="0" anchor="t" anchorCtr="0">
            <a:spAutoFit/>
          </a:bodyPr>
          <a:lstStyle/>
          <a:p>
            <a:pPr>
              <a:lnSpc>
                <a:spcPct val="140040"/>
              </a:lnSpc>
            </a:pPr>
            <a:r>
              <a:rPr lang="en-US" sz="1067" dirty="0">
                <a:solidFill>
                  <a:srgbClr val="0D2C95"/>
                </a:solidFill>
                <a:latin typeface="Montserrat" pitchFamily="2" charset="77"/>
                <a:sym typeface="Libre Franklin"/>
              </a:rPr>
              <a:t>Director</a:t>
            </a:r>
            <a:endParaRPr sz="1067" dirty="0">
              <a:latin typeface="Montserrat" pitchFamily="2" charset="77"/>
            </a:endParaRPr>
          </a:p>
          <a:p>
            <a:pPr>
              <a:lnSpc>
                <a:spcPct val="140040"/>
              </a:lnSpc>
            </a:pPr>
            <a:r>
              <a:rPr lang="en" sz="1067" u="sng" dirty="0">
                <a:solidFill>
                  <a:schemeClr val="hlink"/>
                </a:solidFill>
                <a:latin typeface="Montserrat" pitchFamily="2" charset="77"/>
                <a:sym typeface="Libre Franklin"/>
                <a:hlinkClick r:id="rId7"/>
              </a:rPr>
              <a:t>ragav@digifyce.com</a:t>
            </a:r>
            <a:endParaRPr lang="en" sz="1067" u="sng" dirty="0">
              <a:solidFill>
                <a:schemeClr val="hlink"/>
              </a:solidFill>
              <a:latin typeface="Montserrat" pitchFamily="2" charset="77"/>
              <a:sym typeface="Libre Franklin"/>
            </a:endParaRPr>
          </a:p>
          <a:p>
            <a:pPr>
              <a:lnSpc>
                <a:spcPct val="140040"/>
              </a:lnSpc>
            </a:pPr>
            <a:r>
              <a:rPr lang="en" sz="1067" u="sng" dirty="0">
                <a:solidFill>
                  <a:schemeClr val="hlink"/>
                </a:solidFill>
                <a:latin typeface="Montserrat" pitchFamily="2" charset="77"/>
                <a:sym typeface="Libre Franklin"/>
              </a:rPr>
              <a:t>Ph: +91 9025989708</a:t>
            </a:r>
            <a:endParaRPr sz="1067" dirty="0">
              <a:latin typeface="Montserrat"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58629</TotalTime>
  <Words>1521</Words>
  <Application>Microsoft Office PowerPoint</Application>
  <PresentationFormat>Widescreen</PresentationFormat>
  <Paragraphs>304</Paragraphs>
  <Slides>22</Slides>
  <Notes>11</Notes>
  <HiddenSlides>0</HiddenSlides>
  <MMClips>0</MMClips>
  <ScaleCrop>false</ScaleCrop>
  <HeadingPairs>
    <vt:vector size="4" baseType="variant">
      <vt:variant>
        <vt:lpstr>Theme</vt:lpstr>
      </vt:variant>
      <vt:variant>
        <vt:i4>2</vt:i4>
      </vt:variant>
      <vt:variant>
        <vt:lpstr>Slide Titles</vt:lpstr>
      </vt:variant>
      <vt:variant>
        <vt:i4>22</vt:i4>
      </vt:variant>
    </vt:vector>
  </HeadingPairs>
  <TitlesOfParts>
    <vt:vector size="24" baseType="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VenPep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Marketing</dc:title>
  <dc:subject/>
  <dc:creator>Shyam Velumani</dc:creator>
  <dc:description/>
  <cp:lastModifiedBy>Ragavendra Kumar</cp:lastModifiedBy>
  <cp:revision>274</cp:revision>
  <dcterms:created xsi:type="dcterms:W3CDTF">2018-12-14T12:42:09Z</dcterms:created>
  <dcterms:modified xsi:type="dcterms:W3CDTF">2026-06-30T11:09:43Z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false</vt:bool>
  </property>
  <property fmtid="{D5CDD505-2E9C-101B-9397-08002B2CF9AE}" pid="4" name="LinksUpToDate">
    <vt:bool>false</vt:bool>
  </property>
  <property fmtid="{D5CDD505-2E9C-101B-9397-08002B2CF9AE}" pid="5" name="MMClips">
    <vt:i4>0</vt:i4>
  </property>
  <property fmtid="{D5CDD505-2E9C-101B-9397-08002B2CF9AE}" pid="6" name="Notes">
    <vt:i4>1</vt:i4>
  </property>
  <property fmtid="{D5CDD505-2E9C-101B-9397-08002B2CF9AE}" pid="7" name="PresentationFormat">
    <vt:lpwstr>Widescreen</vt:lpwstr>
  </property>
  <property fmtid="{D5CDD505-2E9C-101B-9397-08002B2CF9AE}" pid="8" name="ScaleCrop">
    <vt:bool>false</vt:bool>
  </property>
  <property fmtid="{D5CDD505-2E9C-101B-9397-08002B2CF9AE}" pid="9" name="ShareDoc">
    <vt:bool>false</vt:bool>
  </property>
  <property fmtid="{D5CDD505-2E9C-101B-9397-08002B2CF9AE}" pid="10" name="Slides">
    <vt:i4>23</vt:i4>
  </property>
</Properties>
</file>