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66" r:id="rId5"/>
    <p:sldId id="267" r:id="rId6"/>
    <p:sldId id="268" r:id="rId7"/>
    <p:sldId id="269" r:id="rId8"/>
    <p:sldId id="270" r:id="rId9"/>
    <p:sldId id="261" r:id="rId10"/>
    <p:sldId id="262" r:id="rId11"/>
    <p:sldId id="276" r:id="rId12"/>
    <p:sldId id="263" r:id="rId13"/>
    <p:sldId id="264" r:id="rId14"/>
    <p:sldId id="265" r:id="rId15"/>
    <p:sldId id="259" r:id="rId16"/>
    <p:sldId id="260" r:id="rId17"/>
    <p:sldId id="272" r:id="rId18"/>
    <p:sldId id="273" r:id="rId19"/>
    <p:sldId id="275" r:id="rId20"/>
    <p:sldId id="274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7B5534-1DE4-0D37-2D4E-6C588BAF1097}" v="3" dt="2026-06-30T11:14:55.3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184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shanth S" userId="S::prashanth@digifyce.com::01550403-d621-448f-bf16-38df520d6ebc" providerId="AD" clId="Web-{C97B5534-1DE4-0D37-2D4E-6C588BAF1097}"/>
    <pc:docChg chg="addSld delSld">
      <pc:chgData name="Prashanth S" userId="S::prashanth@digifyce.com::01550403-d621-448f-bf16-38df520d6ebc" providerId="AD" clId="Web-{C97B5534-1DE4-0D37-2D4E-6C588BAF1097}" dt="2026-06-30T11:14:55.396" v="2"/>
      <pc:docMkLst>
        <pc:docMk/>
      </pc:docMkLst>
      <pc:sldChg chg="new">
        <pc:chgData name="Prashanth S" userId="S::prashanth@digifyce.com::01550403-d621-448f-bf16-38df520d6ebc" providerId="AD" clId="Web-{C97B5534-1DE4-0D37-2D4E-6C588BAF1097}" dt="2026-06-30T11:14:55.396" v="2"/>
        <pc:sldMkLst>
          <pc:docMk/>
          <pc:sldMk cId="2110644769" sldId="276"/>
        </pc:sldMkLst>
      </pc:sldChg>
      <pc:sldChg chg="new del">
        <pc:chgData name="Prashanth S" userId="S::prashanth@digifyce.com::01550403-d621-448f-bf16-38df520d6ebc" providerId="AD" clId="Web-{C97B5534-1DE4-0D37-2D4E-6C588BAF1097}" dt="2026-06-30T11:12:57.333" v="1"/>
        <pc:sldMkLst>
          <pc:docMk/>
          <pc:sldMk cId="3441227156" sldId="27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47868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58536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97764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04637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08911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51269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13435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96189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752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4A2000"/>
          </a:solidFill>
          <a:ln w="12700">
            <a:solidFill>
              <a:srgbClr val="4A2000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822960"/>
            <a:ext cx="1463040" cy="1463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2468880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kern="0" spc="400" dirty="0">
                <a:solidFill>
                  <a:srgbClr val="F5ECD7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KAAPI STOP</a:t>
            </a:r>
            <a:endParaRPr lang="en-US" sz="3200" dirty="0">
              <a:latin typeface="Franklin Gothic Medium" panose="020B06030201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365760" y="31546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300" dirty="0">
                <a:solidFill>
                  <a:srgbClr val="C8854A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× DIGIFYCE</a:t>
            </a:r>
            <a:endParaRPr lang="en-US" sz="2000" dirty="0">
              <a:latin typeface="Franklin Gothic Medium" panose="020B060302010202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65760" y="3703320"/>
            <a:ext cx="2286000" cy="36576"/>
          </a:xfrm>
          <a:prstGeom prst="rect">
            <a:avLst/>
          </a:prstGeom>
          <a:solidFill>
            <a:srgbClr val="C8854A"/>
          </a:solidFill>
          <a:ln w="12700">
            <a:solidFill>
              <a:srgbClr val="C885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38404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ECD7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Digital Growth Strategy 2026</a:t>
            </a:r>
            <a:endParaRPr lang="en-US" sz="1300" dirty="0">
              <a:latin typeface="Franklin Gothic Medium" panose="020B06030201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65760" y="62179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Presented by Digifyce  ·  May 2026  ·  Confidential</a:t>
            </a:r>
            <a:endParaRPr lang="en-US" sz="1000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029200" y="45720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8854A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THREE GROWTH VERTICALS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5029200" y="1005840"/>
            <a:ext cx="6766560" cy="1325880"/>
          </a:xfrm>
          <a:prstGeom prst="rect">
            <a:avLst/>
          </a:prstGeom>
          <a:solidFill>
            <a:srgbClr val="4A2000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1417320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989320" y="123444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ECD7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Offline Café Expansion</a:t>
            </a:r>
            <a:endParaRPr lang="en-US" sz="1500" dirty="0">
              <a:latin typeface="Franklin Gothic Medium" panose="020B0603020102020204" pitchFamily="34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5989320" y="1627632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9 outlets → Brand visibility &amp; local positioning</a:t>
            </a:r>
            <a:endParaRPr lang="en-US" sz="1100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5029200" y="2560320"/>
            <a:ext cx="6766560" cy="1325880"/>
          </a:xfrm>
          <a:prstGeom prst="rect">
            <a:avLst/>
          </a:prstGeom>
          <a:solidFill>
            <a:srgbClr val="4A2000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0" y="297180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989320" y="27889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ECD7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D2C Coffee Brand</a:t>
            </a:r>
            <a:endParaRPr lang="en-US" sz="1500" dirty="0">
              <a:latin typeface="Franklin Gothic Medium" panose="020B0603020102020204" pitchFamily="34" charset="0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5989320" y="3182112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Own-manufactured coffee → South India e-commerce scale</a:t>
            </a:r>
            <a:endParaRPr lang="en-US" sz="1100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5029200" y="4114800"/>
            <a:ext cx="6766560" cy="1325880"/>
          </a:xfrm>
          <a:prstGeom prst="rect">
            <a:avLst/>
          </a:prstGeom>
          <a:solidFill>
            <a:srgbClr val="4A2000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0" y="4526280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989320" y="434340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ECD7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Vending Machine B2B</a:t>
            </a:r>
            <a:endParaRPr lang="en-US" sz="1500" dirty="0">
              <a:latin typeface="Franklin Gothic Medium" panose="020B0603020102020204" pitchFamily="34" charset="0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5989320" y="4736592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20+ placements → Lead gen &amp; conversion acceleration</a:t>
            </a:r>
            <a:endParaRPr lang="en-US" sz="1100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5029200" y="649224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Confidential @ Digifyce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46888"/>
            <a:ext cx="54864" cy="292608"/>
          </a:xfrm>
          <a:prstGeom prst="rect">
            <a:avLst/>
          </a:prstGeom>
          <a:solidFill>
            <a:srgbClr val="C8854A"/>
          </a:solidFill>
          <a:ln w="12700">
            <a:solidFill>
              <a:srgbClr val="C885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8854A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ABOUT DIGIFYCE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0A00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We Don't Just Run Ads. We Build Revenue Machines.</a:t>
            </a:r>
            <a:endParaRPr lang="en-US" sz="2800" dirty="0">
              <a:latin typeface="Franklin Gothic Medium" panose="020B06030201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2560320" cy="1371600"/>
          </a:xfrm>
          <a:prstGeom prst="rect">
            <a:avLst/>
          </a:prstGeom>
          <a:solidFill>
            <a:srgbClr val="1A0A00"/>
          </a:solidFill>
          <a:ln w="12700">
            <a:solidFill>
              <a:srgbClr val="1A0A0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55448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8854A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30+</a:t>
            </a:r>
            <a:endParaRPr lang="en-US" sz="2800" dirty="0">
              <a:latin typeface="Franklin Gothic Medium" panose="020B06030201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2240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ECD7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100" dirty="0">
              <a:latin typeface="Franklin Gothic Medium" panose="020B06030201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200400" y="1417320"/>
            <a:ext cx="2560320" cy="1371600"/>
          </a:xfrm>
          <a:prstGeom prst="rect">
            <a:avLst/>
          </a:prstGeom>
          <a:solidFill>
            <a:srgbClr val="1A0A00"/>
          </a:solidFill>
          <a:ln w="12700">
            <a:solidFill>
              <a:srgbClr val="1A0A0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55448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8854A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800" dirty="0">
              <a:latin typeface="Franklin Gothic Medium" panose="020B06030201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200400" y="2240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ECD7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Countries Active</a:t>
            </a:r>
            <a:endParaRPr lang="en-US" sz="1100" dirty="0">
              <a:latin typeface="Franklin Gothic Medium" panose="020B06030201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035040" y="1417320"/>
            <a:ext cx="2560320" cy="1371600"/>
          </a:xfrm>
          <a:prstGeom prst="rect">
            <a:avLst/>
          </a:prstGeom>
          <a:solidFill>
            <a:srgbClr val="1A0A00"/>
          </a:solidFill>
          <a:ln w="12700">
            <a:solidFill>
              <a:srgbClr val="1A0A0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35040" y="155448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8854A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100M+</a:t>
            </a:r>
            <a:endParaRPr lang="en-US" sz="2800" dirty="0">
              <a:latin typeface="Franklin Gothic Medium" panose="020B06030201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035040" y="2240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ECD7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Revenue Generated</a:t>
            </a:r>
            <a:endParaRPr lang="en-US" sz="1100" dirty="0">
              <a:latin typeface="Franklin Gothic Medium" panose="020B06030201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869680" y="1417320"/>
            <a:ext cx="2560320" cy="1371600"/>
          </a:xfrm>
          <a:prstGeom prst="rect">
            <a:avLst/>
          </a:prstGeom>
          <a:solidFill>
            <a:srgbClr val="1A0A00"/>
          </a:solidFill>
          <a:ln w="12700">
            <a:solidFill>
              <a:srgbClr val="1A0A0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869680" y="155448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8854A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150+</a:t>
            </a:r>
            <a:endParaRPr lang="en-US" sz="2800" dirty="0">
              <a:latin typeface="Franklin Gothic Medium" panose="020B06030201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869680" y="2240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ECD7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Certifications</a:t>
            </a:r>
            <a:endParaRPr lang="en-US" sz="1100" dirty="0">
              <a:latin typeface="Franklin Gothic Medium" panose="020B06030201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65760" y="297180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4A3B8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CERTIFIED PARTNER OF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65760" y="3291840"/>
            <a:ext cx="2697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" y="347472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0A00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Google Partner</a:t>
            </a:r>
            <a:endParaRPr lang="en-US" sz="1100" dirty="0">
              <a:latin typeface="Franklin Gothic Medium" panose="020B06030201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02920" y="393192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10K+ Campaigns · 500K+ Conversions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200400" y="3291840"/>
            <a:ext cx="2697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337560" y="347472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0A00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Meta Business Partner</a:t>
            </a:r>
            <a:endParaRPr lang="en-US" sz="1100" dirty="0">
              <a:latin typeface="Franklin Gothic Medium" panose="020B06030201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337560" y="393192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20K+ Campaigns · 1M+ Conversions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035040" y="3291840"/>
            <a:ext cx="2697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172200" y="347472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0A00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Amazon Ads Verified</a:t>
            </a:r>
            <a:endParaRPr lang="en-US" sz="1100" dirty="0">
              <a:latin typeface="Franklin Gothic Medium" panose="020B06030201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172200" y="393192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2K+ Campaigns · 300K+ Conversions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8869680" y="3291840"/>
            <a:ext cx="2697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006840" y="347472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0A00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HubSpot Certified</a:t>
            </a:r>
            <a:endParaRPr lang="en-US" sz="1100" dirty="0">
              <a:latin typeface="Franklin Gothic Medium" panose="020B06030201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9006840" y="393192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200+ Campaigns · 1000+ Hrs Saved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365760" y="4937760"/>
            <a:ext cx="11430000" cy="1554480"/>
          </a:xfrm>
          <a:prstGeom prst="rect">
            <a:avLst/>
          </a:prstGeom>
          <a:solidFill>
            <a:srgbClr val="1A0A00"/>
          </a:solidFill>
          <a:ln w="12700">
            <a:solidFill>
              <a:srgbClr val="1A0A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5074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854A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Proven Results Relevant to Kaapi Stop:</a:t>
            </a:r>
            <a:endParaRPr lang="en-US" sz="1100" dirty="0">
              <a:latin typeface="Franklin Gothic Medium" panose="020B0603020102020204" pitchFamily="34" charset="0"/>
            </a:endParaRPr>
          </a:p>
        </p:txBody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440680"/>
            <a:ext cx="201168" cy="201168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914400" y="539496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ECD7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Singapore Real Estate Agent — 8× close rate improvement, 200% drop in cost per lead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715000"/>
            <a:ext cx="201168" cy="201168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914400" y="566928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ECD7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Immigas USA — Zero to 1,000+ enquiries/month at 25% closure rate in 90 days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pic>
        <p:nvPicPr>
          <p:cNvPr id="3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989320"/>
            <a:ext cx="201168" cy="201168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914400" y="59436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ECD7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Coimbatore Educational Institution — 705 hot leads, 52% conversion in 3 months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38" name="Text 33"/>
          <p:cNvSpPr/>
          <p:nvPr/>
        </p:nvSpPr>
        <p:spPr>
          <a:xfrm>
            <a:off x="0" y="6583680"/>
            <a:ext cx="1216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Confidential @ Digifyce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46888"/>
            <a:ext cx="54864" cy="292608"/>
          </a:xfrm>
          <a:prstGeom prst="rect">
            <a:avLst/>
          </a:prstGeom>
          <a:solidFill>
            <a:srgbClr val="C8854A"/>
          </a:solidFill>
          <a:ln w="12700">
            <a:solidFill>
              <a:srgbClr val="C885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8854A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BRAND OVERVIEW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0A00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Kaapi Stop — A Great Brand Waiting to Be Discovered</a:t>
            </a:r>
            <a:endParaRPr lang="en-US" sz="2800" dirty="0">
              <a:latin typeface="Franklin Gothic Medium" panose="020B06030201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0A00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Who They Are</a:t>
            </a:r>
            <a:endParaRPr lang="en-US" sz="1300" dirty="0">
              <a:latin typeface="Franklin Gothic Medium" panose="020B06030201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65760" y="1783080"/>
            <a:ext cx="5394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2024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0A00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9 Outlets</a:t>
            </a:r>
            <a:endParaRPr lang="en-US" sz="1100" dirty="0">
              <a:latin typeface="Franklin Gothic Medium" panose="020B06030201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960120" y="21214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Strong offline café presence across Tamil Nadu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365760" y="2651760"/>
            <a:ext cx="5394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8892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60120" y="2697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0A00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Own Estate</a:t>
            </a:r>
            <a:endParaRPr lang="en-US" sz="1100" dirty="0">
              <a:latin typeface="Franklin Gothic Medium" panose="020B0603020102020204" pitchFamily="34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960120" y="2990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Farm-to-cup coffee — own-manufactured, 3 signature blends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365760" y="3520440"/>
            <a:ext cx="5394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5760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60120" y="3566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0A00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20+ Vending Machines</a:t>
            </a:r>
            <a:endParaRPr lang="en-US" sz="1100" dirty="0">
              <a:latin typeface="Franklin Gothic Medium" panose="020B0603020102020204" pitchFamily="34" charset="0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960120" y="38587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Placed in corporate clients across South India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365760" y="4389120"/>
            <a:ext cx="5394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26280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60120" y="4434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0A00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D2C Website</a:t>
            </a:r>
            <a:endParaRPr lang="en-US" sz="1100" dirty="0">
              <a:latin typeface="Franklin Gothic Medium" panose="020B0603020102020204" pitchFamily="34" charset="0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960120" y="47274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kaapistop.com — functional but underutilised for sales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22" name="Shape 16"/>
          <p:cNvSpPr/>
          <p:nvPr/>
        </p:nvSpPr>
        <p:spPr>
          <a:xfrm>
            <a:off x="365760" y="5257800"/>
            <a:ext cx="5394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394960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60120" y="5303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0A00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Spices &amp; Snacks</a:t>
            </a:r>
            <a:endParaRPr lang="en-US" sz="1100" dirty="0">
              <a:latin typeface="Franklin Gothic Medium" panose="020B0603020102020204" pitchFamily="34" charset="0"/>
            </a:endParaRPr>
          </a:p>
        </p:txBody>
      </p:sp>
      <p:sp>
        <p:nvSpPr>
          <p:cNvPr id="25" name="Text 18"/>
          <p:cNvSpPr/>
          <p:nvPr/>
        </p:nvSpPr>
        <p:spPr>
          <a:xfrm>
            <a:off x="960120" y="55961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Diversified product portfolio beyond coffee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26" name="Text 19"/>
          <p:cNvSpPr/>
          <p:nvPr/>
        </p:nvSpPr>
        <p:spPr>
          <a:xfrm>
            <a:off x="6217920" y="141732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0A00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The Problem Statement</a:t>
            </a:r>
            <a:endParaRPr lang="en-US" sz="1300" dirty="0">
              <a:latin typeface="Franklin Gothic Medium" panose="020B0603020102020204" pitchFamily="34" charset="0"/>
            </a:endParaRPr>
          </a:p>
        </p:txBody>
      </p:sp>
      <p:sp>
        <p:nvSpPr>
          <p:cNvPr id="27" name="Shape 20"/>
          <p:cNvSpPr/>
          <p:nvPr/>
        </p:nvSpPr>
        <p:spPr>
          <a:xfrm>
            <a:off x="6217920" y="1783080"/>
            <a:ext cx="5577840" cy="1389888"/>
          </a:xfrm>
          <a:prstGeom prst="rect">
            <a:avLst/>
          </a:prstGeom>
          <a:solidFill>
            <a:srgbClr val="FFF5EC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1874520"/>
            <a:ext cx="457200" cy="45720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7040880" y="1828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2000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Offline Visibility</a:t>
            </a:r>
            <a:endParaRPr lang="en-US" sz="1200" dirty="0">
              <a:latin typeface="Franklin Gothic Medium" panose="020B0603020102020204" pitchFamily="34" charset="0"/>
            </a:endParaRPr>
          </a:p>
        </p:txBody>
      </p:sp>
      <p:sp>
        <p:nvSpPr>
          <p:cNvPr id="30" name="Text 22"/>
          <p:cNvSpPr/>
          <p:nvPr/>
        </p:nvSpPr>
        <p:spPr>
          <a:xfrm>
            <a:off x="7040880" y="2176272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9 stores with no centralised digital positioning — each outlet is invisible to nearby audiences searching online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31" name="Shape 23"/>
          <p:cNvSpPr/>
          <p:nvPr/>
        </p:nvSpPr>
        <p:spPr>
          <a:xfrm>
            <a:off x="6217920" y="3337560"/>
            <a:ext cx="5577840" cy="1389888"/>
          </a:xfrm>
          <a:prstGeom prst="rect">
            <a:avLst/>
          </a:prstGeom>
          <a:solidFill>
            <a:srgbClr val="FFF5EC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3429000"/>
            <a:ext cx="457200" cy="45720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7040880" y="3383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2000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D2C Sales Gap</a:t>
            </a:r>
            <a:endParaRPr lang="en-US" sz="1200" dirty="0">
              <a:latin typeface="Franklin Gothic Medium" panose="020B0603020102020204" pitchFamily="34" charset="0"/>
            </a:endParaRPr>
          </a:p>
        </p:txBody>
      </p:sp>
      <p:sp>
        <p:nvSpPr>
          <p:cNvPr id="34" name="Text 25"/>
          <p:cNvSpPr/>
          <p:nvPr/>
        </p:nvSpPr>
        <p:spPr>
          <a:xfrm>
            <a:off x="7040880" y="3730752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Poor website UX + zero digital marketing = minimal online revenue despite owning a differentiated product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35" name="Shape 26"/>
          <p:cNvSpPr/>
          <p:nvPr/>
        </p:nvSpPr>
        <p:spPr>
          <a:xfrm>
            <a:off x="6217920" y="4892040"/>
            <a:ext cx="5577840" cy="1389888"/>
          </a:xfrm>
          <a:prstGeom prst="rect">
            <a:avLst/>
          </a:prstGeom>
          <a:solidFill>
            <a:srgbClr val="FFF5EC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4983480"/>
            <a:ext cx="457200" cy="457200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7040880" y="4937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2000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Vending B2B Stall</a:t>
            </a:r>
            <a:endParaRPr lang="en-US" sz="1200" dirty="0">
              <a:latin typeface="Franklin Gothic Medium" panose="020B0603020102020204" pitchFamily="34" charset="0"/>
            </a:endParaRPr>
          </a:p>
        </p:txBody>
      </p:sp>
      <p:sp>
        <p:nvSpPr>
          <p:cNvPr id="38" name="Text 28"/>
          <p:cNvSpPr/>
          <p:nvPr/>
        </p:nvSpPr>
        <p:spPr>
          <a:xfrm>
            <a:off x="7040880" y="5285232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Lead conversion stuck at 2% — traditional Meta → Google Sheets → calls cycle with no CRM or nurture system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39" name="Text 29"/>
          <p:cNvSpPr/>
          <p:nvPr/>
        </p:nvSpPr>
        <p:spPr>
          <a:xfrm>
            <a:off x="0" y="6583680"/>
            <a:ext cx="1216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Confidential @ Digifyce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097280"/>
            <a:ext cx="3200400" cy="3200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91440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0" b="1" i="0" u="none" strike="noStrike" kern="1200" cap="none" spc="0" normalizeH="0" baseline="0" noProof="0" dirty="0">
                <a:ln>
                  <a:noFill/>
                </a:ln>
                <a:solidFill>
                  <a:srgbClr val="4A2000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01</a:t>
            </a:r>
            <a:endParaRPr kumimoji="0" lang="en-US" sz="10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40080" y="320040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5ECD7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VENDING MACHINE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5ECD7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B2B LEAD ENGINE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40080" y="47548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6A34A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From 2% Conversion → 15%+ · Full Digital-to-CRM Lead Lifecycle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0" y="6583680"/>
            <a:ext cx="1216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Confidential @ Digifyce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56837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46888"/>
            <a:ext cx="54864" cy="292608"/>
          </a:xfrm>
          <a:prstGeom prst="rect">
            <a:avLst/>
          </a:prstGeom>
          <a:solidFill>
            <a:srgbClr val="C8854A"/>
          </a:solidFill>
          <a:ln w="12700">
            <a:solidFill>
              <a:srgbClr val="C885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300" normalizeH="0" baseline="0" noProof="0" dirty="0">
                <a:ln>
                  <a:noFill/>
                </a:ln>
                <a:solidFill>
                  <a:srgbClr val="C8854A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VERTICAL 03 — VENDING MACHINE B2B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A0A00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Current State vs. Digifyce-Powered State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349240" cy="507492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54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CURRENT STATE ⚠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✕  Meta Lead Gen Ad → Google Sheets capture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2496312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✕  Manual call follow-up (delayed, inconsistent)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3026664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✕  No CRM — leads fall through the cracks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48640" y="355701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✕  No lead scoring — hot and cold treated equally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48640" y="4087368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✕  No nurture sequence — one touch and done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48640" y="461772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✕  No WhatsApp automation — manual messages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48640" y="5148072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✕  2% lead-to-close conversion rate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48640" y="5678424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✕  Slow expansion — 20 machines in months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446520" y="1417320"/>
            <a:ext cx="5349240" cy="507492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1554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6A34A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DIGIFYCE-POWERED STATE ✓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029968"/>
            <a:ext cx="201168" cy="20116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903720" y="199339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6A34A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Multi-channel lead gen: Meta + Google + LinkedIn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560320"/>
            <a:ext cx="201168" cy="20116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903720" y="2523744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6A34A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Instant WhatsApp auto-response (Interakt/WATI)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3090672"/>
            <a:ext cx="201168" cy="20116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903720" y="3054096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6A34A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GoHighLevel / HubSpot CRM — all leads tracked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3621024"/>
            <a:ext cx="201168" cy="20116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903720" y="358444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6A34A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Lead scoring engine — prioritise hot leads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4151376"/>
            <a:ext cx="201168" cy="20116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903720" y="411480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6A34A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7-day email + WhatsApp nurture sequence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4681728"/>
            <a:ext cx="201168" cy="20116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903720" y="464515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6A34A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AI chatbot qualifier on landing page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5212080"/>
            <a:ext cx="201168" cy="201168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903720" y="5175504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6A34A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Target: 12–18% lead-to-close conversion rate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5742432"/>
            <a:ext cx="201168" cy="201168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6903720" y="5705856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6A34A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Goal: 5 new corporate installations per month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33" name="Shape 23"/>
          <p:cNvSpPr/>
          <p:nvPr/>
        </p:nvSpPr>
        <p:spPr>
          <a:xfrm>
            <a:off x="5733288" y="3474720"/>
            <a:ext cx="658368" cy="658368"/>
          </a:xfrm>
          <a:prstGeom prst="rect">
            <a:avLst/>
          </a:prstGeom>
          <a:solidFill>
            <a:srgbClr val="1A0A00"/>
          </a:solidFill>
          <a:ln w="12700">
            <a:solidFill>
              <a:srgbClr val="1A0A00"/>
            </a:solidFill>
            <a:prstDash val="solid"/>
          </a:ln>
        </p:spPr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8152" y="3538728"/>
            <a:ext cx="530352" cy="530352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0" y="6583680"/>
            <a:ext cx="1216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Confidential @ Digifyce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2672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46888"/>
            <a:ext cx="54864" cy="292608"/>
          </a:xfrm>
          <a:prstGeom prst="rect">
            <a:avLst/>
          </a:prstGeom>
          <a:solidFill>
            <a:srgbClr val="C8854A"/>
          </a:solidFill>
          <a:ln w="12700">
            <a:solidFill>
              <a:srgbClr val="C885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300" normalizeH="0" baseline="0" noProof="0" dirty="0">
                <a:ln>
                  <a:noFill/>
                </a:ln>
                <a:solidFill>
                  <a:srgbClr val="C8854A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VERTICAL 03 — VENDING MACHINE B2B · LEAD ARCHITECTURE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A0A00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Full-Funnel B2B Lead Generation &amp; Nurture System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LEAD GENERATION SOURCES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26517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2880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8105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A0A00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Meta Lead Gen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548640" y="224028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Decision maker targeting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HR Managers, Ops Heads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3200400" y="1737360"/>
            <a:ext cx="26517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182880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40480" y="18105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A0A00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Google Search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3383280" y="224028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'coffee vending machine'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'office coffee machine'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6035040" y="1737360"/>
            <a:ext cx="26517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182880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675120" y="18105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A0A00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LinkedIn Outreach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6217920" y="224028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Sales Navigator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HR/Facility Manager titles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8869680" y="1737360"/>
            <a:ext cx="26517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0" y="1828800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509760" y="18105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A0A00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Email Outreach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9052560" y="224028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Cold + warm database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Personalised sequences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22" name="Shape 16"/>
          <p:cNvSpPr/>
          <p:nvPr/>
        </p:nvSpPr>
        <p:spPr>
          <a:xfrm>
            <a:off x="5806440" y="3063240"/>
            <a:ext cx="548640" cy="274320"/>
          </a:xfrm>
          <a:prstGeom prst="rect">
            <a:avLst/>
          </a:prstGeom>
          <a:solidFill>
            <a:srgbClr val="C8854A"/>
          </a:solidFill>
          <a:ln w="12700">
            <a:solidFill>
              <a:srgbClr val="C8854A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806440" y="3044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365760" y="3401568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QUALIFICATION &amp; NURTURE PIPELINE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25" name="Shape 19"/>
          <p:cNvSpPr/>
          <p:nvPr/>
        </p:nvSpPr>
        <p:spPr>
          <a:xfrm>
            <a:off x="365760" y="3730752"/>
            <a:ext cx="2651760" cy="2560320"/>
          </a:xfrm>
          <a:prstGeom prst="rect">
            <a:avLst/>
          </a:prstGeom>
          <a:solidFill>
            <a:srgbClr val="1A0A00"/>
          </a:solidFill>
          <a:ln w="12700">
            <a:solidFill>
              <a:srgbClr val="1A0A00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365760" y="3794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C8854A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1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27" name="Text 21"/>
          <p:cNvSpPr/>
          <p:nvPr/>
        </p:nvSpPr>
        <p:spPr>
          <a:xfrm>
            <a:off x="502920" y="42976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Lead Captured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28" name="Text 22"/>
          <p:cNvSpPr/>
          <p:nvPr/>
        </p:nvSpPr>
        <p:spPr>
          <a:xfrm>
            <a:off x="502920" y="480060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5ECD7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All sources auto-captured into CRM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5ECD7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Persona tagged · Source tagged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29" name="Shape 23"/>
          <p:cNvSpPr/>
          <p:nvPr/>
        </p:nvSpPr>
        <p:spPr>
          <a:xfrm>
            <a:off x="3200400" y="3730752"/>
            <a:ext cx="2651760" cy="2560320"/>
          </a:xfrm>
          <a:prstGeom prst="rect">
            <a:avLst/>
          </a:prstGeom>
          <a:solidFill>
            <a:srgbClr val="4A2000"/>
          </a:solidFill>
          <a:ln w="12700">
            <a:solidFill>
              <a:srgbClr val="4A2000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3200400" y="3794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C8854A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2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31" name="Text 25"/>
          <p:cNvSpPr/>
          <p:nvPr/>
        </p:nvSpPr>
        <p:spPr>
          <a:xfrm>
            <a:off x="3337560" y="42976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WhatsApp Qualifier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32" name="Text 26"/>
          <p:cNvSpPr/>
          <p:nvPr/>
        </p:nvSpPr>
        <p:spPr>
          <a:xfrm>
            <a:off x="3337560" y="480060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5ECD7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Instant WA message → qualify need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5ECD7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Company size, timeline, budget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33" name="Shape 27"/>
          <p:cNvSpPr/>
          <p:nvPr/>
        </p:nvSpPr>
        <p:spPr>
          <a:xfrm>
            <a:off x="6035040" y="3730752"/>
            <a:ext cx="2651760" cy="2560320"/>
          </a:xfrm>
          <a:prstGeom prst="rect">
            <a:avLst/>
          </a:prstGeom>
          <a:solidFill>
            <a:srgbClr val="007C77"/>
          </a:solidFill>
          <a:ln w="12700">
            <a:solidFill>
              <a:srgbClr val="007C77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6035040" y="3794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C8854A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35" name="Text 29"/>
          <p:cNvSpPr/>
          <p:nvPr/>
        </p:nvSpPr>
        <p:spPr>
          <a:xfrm>
            <a:off x="6172200" y="42976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Lead Score Assigned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36" name="Text 30"/>
          <p:cNvSpPr/>
          <p:nvPr/>
        </p:nvSpPr>
        <p:spPr>
          <a:xfrm>
            <a:off x="6172200" y="480060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5ECD7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60+ = Hot lead → sales call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5ECD7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&lt;60 = Enter 7-day email + WA drip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37" name="Shape 31"/>
          <p:cNvSpPr/>
          <p:nvPr/>
        </p:nvSpPr>
        <p:spPr>
          <a:xfrm>
            <a:off x="8869680" y="3730752"/>
            <a:ext cx="2651760" cy="2560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8869680" y="3794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C8854A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4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39" name="Text 33"/>
          <p:cNvSpPr/>
          <p:nvPr/>
        </p:nvSpPr>
        <p:spPr>
          <a:xfrm>
            <a:off x="9006840" y="42976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Sales Handoff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40" name="Text 34"/>
          <p:cNvSpPr/>
          <p:nvPr/>
        </p:nvSpPr>
        <p:spPr>
          <a:xfrm>
            <a:off x="9006840" y="480060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5ECD7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SQL → Discovery call booked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5ECD7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Proposal → Installation agreement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41" name="Shape 35"/>
          <p:cNvSpPr/>
          <p:nvPr/>
        </p:nvSpPr>
        <p:spPr>
          <a:xfrm>
            <a:off x="3063240" y="4892040"/>
            <a:ext cx="320040" cy="201168"/>
          </a:xfrm>
          <a:prstGeom prst="rect">
            <a:avLst/>
          </a:prstGeom>
          <a:solidFill>
            <a:srgbClr val="C8854A"/>
          </a:solidFill>
          <a:ln w="12700">
            <a:solidFill>
              <a:srgbClr val="C8854A"/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5897880" y="4892040"/>
            <a:ext cx="320040" cy="201168"/>
          </a:xfrm>
          <a:prstGeom prst="rect">
            <a:avLst/>
          </a:prstGeom>
          <a:solidFill>
            <a:srgbClr val="C8854A"/>
          </a:solidFill>
          <a:ln w="12700">
            <a:solidFill>
              <a:srgbClr val="C8854A"/>
            </a:solidFill>
            <a:prstDash val="solid"/>
          </a:ln>
        </p:spPr>
      </p:sp>
      <p:sp>
        <p:nvSpPr>
          <p:cNvPr id="43" name="Shape 37"/>
          <p:cNvSpPr/>
          <p:nvPr/>
        </p:nvSpPr>
        <p:spPr>
          <a:xfrm>
            <a:off x="8732520" y="4892040"/>
            <a:ext cx="320040" cy="201168"/>
          </a:xfrm>
          <a:prstGeom prst="rect">
            <a:avLst/>
          </a:prstGeom>
          <a:solidFill>
            <a:srgbClr val="C8854A"/>
          </a:solidFill>
          <a:ln w="12700">
            <a:solidFill>
              <a:srgbClr val="C8854A"/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0" y="6583680"/>
            <a:ext cx="1216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Confidential @ Digifyce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1039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46888"/>
            <a:ext cx="54864" cy="292608"/>
          </a:xfrm>
          <a:prstGeom prst="rect">
            <a:avLst/>
          </a:prstGeom>
          <a:solidFill>
            <a:srgbClr val="C8854A"/>
          </a:solidFill>
          <a:ln w="12700">
            <a:solidFill>
              <a:srgbClr val="C885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300" normalizeH="0" baseline="0" noProof="0" dirty="0">
                <a:ln>
                  <a:noFill/>
                </a:ln>
                <a:solidFill>
                  <a:srgbClr val="C8854A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VERTICAL 03 — VENDING MACHINE B2B · PERSONA &amp; KEYWORDS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A0A00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Who Buys Coffee Vending Machines — And Where to Find Them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9436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53619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A0A00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HR Manager / Admin Head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4A2000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Target: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325880" y="19202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IT Companies, Corporates 200+ staff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225856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4A2000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Pain: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325880" y="225856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Employee coffee experience, cost vs quality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48640" y="259689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4A2000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Hook: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325880" y="259689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Premium managed service, zero maintenance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65760" y="3108960"/>
            <a:ext cx="59436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322783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A0A00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Facility / Operations Manager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48640" y="3611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4A2000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Target: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325880" y="36118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Mfg plants, Hospitals, Institutions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48640" y="39502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4A2000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Pain: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325880" y="39502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Bulk coffee logistics are expensive &amp; messy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48640" y="428853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4A2000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Hook: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325880" y="428853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Fixed monthly cost, own estate quality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65760" y="4800600"/>
            <a:ext cx="59436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8640" y="491947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A0A00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Business Owner / CEO (SME)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48640" y="5303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4A2000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Target: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325880" y="53035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Offices 20–100 staff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48640" y="564184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4A2000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Pain: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325880" y="564184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Can't afford a dedicated pantry / canteen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48640" y="598017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4A2000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Hook: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325880" y="598017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Professional setup at fraction of canteen cost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675120" y="1417320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B2B KEYWORD CLUSTERS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graphicFrame>
        <p:nvGraphicFramePr>
          <p:cNvPr id="30" name="Table 0"/>
          <p:cNvGraphicFramePr>
            <a:graphicFrameLocks noGrp="1"/>
          </p:cNvGraphicFramePr>
          <p:nvPr/>
        </p:nvGraphicFramePr>
        <p:xfrm>
          <a:off x="6675120" y="1737360"/>
          <a:ext cx="5212080" cy="34747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Keyword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Vol/mo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coffee vending machine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5,400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office coffee machine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vending machine for office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coffee machine rent for office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coffee vending service India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automatic coffee machine B2B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coffee machine lease corporate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vending machine manufacturer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instant coffee machine office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1" name="Shape 28"/>
          <p:cNvSpPr/>
          <p:nvPr/>
        </p:nvSpPr>
        <p:spPr>
          <a:xfrm>
            <a:off x="365760" y="6446520"/>
            <a:ext cx="11430000" cy="54864"/>
          </a:xfrm>
          <a:prstGeom prst="rect">
            <a:avLst/>
          </a:prstGeom>
          <a:solidFill>
            <a:srgbClr val="C8854A"/>
          </a:solidFill>
          <a:ln w="12700">
            <a:solidFill>
              <a:srgbClr val="C8854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0" y="6583680"/>
            <a:ext cx="1216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Confidential @ Digifyce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73464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46888"/>
            <a:ext cx="54864" cy="292608"/>
          </a:xfrm>
          <a:prstGeom prst="rect">
            <a:avLst/>
          </a:prstGeom>
          <a:solidFill>
            <a:srgbClr val="C8854A"/>
          </a:solidFill>
          <a:ln w="12700">
            <a:solidFill>
              <a:srgbClr val="C885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300" normalizeH="0" baseline="0" noProof="0" dirty="0">
                <a:ln>
                  <a:noFill/>
                </a:ln>
                <a:solidFill>
                  <a:srgbClr val="C8854A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ALL VERTICALS — MARKETING AUTOMATION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A0A00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Lead Scoring &amp; Drip Marketing — The Digifyce System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669280" cy="566928"/>
          </a:xfrm>
          <a:prstGeom prst="rect">
            <a:avLst/>
          </a:prstGeom>
          <a:solidFill>
            <a:srgbClr val="1A0A00"/>
          </a:solidFill>
          <a:ln w="12700">
            <a:solidFill>
              <a:srgbClr val="1A0A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4475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UNKNOWN VISITOR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02920" y="1719072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5ECD7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IP tracked → City, State, Pin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2834640" y="201168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8854A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65760" y="2075688"/>
            <a:ext cx="5669280" cy="566928"/>
          </a:xfrm>
          <a:prstGeom prst="rect">
            <a:avLst/>
          </a:prstGeom>
          <a:solidFill>
            <a:srgbClr val="4A2000"/>
          </a:solidFill>
          <a:ln w="12700">
            <a:solidFill>
              <a:srgbClr val="4A2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1031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LANDING PAGE / AD FORM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02920" y="237744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5ECD7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Downloads asset or fills enquiry form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834640" y="267004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8854A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65760" y="2734056"/>
            <a:ext cx="5669280" cy="566928"/>
          </a:xfrm>
          <a:prstGeom prst="rect">
            <a:avLst/>
          </a:prstGeom>
          <a:solidFill>
            <a:srgbClr val="007C77"/>
          </a:solidFill>
          <a:ln w="12700">
            <a:solidFill>
              <a:srgbClr val="007C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76148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ENTERS DRIP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02920" y="303580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5ECD7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CRM auto-captures · Persona tagged · Score = +15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834640" y="332841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8854A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65760" y="3392424"/>
            <a:ext cx="5669280" cy="566928"/>
          </a:xfrm>
          <a:prstGeom prst="rect">
            <a:avLst/>
          </a:prstGeom>
          <a:solidFill>
            <a:srgbClr val="4A2000"/>
          </a:solidFill>
          <a:ln w="12700">
            <a:solidFill>
              <a:srgbClr val="4A2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41985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DAY 1 — WELCOME EMAIL + WA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02920" y="3694176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5ECD7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Opens? YES → +7 pts · NO → -3 pts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834640" y="398678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8854A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65760" y="4050792"/>
            <a:ext cx="5669280" cy="566928"/>
          </a:xfrm>
          <a:prstGeom prst="rect">
            <a:avLst/>
          </a:prstGeom>
          <a:solidFill>
            <a:srgbClr val="007C77"/>
          </a:solidFill>
          <a:ln w="12700">
            <a:solidFill>
              <a:srgbClr val="007C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07822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DAY 7 — 2ND TOUCHPOINT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02920" y="4352544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5ECD7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Case study / ROI calculator / offer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2834640" y="46451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8854A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65760" y="4709160"/>
            <a:ext cx="5669280" cy="566928"/>
          </a:xfrm>
          <a:prstGeom prst="rect">
            <a:avLst/>
          </a:prstGeom>
          <a:solidFill>
            <a:srgbClr val="1A0A00"/>
          </a:solidFill>
          <a:ln w="12700">
            <a:solidFill>
              <a:srgbClr val="1A0A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73659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PAGE REVISIT TRACKED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02920" y="5010912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5ECD7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Returns to landing page → +10 pts · Alert to sales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2834640" y="530352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8854A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365760" y="5367528"/>
            <a:ext cx="5669280" cy="5669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53949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SCORE 60+ → SQL HANDOFF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02920" y="566928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5ECD7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Discovery call auto-booked via Calendly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492240" y="141732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LEAD SCORING MODEL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graphicFrame>
        <p:nvGraphicFramePr>
          <p:cNvPr id="33" name="Table 0"/>
          <p:cNvGraphicFramePr>
            <a:graphicFrameLocks noGrp="1"/>
          </p:cNvGraphicFramePr>
          <p:nvPr/>
        </p:nvGraphicFramePr>
        <p:xfrm>
          <a:off x="6492240" y="1737360"/>
          <a:ext cx="5303520" cy="347472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fill / enquiry submitted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opened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link clicked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Landing page visit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WhatsApp reply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Webinar attended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 page viewed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not opened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Threshold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60+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4" name="Text 31"/>
          <p:cNvSpPr/>
          <p:nvPr/>
        </p:nvSpPr>
        <p:spPr>
          <a:xfrm>
            <a:off x="6492240" y="530352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MARTECH STACK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pic>
        <p:nvPicPr>
          <p:cNvPr id="3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5577840"/>
            <a:ext cx="182880" cy="182880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6748272" y="55504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GoHighLevel / HubSpot — CRM Pipeline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pic>
        <p:nvPicPr>
          <p:cNvPr id="3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5806440"/>
            <a:ext cx="182880" cy="182880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6748272" y="57790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ActiveCampaign — Email Drip Sequences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pic>
        <p:nvPicPr>
          <p:cNvPr id="3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6035040"/>
            <a:ext cx="182880" cy="182880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6748272" y="60076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Interakt / WATI — WhatsApp Automation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pic>
        <p:nvPicPr>
          <p:cNvPr id="4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6263640"/>
            <a:ext cx="182880" cy="182880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6748272" y="62362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Hotjar — Heatmaps + Landing Page UX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pic>
        <p:nvPicPr>
          <p:cNvPr id="4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6492240"/>
            <a:ext cx="182880" cy="182880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6748272" y="64648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Tidio AI — Chatbot Lead Qualifier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45" name="Text 37"/>
          <p:cNvSpPr/>
          <p:nvPr/>
        </p:nvSpPr>
        <p:spPr>
          <a:xfrm>
            <a:off x="0" y="6583680"/>
            <a:ext cx="1216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Confidential @ Digifyce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46509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0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097280"/>
            <a:ext cx="3200400" cy="3200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91440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0" b="1" dirty="0">
                <a:solidFill>
                  <a:srgbClr val="4A2000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0" dirty="0">
              <a:latin typeface="Franklin Gothic Medium" panose="020B06030201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40080" y="320040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ECD7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D2C COFFEE</a:t>
            </a:r>
            <a:endParaRPr lang="en-US" sz="3600" dirty="0">
              <a:latin typeface="Franklin Gothic Medium" panose="020B0603020102020204" pitchFamily="34" charset="0"/>
            </a:endParaRPr>
          </a:p>
          <a:p>
            <a:pPr marL="0" indent="0">
              <a:buNone/>
            </a:pPr>
            <a:r>
              <a:rPr lang="en-US" sz="3600" b="1" dirty="0">
                <a:solidFill>
                  <a:srgbClr val="F5ECD7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BRAND SCALE</a:t>
            </a:r>
            <a:endParaRPr lang="en-US" sz="3600" dirty="0">
              <a:latin typeface="Franklin Gothic Medium" panose="020B06030201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40080" y="47548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B4D8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Website · GTM · Meta · Google · Marketplaces · 0 to 7-Figure Revenue</a:t>
            </a:r>
            <a:endParaRPr lang="en-US" sz="1300" dirty="0">
              <a:latin typeface="Franklin Gothic Medium" panose="020B06030201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0" y="6583680"/>
            <a:ext cx="1216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Confidential @ Digifyce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46888"/>
            <a:ext cx="54864" cy="292608"/>
          </a:xfrm>
          <a:prstGeom prst="rect">
            <a:avLst/>
          </a:prstGeom>
          <a:solidFill>
            <a:srgbClr val="C8854A"/>
          </a:solidFill>
          <a:ln w="12700">
            <a:solidFill>
              <a:srgbClr val="C885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8854A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VERTICAL 02 — D2C · MARKET OPPORTUNITY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0A00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The D2C Coffee Market — Why Now is the Right Time</a:t>
            </a:r>
            <a:endParaRPr lang="en-US" sz="2800" dirty="0">
              <a:latin typeface="Franklin Gothic Medium" panose="020B06030201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2651760" cy="1417320"/>
          </a:xfrm>
          <a:prstGeom prst="rect">
            <a:avLst/>
          </a:prstGeom>
          <a:solidFill>
            <a:srgbClr val="1A0A00"/>
          </a:solidFill>
          <a:ln w="12700">
            <a:solidFill>
              <a:srgbClr val="1A0A0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55448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8854A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₹2,800 Cr</a:t>
            </a:r>
            <a:endParaRPr lang="en-US" sz="2800" dirty="0">
              <a:latin typeface="Franklin Gothic Medium" panose="020B06030201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22402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ECD7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India D2C Coffee</a:t>
            </a:r>
            <a:endParaRPr lang="en-US" sz="1100" dirty="0">
              <a:latin typeface="Franklin Gothic Medium" panose="020B0603020102020204" pitchFamily="34" charset="0"/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F5ECD7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market (2024)</a:t>
            </a:r>
            <a:endParaRPr lang="en-US" sz="1100" dirty="0">
              <a:latin typeface="Franklin Gothic Medium" panose="020B06030201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200400" y="1417320"/>
            <a:ext cx="2651760" cy="1417320"/>
          </a:xfrm>
          <a:prstGeom prst="rect">
            <a:avLst/>
          </a:prstGeom>
          <a:solidFill>
            <a:srgbClr val="007C77"/>
          </a:solidFill>
          <a:ln w="12700">
            <a:solidFill>
              <a:srgbClr val="007C77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55448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8854A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27% CAGR</a:t>
            </a:r>
            <a:endParaRPr lang="en-US" sz="2800" dirty="0">
              <a:latin typeface="Franklin Gothic Medium" panose="020B06030201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200400" y="22402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ECD7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Growth rate of</a:t>
            </a:r>
            <a:endParaRPr lang="en-US" sz="1100" dirty="0">
              <a:latin typeface="Franklin Gothic Medium" panose="020B0603020102020204" pitchFamily="34" charset="0"/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F5ECD7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D2C food &amp; bev</a:t>
            </a:r>
            <a:endParaRPr lang="en-US" sz="1100" dirty="0">
              <a:latin typeface="Franklin Gothic Medium" panose="020B06030201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035040" y="1417320"/>
            <a:ext cx="2651760" cy="1417320"/>
          </a:xfrm>
          <a:prstGeom prst="rect">
            <a:avLst/>
          </a:prstGeom>
          <a:solidFill>
            <a:srgbClr val="4A2000"/>
          </a:solidFill>
          <a:ln w="12700">
            <a:solidFill>
              <a:srgbClr val="4A200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35040" y="155448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8854A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68M+</a:t>
            </a:r>
            <a:endParaRPr lang="en-US" sz="2800" dirty="0">
              <a:latin typeface="Franklin Gothic Medium" panose="020B06030201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035040" y="22402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ECD7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Online grocery</a:t>
            </a:r>
            <a:endParaRPr lang="en-US" sz="1100" dirty="0">
              <a:latin typeface="Franklin Gothic Medium" panose="020B0603020102020204" pitchFamily="34" charset="0"/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F5ECD7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shoppers in India</a:t>
            </a:r>
            <a:endParaRPr lang="en-US" sz="1100" dirty="0">
              <a:latin typeface="Franklin Gothic Medium" panose="020B06030201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869680" y="1417320"/>
            <a:ext cx="2651760" cy="1417320"/>
          </a:xfrm>
          <a:prstGeom prst="rect">
            <a:avLst/>
          </a:prstGeom>
          <a:solidFill>
            <a:srgbClr val="C8854A"/>
          </a:solidFill>
          <a:ln w="12700">
            <a:solidFill>
              <a:srgbClr val="C8854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869680" y="155448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8854A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₹380–680</a:t>
            </a:r>
            <a:endParaRPr lang="en-US" sz="2800" dirty="0">
              <a:latin typeface="Franklin Gothic Medium" panose="020B06030201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869680" y="22402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ECD7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Avg online coffee</a:t>
            </a:r>
            <a:endParaRPr lang="en-US" sz="1100" dirty="0">
              <a:latin typeface="Franklin Gothic Medium" panose="020B0603020102020204" pitchFamily="34" charset="0"/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F5ECD7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purchase value</a:t>
            </a:r>
            <a:endParaRPr lang="en-US" sz="1100" dirty="0">
              <a:latin typeface="Franklin Gothic Medium" panose="020B06030201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65760" y="301752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4A3B8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3 KEY BUYER PERSONAS FOR KAAPI STOP D2C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65760" y="3337560"/>
            <a:ext cx="37490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" y="34747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0A00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The Heritage Coffee Lover</a:t>
            </a:r>
            <a:endParaRPr lang="en-US" sz="1200" dirty="0">
              <a:latin typeface="Franklin Gothic Medium" panose="020B06030201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65760" y="3977640"/>
            <a:ext cx="3749040" cy="27432"/>
          </a:xfrm>
          <a:prstGeom prst="rect">
            <a:avLst/>
          </a:prstGeom>
          <a:solidFill>
            <a:srgbClr val="C8854A"/>
          </a:solidFill>
          <a:ln w="12700">
            <a:solidFill>
              <a:srgbClr val="C885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06908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2000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Age: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600200" y="406908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35–60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48640" y="450799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2000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Location: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600200" y="450799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Pan South India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48640" y="494690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2000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Pain Point: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600200" y="494690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Can't find authentic filter coffee quality online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48640" y="53858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2000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Our Hook: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600200" y="538581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Estate-to-cup, no compromise on tradition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48640" y="582472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2000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Channels: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600200" y="582472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Facebook · WhatsApp · Amazon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297680" y="3337560"/>
            <a:ext cx="37490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480560" y="34747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0A00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The Working Professional</a:t>
            </a:r>
            <a:endParaRPr lang="en-US" sz="1200" dirty="0">
              <a:latin typeface="Franklin Gothic Medium" panose="020B0603020102020204" pitchFamily="34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297680" y="3977640"/>
            <a:ext cx="3749040" cy="27432"/>
          </a:xfrm>
          <a:prstGeom prst="rect">
            <a:avLst/>
          </a:prstGeom>
          <a:solidFill>
            <a:srgbClr val="C8854A"/>
          </a:solidFill>
          <a:ln w="12700">
            <a:solidFill>
              <a:srgbClr val="C885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80560" y="406908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2000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Age: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532120" y="406908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25–40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480560" y="450799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2000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Location: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532120" y="450799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Chennai, Bengaluru, Hyderabad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4480560" y="494690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2000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Pain Point: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5532120" y="494690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Premium café quality at home without the price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4480560" y="53858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2000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Our Hook: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5532120" y="538581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Barista-grade at home — 3 distinct roast profiles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4480560" y="582472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2000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Channels: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5532120" y="582472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Instagram · Google · Blinkit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8229600" y="3337560"/>
            <a:ext cx="37490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8412480" y="34747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0A00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The Gift Buyer</a:t>
            </a:r>
            <a:endParaRPr lang="en-US" sz="1200" dirty="0">
              <a:latin typeface="Franklin Gothic Medium" panose="020B0603020102020204" pitchFamily="34" charset="0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8229600" y="3977640"/>
            <a:ext cx="3749040" cy="27432"/>
          </a:xfrm>
          <a:prstGeom prst="rect">
            <a:avLst/>
          </a:prstGeom>
          <a:solidFill>
            <a:srgbClr val="C8854A"/>
          </a:solidFill>
          <a:ln w="12700">
            <a:solidFill>
              <a:srgbClr val="C8854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412480" y="406908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2000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Age: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9464040" y="406908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28–55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8412480" y="450799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2000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Location: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9464040" y="450799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NRI + Tier 1 India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8412480" y="494690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2000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Pain Point: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9464040" y="494690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Can't find premium South Indian gift hampers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8412480" y="53858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2000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Our Hook: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9464040" y="538581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Curated gift boxes — spices + coffee + packaging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8412480" y="582472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2000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Channels: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9464040" y="582472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Meta · Amazon · Corporate Gifting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0" y="6583680"/>
            <a:ext cx="1216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Confidential @ Digifyce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06447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46888"/>
            <a:ext cx="54864" cy="292608"/>
          </a:xfrm>
          <a:prstGeom prst="rect">
            <a:avLst/>
          </a:prstGeom>
          <a:solidFill>
            <a:srgbClr val="C8854A"/>
          </a:solidFill>
          <a:ln w="12700">
            <a:solidFill>
              <a:srgbClr val="C885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8854A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VERTICAL 02 — D2C · 0 TO 7-FIGURE ROADMAP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0A00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From Zero Online Revenue to ₹1 Crore+ Monthly — The Roadmap</a:t>
            </a:r>
            <a:endParaRPr lang="en-US" sz="2800" dirty="0">
              <a:latin typeface="Franklin Gothic Medium" panose="020B06030201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3749040" cy="5074920"/>
          </a:xfrm>
          <a:prstGeom prst="rect">
            <a:avLst/>
          </a:prstGeom>
          <a:solidFill>
            <a:srgbClr val="1A0A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554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8854A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02920" y="18745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2000" dirty="0">
              <a:latin typeface="Franklin Gothic Medium" panose="020B06030201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02920" y="23957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854A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Month 1–2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65760" y="2743200"/>
            <a:ext cx="3749040" cy="27432"/>
          </a:xfrm>
          <a:prstGeom prst="rect">
            <a:avLst/>
          </a:prstGeom>
          <a:solidFill>
            <a:srgbClr val="C8854A">
              <a:alpha val="50000"/>
            </a:srgbClr>
          </a:solidFill>
          <a:ln w="12700">
            <a:solidFill>
              <a:srgbClr val="C8854A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880360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854A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F5ECD7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Website rebuild — theme-based, conversion-first, mobile UX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02920" y="3502152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854A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F5ECD7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Product photography &amp; brand story pages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02920" y="4123944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854A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F5ECD7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GTM setup: GA4, Meta Pixel, Google Tag Manager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02920" y="4745736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854A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F5ECD7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3 persona landing pages (Heritage / Professional / Gift Buyer)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02920" y="5367528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854A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F5ECD7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Value proposition canvas: USP communication per persona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297680" y="1417320"/>
            <a:ext cx="3749040" cy="5074920"/>
          </a:xfrm>
          <a:prstGeom prst="rect">
            <a:avLst/>
          </a:prstGeom>
          <a:solidFill>
            <a:srgbClr val="007C7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34840" y="1554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8854A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434840" y="18745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Activation</a:t>
            </a:r>
            <a:endParaRPr lang="en-US" sz="2000" dirty="0">
              <a:latin typeface="Franklin Gothic Medium" panose="020B06030201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434840" y="23957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854A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Month 2–4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297680" y="2743200"/>
            <a:ext cx="3749040" cy="27432"/>
          </a:xfrm>
          <a:prstGeom prst="rect">
            <a:avLst/>
          </a:prstGeom>
          <a:solidFill>
            <a:srgbClr val="C8854A">
              <a:alpha val="50000"/>
            </a:srgbClr>
          </a:solidFill>
          <a:ln w="12700">
            <a:solidFill>
              <a:srgbClr val="C8854A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34840" y="2880360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854A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F5ECD7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Meta Ads: Awareness + Sales 5X  (South India geo-targeting)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434840" y="3502152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854A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F5ECD7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Google Search: 'buy filter coffee online', 'South Indian coffee gift'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434840" y="4123944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854A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F5ECD7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Amazon &amp; Flipkart listing optimisation + sponsored ads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434840" y="4745736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854A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F5ECD7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WhatsApp catalogue + broadcast for repeat buyers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434840" y="5367528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854A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F5ECD7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Email drip: welcome → product education → offer → review ask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229600" y="1417320"/>
            <a:ext cx="3749040" cy="5074920"/>
          </a:xfrm>
          <a:prstGeom prst="rect">
            <a:avLst/>
          </a:prstGeom>
          <a:solidFill>
            <a:srgbClr val="4A2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66760" y="1554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8854A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366760" y="18745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2000" dirty="0">
              <a:latin typeface="Franklin Gothic Medium" panose="020B06030201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366760" y="23957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854A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Month 4–7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8229600" y="2743200"/>
            <a:ext cx="3749040" cy="27432"/>
          </a:xfrm>
          <a:prstGeom prst="rect">
            <a:avLst/>
          </a:prstGeom>
          <a:solidFill>
            <a:srgbClr val="C8854A">
              <a:alpha val="50000"/>
            </a:srgbClr>
          </a:solidFill>
          <a:ln w="12700">
            <a:solidFill>
              <a:srgbClr val="C8854A">
                <a:alpha val="5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66760" y="2880360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854A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F5ECD7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Performance Max campaigns with ROAS target (4× minimum)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366760" y="3502152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854A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F5ECD7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Blinkit / Zepto / Swiggy Instamart listing for Tier 1 cities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366760" y="4123944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854A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F5ECD7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Influencer seeding: 20 micro-influencers per quarter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366760" y="4745736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854A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F5ECD7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Loyalty + referral engine: existing buyers bring new buyers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8366760" y="5367528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854A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F5ECD7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Monthly revenue target: ₹25L → ₹50L → ₹1Cr trajectory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0" y="6583680"/>
            <a:ext cx="1216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Confidential @ Digifyce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46888"/>
            <a:ext cx="54864" cy="292608"/>
          </a:xfrm>
          <a:prstGeom prst="rect">
            <a:avLst/>
          </a:prstGeom>
          <a:solidFill>
            <a:srgbClr val="C8854A"/>
          </a:solidFill>
          <a:ln w="12700">
            <a:solidFill>
              <a:srgbClr val="C885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8854A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VERTICAL 02 — D2C · CHANNEL STRATEGY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0A00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Multi-Channel Customer Acquisition — D2C Coffee</a:t>
            </a:r>
            <a:endParaRPr lang="en-US" sz="2800" dirty="0">
              <a:latin typeface="Franklin Gothic Medium" panose="020B06030201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37490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5544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8992" y="153619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0A00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Meta Ads</a:t>
            </a:r>
            <a:endParaRPr lang="en-US" sz="1200" dirty="0">
              <a:latin typeface="Franklin Gothic Medium" panose="020B060302010202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66928" y="2029968"/>
            <a:ext cx="1956816" cy="256032"/>
          </a:xfrm>
          <a:prstGeom prst="roundRect">
            <a:avLst>
              <a:gd name="adj" fmla="val 50000"/>
            </a:avLst>
          </a:prstGeom>
          <a:solidFill>
            <a:srgbClr val="1A0A00"/>
          </a:solidFill>
          <a:ln w="12700">
            <a:solidFill>
              <a:srgbClr val="1A0A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2029968"/>
            <a:ext cx="19568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ECD7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Awareness + Lead Gen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66928" y="237744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2000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Audience: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444752" y="23774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South India · 25–55 · Coffee interests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66928" y="277977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2000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Creative: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444752" y="277977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Short reels, carousel — 3 persona hooks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566928" y="318211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2000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KPI: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444752" y="318211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CPA &lt; ₹100 target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4297680" y="1417320"/>
            <a:ext cx="37490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8848" y="1554480"/>
            <a:ext cx="411480" cy="4114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010912" y="153619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0A00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Google Search</a:t>
            </a:r>
            <a:endParaRPr lang="en-US" sz="1200" dirty="0">
              <a:latin typeface="Franklin Gothic Medium" panose="020B0603020102020204" pitchFamily="34" charset="0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4498848" y="2029968"/>
            <a:ext cx="1452067" cy="256032"/>
          </a:xfrm>
          <a:prstGeom prst="roundRect">
            <a:avLst>
              <a:gd name="adj" fmla="val 50000"/>
            </a:avLst>
          </a:prstGeom>
          <a:solidFill>
            <a:srgbClr val="1A0A00"/>
          </a:solidFill>
          <a:ln w="12700">
            <a:solidFill>
              <a:srgbClr val="1A0A0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498848" y="2029968"/>
            <a:ext cx="145206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ECD7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Intent Capture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4498848" y="237744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2000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Audience: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5376672" y="23774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High-intent buyers searching to buy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23" name="Text 19"/>
          <p:cNvSpPr/>
          <p:nvPr/>
        </p:nvSpPr>
        <p:spPr>
          <a:xfrm>
            <a:off x="4498848" y="277977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2000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Creative: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5376672" y="277977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RSA + Display Remarketing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25" name="Text 21"/>
          <p:cNvSpPr/>
          <p:nvPr/>
        </p:nvSpPr>
        <p:spPr>
          <a:xfrm>
            <a:off x="4498848" y="318211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2000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KPI: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26" name="Text 22"/>
          <p:cNvSpPr/>
          <p:nvPr/>
        </p:nvSpPr>
        <p:spPr>
          <a:xfrm>
            <a:off x="5376672" y="318211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ROAS &gt; 5× target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27" name="Shape 23"/>
          <p:cNvSpPr/>
          <p:nvPr/>
        </p:nvSpPr>
        <p:spPr>
          <a:xfrm>
            <a:off x="8229600" y="1417320"/>
            <a:ext cx="37490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0768" y="1554480"/>
            <a:ext cx="411480" cy="41148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8942832" y="153619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0A00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Amazon / Flipkart</a:t>
            </a:r>
            <a:endParaRPr lang="en-US" sz="1200" dirty="0">
              <a:latin typeface="Franklin Gothic Medium" panose="020B0603020102020204" pitchFamily="34" charset="0"/>
            </a:endParaRPr>
          </a:p>
        </p:txBody>
      </p:sp>
      <p:sp>
        <p:nvSpPr>
          <p:cNvPr id="30" name="Shape 25"/>
          <p:cNvSpPr/>
          <p:nvPr/>
        </p:nvSpPr>
        <p:spPr>
          <a:xfrm>
            <a:off x="8430768" y="2029968"/>
            <a:ext cx="1704442" cy="256032"/>
          </a:xfrm>
          <a:prstGeom prst="roundRect">
            <a:avLst>
              <a:gd name="adj" fmla="val 50000"/>
            </a:avLst>
          </a:prstGeom>
          <a:solidFill>
            <a:srgbClr val="1A0A00"/>
          </a:solidFill>
          <a:ln w="12700">
            <a:solidFill>
              <a:srgbClr val="1A0A00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8430768" y="2029968"/>
            <a:ext cx="170444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ECD7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Marketplace Scale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32" name="Text 27"/>
          <p:cNvSpPr/>
          <p:nvPr/>
        </p:nvSpPr>
        <p:spPr>
          <a:xfrm>
            <a:off x="8430768" y="237744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2000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Audience: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33" name="Text 28"/>
          <p:cNvSpPr/>
          <p:nvPr/>
        </p:nvSpPr>
        <p:spPr>
          <a:xfrm>
            <a:off x="9308592" y="23774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Active platform shoppers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34" name="Text 29"/>
          <p:cNvSpPr/>
          <p:nvPr/>
        </p:nvSpPr>
        <p:spPr>
          <a:xfrm>
            <a:off x="8430768" y="277977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2000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Creative: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35" name="Text 30"/>
          <p:cNvSpPr/>
          <p:nvPr/>
        </p:nvSpPr>
        <p:spPr>
          <a:xfrm>
            <a:off x="9308592" y="277977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A+ content, sponsored listings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36" name="Text 31"/>
          <p:cNvSpPr/>
          <p:nvPr/>
        </p:nvSpPr>
        <p:spPr>
          <a:xfrm>
            <a:off x="8430768" y="318211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2000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KPI: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37" name="Text 32"/>
          <p:cNvSpPr/>
          <p:nvPr/>
        </p:nvSpPr>
        <p:spPr>
          <a:xfrm>
            <a:off x="9308592" y="318211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40% revenue share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38" name="Shape 33"/>
          <p:cNvSpPr/>
          <p:nvPr/>
        </p:nvSpPr>
        <p:spPr>
          <a:xfrm>
            <a:off x="365760" y="3886200"/>
            <a:ext cx="37490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3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4023360"/>
            <a:ext cx="411480" cy="411480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1078992" y="400507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0A00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WhatsApp Mktg</a:t>
            </a:r>
            <a:endParaRPr lang="en-US" sz="1200" dirty="0">
              <a:latin typeface="Franklin Gothic Medium" panose="020B0603020102020204" pitchFamily="34" charset="0"/>
            </a:endParaRPr>
          </a:p>
        </p:txBody>
      </p:sp>
      <p:sp>
        <p:nvSpPr>
          <p:cNvPr id="41" name="Shape 35"/>
          <p:cNvSpPr/>
          <p:nvPr/>
        </p:nvSpPr>
        <p:spPr>
          <a:xfrm>
            <a:off x="566928" y="4498848"/>
            <a:ext cx="1788566" cy="256032"/>
          </a:xfrm>
          <a:prstGeom prst="roundRect">
            <a:avLst>
              <a:gd name="adj" fmla="val 50000"/>
            </a:avLst>
          </a:prstGeom>
          <a:solidFill>
            <a:srgbClr val="1A0A00"/>
          </a:solidFill>
          <a:ln w="12700">
            <a:solidFill>
              <a:srgbClr val="1A0A00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566928" y="4498848"/>
            <a:ext cx="178856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ECD7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Retention + Repeat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43" name="Text 37"/>
          <p:cNvSpPr/>
          <p:nvPr/>
        </p:nvSpPr>
        <p:spPr>
          <a:xfrm>
            <a:off x="566928" y="484632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2000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Audience: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44" name="Text 38"/>
          <p:cNvSpPr/>
          <p:nvPr/>
        </p:nvSpPr>
        <p:spPr>
          <a:xfrm>
            <a:off x="1444752" y="48463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Existing buyers + warm leads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45" name="Text 39"/>
          <p:cNvSpPr/>
          <p:nvPr/>
        </p:nvSpPr>
        <p:spPr>
          <a:xfrm>
            <a:off x="566928" y="524865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2000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Creative: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46" name="Text 40"/>
          <p:cNvSpPr/>
          <p:nvPr/>
        </p:nvSpPr>
        <p:spPr>
          <a:xfrm>
            <a:off x="1444752" y="524865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Catalogue, broadcast, offers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47" name="Text 41"/>
          <p:cNvSpPr/>
          <p:nvPr/>
        </p:nvSpPr>
        <p:spPr>
          <a:xfrm>
            <a:off x="566928" y="565099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2000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KPI: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48" name="Text 42"/>
          <p:cNvSpPr/>
          <p:nvPr/>
        </p:nvSpPr>
        <p:spPr>
          <a:xfrm>
            <a:off x="1444752" y="565099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30% repeat purchase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49" name="Shape 43"/>
          <p:cNvSpPr/>
          <p:nvPr/>
        </p:nvSpPr>
        <p:spPr>
          <a:xfrm>
            <a:off x="4297680" y="3886200"/>
            <a:ext cx="37490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5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98848" y="4023360"/>
            <a:ext cx="411480" cy="411480"/>
          </a:xfrm>
          <a:prstGeom prst="rect">
            <a:avLst/>
          </a:prstGeom>
        </p:spPr>
      </p:pic>
      <p:sp>
        <p:nvSpPr>
          <p:cNvPr id="51" name="Text 44"/>
          <p:cNvSpPr/>
          <p:nvPr/>
        </p:nvSpPr>
        <p:spPr>
          <a:xfrm>
            <a:off x="5010912" y="400507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0A00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1200" dirty="0">
              <a:latin typeface="Franklin Gothic Medium" panose="020B0603020102020204" pitchFamily="34" charset="0"/>
            </a:endParaRPr>
          </a:p>
        </p:txBody>
      </p:sp>
      <p:sp>
        <p:nvSpPr>
          <p:cNvPr id="52" name="Shape 45"/>
          <p:cNvSpPr/>
          <p:nvPr/>
        </p:nvSpPr>
        <p:spPr>
          <a:xfrm>
            <a:off x="4498848" y="4498848"/>
            <a:ext cx="1704442" cy="256032"/>
          </a:xfrm>
          <a:prstGeom prst="roundRect">
            <a:avLst>
              <a:gd name="adj" fmla="val 50000"/>
            </a:avLst>
          </a:prstGeom>
          <a:solidFill>
            <a:srgbClr val="1A0A00"/>
          </a:solidFill>
          <a:ln w="12700">
            <a:solidFill>
              <a:srgbClr val="1A0A00"/>
            </a:solidFill>
            <a:prstDash val="solid"/>
          </a:ln>
        </p:spPr>
      </p:sp>
      <p:sp>
        <p:nvSpPr>
          <p:cNvPr id="53" name="Text 46"/>
          <p:cNvSpPr/>
          <p:nvPr/>
        </p:nvSpPr>
        <p:spPr>
          <a:xfrm>
            <a:off x="4498848" y="4498848"/>
            <a:ext cx="170444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ECD7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Brand + Discovery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54" name="Text 47"/>
          <p:cNvSpPr/>
          <p:nvPr/>
        </p:nvSpPr>
        <p:spPr>
          <a:xfrm>
            <a:off x="4498848" y="484632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2000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Audience: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55" name="Text 48"/>
          <p:cNvSpPr/>
          <p:nvPr/>
        </p:nvSpPr>
        <p:spPr>
          <a:xfrm>
            <a:off x="5376672" y="48463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25–40 urban South India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56" name="Text 49"/>
          <p:cNvSpPr/>
          <p:nvPr/>
        </p:nvSpPr>
        <p:spPr>
          <a:xfrm>
            <a:off x="4498848" y="524865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2000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Creative: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57" name="Text 50"/>
          <p:cNvSpPr/>
          <p:nvPr/>
        </p:nvSpPr>
        <p:spPr>
          <a:xfrm>
            <a:off x="5376672" y="524865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Reels, stories, collab posts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58" name="Text 51"/>
          <p:cNvSpPr/>
          <p:nvPr/>
        </p:nvSpPr>
        <p:spPr>
          <a:xfrm>
            <a:off x="4498848" y="565099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2000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KPI: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59" name="Text 52"/>
          <p:cNvSpPr/>
          <p:nvPr/>
        </p:nvSpPr>
        <p:spPr>
          <a:xfrm>
            <a:off x="5376672" y="565099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334155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ROAS &gt; 5× target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60" name="Shape 53"/>
          <p:cNvSpPr/>
          <p:nvPr/>
        </p:nvSpPr>
        <p:spPr>
          <a:xfrm>
            <a:off x="8229600" y="3886200"/>
            <a:ext cx="37490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6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30768" y="4023360"/>
            <a:ext cx="411480" cy="411480"/>
          </a:xfrm>
          <a:prstGeom prst="rect">
            <a:avLst/>
          </a:prstGeom>
        </p:spPr>
      </p:pic>
      <p:sp>
        <p:nvSpPr>
          <p:cNvPr id="62" name="Text 54"/>
          <p:cNvSpPr/>
          <p:nvPr/>
        </p:nvSpPr>
        <p:spPr>
          <a:xfrm>
            <a:off x="8942832" y="400507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0A00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Email Drip</a:t>
            </a:r>
            <a:endParaRPr lang="en-US" sz="1200" dirty="0">
              <a:latin typeface="Franklin Gothic Medium" panose="020B0603020102020204" pitchFamily="34" charset="0"/>
            </a:endParaRPr>
          </a:p>
        </p:txBody>
      </p:sp>
      <p:sp>
        <p:nvSpPr>
          <p:cNvPr id="63" name="Shape 55"/>
          <p:cNvSpPr/>
          <p:nvPr/>
        </p:nvSpPr>
        <p:spPr>
          <a:xfrm>
            <a:off x="8430768" y="4498848"/>
            <a:ext cx="1367942" cy="256032"/>
          </a:xfrm>
          <a:prstGeom prst="roundRect">
            <a:avLst>
              <a:gd name="adj" fmla="val 50000"/>
            </a:avLst>
          </a:prstGeom>
          <a:solidFill>
            <a:srgbClr val="1A0A00"/>
          </a:solidFill>
          <a:ln w="12700">
            <a:solidFill>
              <a:srgbClr val="1A0A00"/>
            </a:solidFill>
            <a:prstDash val="solid"/>
          </a:ln>
        </p:spPr>
      </p:sp>
      <p:sp>
        <p:nvSpPr>
          <p:cNvPr id="64" name="Text 56"/>
          <p:cNvSpPr/>
          <p:nvPr/>
        </p:nvSpPr>
        <p:spPr>
          <a:xfrm>
            <a:off x="8430768" y="4498848"/>
            <a:ext cx="136794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ECD7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Nurture + LTV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65" name="Text 57"/>
          <p:cNvSpPr/>
          <p:nvPr/>
        </p:nvSpPr>
        <p:spPr>
          <a:xfrm>
            <a:off x="8430768" y="484632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2000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Audience: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66" name="Text 58"/>
          <p:cNvSpPr/>
          <p:nvPr/>
        </p:nvSpPr>
        <p:spPr>
          <a:xfrm>
            <a:off x="9308592" y="48463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All purchasers + abandoned carts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67" name="Text 59"/>
          <p:cNvSpPr/>
          <p:nvPr/>
        </p:nvSpPr>
        <p:spPr>
          <a:xfrm>
            <a:off x="8430768" y="524865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2000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Creative: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68" name="Text 60"/>
          <p:cNvSpPr/>
          <p:nvPr/>
        </p:nvSpPr>
        <p:spPr>
          <a:xfrm>
            <a:off x="9308592" y="524865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Welcome → education → review → upsell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69" name="Text 61"/>
          <p:cNvSpPr/>
          <p:nvPr/>
        </p:nvSpPr>
        <p:spPr>
          <a:xfrm>
            <a:off x="8430768" y="565099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2000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KPI: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70" name="Text 62"/>
          <p:cNvSpPr/>
          <p:nvPr/>
        </p:nvSpPr>
        <p:spPr>
          <a:xfrm>
            <a:off x="9308592" y="565099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35%+ open rate goal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71" name="Text 63"/>
          <p:cNvSpPr/>
          <p:nvPr/>
        </p:nvSpPr>
        <p:spPr>
          <a:xfrm>
            <a:off x="0" y="6583680"/>
            <a:ext cx="1216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Confidential @ Digifyce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46888"/>
            <a:ext cx="54864" cy="292608"/>
          </a:xfrm>
          <a:prstGeom prst="rect">
            <a:avLst/>
          </a:prstGeom>
          <a:solidFill>
            <a:srgbClr val="C8854A"/>
          </a:solidFill>
          <a:ln w="12700">
            <a:solidFill>
              <a:srgbClr val="C885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8854A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VERTICAL 02 — D2C · SEARCH INTENT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0A00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Google Search — Keyword Universe for D2C Coffee</a:t>
            </a:r>
            <a:endParaRPr lang="en-US" sz="2800" dirty="0">
              <a:latin typeface="Franklin Gothic Medium" panose="020B06030201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4A3B8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TRANSACTIONAL KEYWORDS (High Purchase Intent)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8608757"/>
              </p:ext>
            </p:extLst>
          </p:nvPr>
        </p:nvGraphicFramePr>
        <p:xfrm>
          <a:off x="365760" y="1737360"/>
          <a:ext cx="6400800" cy="347472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Franklin Gothic Medium" panose="020B0603020102020204" pitchFamily="34" charset="0"/>
                          <a:ea typeface="Calibri" pitchFamily="34" charset="-122"/>
                          <a:cs typeface="Calibri" pitchFamily="34" charset="-120"/>
                        </a:rPr>
                        <a:t>Keyword</a:t>
                      </a:r>
                      <a:endParaRPr lang="en-US" sz="1000" dirty="0">
                        <a:latin typeface="Franklin Gothic Medium" panose="020B06030201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Franklin Gothic Medium" panose="020B0603020102020204" pitchFamily="34" charset="0"/>
                          <a:ea typeface="Calibri" pitchFamily="34" charset="-122"/>
                          <a:cs typeface="Calibri" pitchFamily="34" charset="-120"/>
                        </a:rPr>
                        <a:t>Intent</a:t>
                      </a:r>
                      <a:endParaRPr lang="en-US" sz="1000" dirty="0">
                        <a:latin typeface="Franklin Gothic Medium" panose="020B06030201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Franklin Gothic Medium" panose="020B0603020102020204" pitchFamily="34" charset="0"/>
                          <a:ea typeface="Calibri" pitchFamily="34" charset="-122"/>
                          <a:cs typeface="Calibri" pitchFamily="34" charset="-120"/>
                        </a:rPr>
                        <a:t>Monthly Vol</a:t>
                      </a:r>
                      <a:endParaRPr lang="en-US" sz="1000" dirty="0">
                        <a:latin typeface="Franklin Gothic Medium" panose="020B06030201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Franklin Gothic Medium" panose="020B0603020102020204" pitchFamily="34" charset="0"/>
                          <a:ea typeface="Calibri" pitchFamily="34" charset="-122"/>
                          <a:cs typeface="Calibri" pitchFamily="34" charset="-120"/>
                        </a:rPr>
                        <a:t>buy filter coffee online</a:t>
                      </a:r>
                      <a:endParaRPr lang="en-US" sz="1000" dirty="0">
                        <a:latin typeface="Franklin Gothic Medium" panose="020B06030201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Franklin Gothic Medium" panose="020B0603020102020204" pitchFamily="34" charset="0"/>
                          <a:ea typeface="Calibri" pitchFamily="34" charset="-122"/>
                          <a:cs typeface="Calibri" pitchFamily="34" charset="-120"/>
                        </a:rPr>
                        <a:t>Transactional</a:t>
                      </a:r>
                      <a:endParaRPr lang="en-US" sz="1000" dirty="0">
                        <a:latin typeface="Franklin Gothic Medium" panose="020B06030201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Franklin Gothic Medium" panose="020B0603020102020204" pitchFamily="34" charset="0"/>
                          <a:ea typeface="Calibri" pitchFamily="34" charset="-122"/>
                          <a:cs typeface="Calibri" pitchFamily="34" charset="-120"/>
                        </a:rPr>
                        <a:t>8,100</a:t>
                      </a:r>
                      <a:endParaRPr lang="en-US" sz="1000" dirty="0">
                        <a:latin typeface="Franklin Gothic Medium" panose="020B06030201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Franklin Gothic Medium" panose="020B0603020102020204" pitchFamily="34" charset="0"/>
                          <a:ea typeface="Calibri" pitchFamily="34" charset="-122"/>
                          <a:cs typeface="Calibri" pitchFamily="34" charset="-120"/>
                        </a:rPr>
                        <a:t>South Indian coffee powder</a:t>
                      </a:r>
                      <a:endParaRPr lang="en-US" sz="1000" dirty="0">
                        <a:latin typeface="Franklin Gothic Medium" panose="020B06030201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Franklin Gothic Medium" panose="020B0603020102020204" pitchFamily="34" charset="0"/>
                          <a:ea typeface="Calibri" pitchFamily="34" charset="-122"/>
                          <a:cs typeface="Calibri" pitchFamily="34" charset="-120"/>
                        </a:rPr>
                        <a:t>Transactional</a:t>
                      </a:r>
                      <a:endParaRPr lang="en-US" sz="1000" dirty="0">
                        <a:latin typeface="Franklin Gothic Medium" panose="020B06030201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Franklin Gothic Medium" panose="020B0603020102020204" pitchFamily="34" charset="0"/>
                          <a:ea typeface="Calibri" pitchFamily="34" charset="-122"/>
                          <a:cs typeface="Calibri" pitchFamily="34" charset="-120"/>
                        </a:rPr>
                        <a:t>6,600</a:t>
                      </a:r>
                      <a:endParaRPr lang="en-US" sz="1000" dirty="0">
                        <a:latin typeface="Franklin Gothic Medium" panose="020B06030201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Franklin Gothic Medium" panose="020B0603020102020204" pitchFamily="34" charset="0"/>
                          <a:ea typeface="Calibri" pitchFamily="34" charset="-122"/>
                          <a:cs typeface="Calibri" pitchFamily="34" charset="-120"/>
                        </a:rPr>
                        <a:t>best coffee gift box India</a:t>
                      </a:r>
                      <a:endParaRPr lang="en-US" sz="1000" dirty="0">
                        <a:latin typeface="Franklin Gothic Medium" panose="020B06030201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Franklin Gothic Medium" panose="020B0603020102020204" pitchFamily="34" charset="0"/>
                          <a:ea typeface="Calibri" pitchFamily="34" charset="-122"/>
                          <a:cs typeface="Calibri" pitchFamily="34" charset="-120"/>
                        </a:rPr>
                        <a:t>Transactional</a:t>
                      </a:r>
                      <a:endParaRPr lang="en-US" sz="1000" dirty="0">
                        <a:latin typeface="Franklin Gothic Medium" panose="020B06030201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Franklin Gothic Medium" panose="020B0603020102020204" pitchFamily="34" charset="0"/>
                          <a:ea typeface="Calibri" pitchFamily="34" charset="-122"/>
                          <a:cs typeface="Calibri" pitchFamily="34" charset="-120"/>
                        </a:rPr>
                        <a:t>3,600</a:t>
                      </a:r>
                      <a:endParaRPr lang="en-US" sz="1000" dirty="0">
                        <a:latin typeface="Franklin Gothic Medium" panose="020B06030201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Franklin Gothic Medium" panose="020B0603020102020204" pitchFamily="34" charset="0"/>
                          <a:ea typeface="Calibri" pitchFamily="34" charset="-122"/>
                          <a:cs typeface="Calibri" pitchFamily="34" charset="-120"/>
                        </a:rPr>
                        <a:t>filter coffee decoction buy</a:t>
                      </a:r>
                      <a:endParaRPr lang="en-US" sz="1000" dirty="0">
                        <a:latin typeface="Franklin Gothic Medium" panose="020B06030201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Franklin Gothic Medium" panose="020B0603020102020204" pitchFamily="34" charset="0"/>
                          <a:ea typeface="Calibri" pitchFamily="34" charset="-122"/>
                          <a:cs typeface="Calibri" pitchFamily="34" charset="-120"/>
                        </a:rPr>
                        <a:t>Transactional</a:t>
                      </a:r>
                      <a:endParaRPr lang="en-US" sz="1000" dirty="0">
                        <a:latin typeface="Franklin Gothic Medium" panose="020B06030201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Franklin Gothic Medium" panose="020B0603020102020204" pitchFamily="34" charset="0"/>
                          <a:ea typeface="Calibri" pitchFamily="34" charset="-122"/>
                          <a:cs typeface="Calibri" pitchFamily="34" charset="-120"/>
                        </a:rPr>
                        <a:t>2,900</a:t>
                      </a:r>
                      <a:endParaRPr lang="en-US" sz="1000" dirty="0">
                        <a:latin typeface="Franklin Gothic Medium" panose="020B06030201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Franklin Gothic Medium" panose="020B0603020102020204" pitchFamily="34" charset="0"/>
                          <a:ea typeface="Calibri" pitchFamily="34" charset="-122"/>
                          <a:cs typeface="Calibri" pitchFamily="34" charset="-120"/>
                        </a:rPr>
                        <a:t>premium filter coffee online</a:t>
                      </a:r>
                      <a:endParaRPr lang="en-US" sz="1000" dirty="0">
                        <a:latin typeface="Franklin Gothic Medium" panose="020B06030201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Franklin Gothic Medium" panose="020B0603020102020204" pitchFamily="34" charset="0"/>
                          <a:ea typeface="Calibri" pitchFamily="34" charset="-122"/>
                          <a:cs typeface="Calibri" pitchFamily="34" charset="-120"/>
                        </a:rPr>
                        <a:t>Transactional</a:t>
                      </a:r>
                      <a:endParaRPr lang="en-US" sz="1000" dirty="0">
                        <a:latin typeface="Franklin Gothic Medium" panose="020B06030201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Franklin Gothic Medium" panose="020B0603020102020204" pitchFamily="34" charset="0"/>
                          <a:ea typeface="Calibri" pitchFamily="34" charset="-122"/>
                          <a:cs typeface="Calibri" pitchFamily="34" charset="-120"/>
                        </a:rPr>
                        <a:t>2,400</a:t>
                      </a:r>
                      <a:endParaRPr lang="en-US" sz="1000" dirty="0">
                        <a:latin typeface="Franklin Gothic Medium" panose="020B06030201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Franklin Gothic Medium" panose="020B0603020102020204" pitchFamily="34" charset="0"/>
                          <a:ea typeface="Calibri" pitchFamily="34" charset="-122"/>
                          <a:cs typeface="Calibri" pitchFamily="34" charset="-120"/>
                        </a:rPr>
                        <a:t>Coimbatore coffee brand</a:t>
                      </a:r>
                      <a:endParaRPr lang="en-US" sz="1000" dirty="0">
                        <a:latin typeface="Franklin Gothic Medium" panose="020B06030201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Franklin Gothic Medium" panose="020B0603020102020204" pitchFamily="34" charset="0"/>
                          <a:ea typeface="Calibri" pitchFamily="34" charset="-122"/>
                          <a:cs typeface="Calibri" pitchFamily="34" charset="-120"/>
                        </a:rPr>
                        <a:t>Brand/Local</a:t>
                      </a:r>
                      <a:endParaRPr lang="en-US" sz="1000" dirty="0">
                        <a:latin typeface="Franklin Gothic Medium" panose="020B06030201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Franklin Gothic Medium" panose="020B0603020102020204" pitchFamily="34" charset="0"/>
                          <a:ea typeface="Calibri" pitchFamily="34" charset="-122"/>
                          <a:cs typeface="Calibri" pitchFamily="34" charset="-120"/>
                        </a:rPr>
                        <a:t>1,900</a:t>
                      </a:r>
                      <a:endParaRPr lang="en-US" sz="1000" dirty="0">
                        <a:latin typeface="Franklin Gothic Medium" panose="020B06030201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Franklin Gothic Medium" panose="020B0603020102020204" pitchFamily="34" charset="0"/>
                          <a:ea typeface="Calibri" pitchFamily="34" charset="-122"/>
                          <a:cs typeface="Calibri" pitchFamily="34" charset="-120"/>
                        </a:rPr>
                        <a:t>estate coffee buy India</a:t>
                      </a:r>
                      <a:endParaRPr lang="en-US" sz="1000" dirty="0">
                        <a:latin typeface="Franklin Gothic Medium" panose="020B06030201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Franklin Gothic Medium" panose="020B0603020102020204" pitchFamily="34" charset="0"/>
                          <a:ea typeface="Calibri" pitchFamily="34" charset="-122"/>
                          <a:cs typeface="Calibri" pitchFamily="34" charset="-120"/>
                        </a:rPr>
                        <a:t>Transactional</a:t>
                      </a:r>
                      <a:endParaRPr lang="en-US" sz="1000" dirty="0">
                        <a:latin typeface="Franklin Gothic Medium" panose="020B06030201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Franklin Gothic Medium" panose="020B0603020102020204" pitchFamily="34" charset="0"/>
                          <a:ea typeface="Calibri" pitchFamily="34" charset="-122"/>
                          <a:cs typeface="Calibri" pitchFamily="34" charset="-120"/>
                        </a:rPr>
                        <a:t>1,600</a:t>
                      </a:r>
                      <a:endParaRPr lang="en-US" sz="1000" dirty="0">
                        <a:latin typeface="Franklin Gothic Medium" panose="020B06030201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Franklin Gothic Medium" panose="020B0603020102020204" pitchFamily="34" charset="0"/>
                          <a:ea typeface="Calibri" pitchFamily="34" charset="-122"/>
                          <a:cs typeface="Calibri" pitchFamily="34" charset="-120"/>
                        </a:rPr>
                        <a:t>coffee vending machine buy</a:t>
                      </a:r>
                      <a:endParaRPr lang="en-US" sz="1000" dirty="0">
                        <a:latin typeface="Franklin Gothic Medium" panose="020B06030201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Franklin Gothic Medium" panose="020B0603020102020204" pitchFamily="34" charset="0"/>
                          <a:ea typeface="Calibri" pitchFamily="34" charset="-122"/>
                          <a:cs typeface="Calibri" pitchFamily="34" charset="-120"/>
                        </a:rPr>
                        <a:t>B2B</a:t>
                      </a:r>
                      <a:endParaRPr lang="en-US" sz="1000" dirty="0">
                        <a:latin typeface="Franklin Gothic Medium" panose="020B06030201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Franklin Gothic Medium" panose="020B0603020102020204" pitchFamily="34" charset="0"/>
                          <a:ea typeface="Calibri" pitchFamily="34" charset="-122"/>
                          <a:cs typeface="Calibri" pitchFamily="34" charset="-120"/>
                        </a:rPr>
                        <a:t>5,400</a:t>
                      </a:r>
                      <a:endParaRPr lang="en-US" sz="1000" dirty="0">
                        <a:latin typeface="Franklin Gothic Medium" panose="020B06030201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Franklin Gothic Medium" panose="020B0603020102020204" pitchFamily="34" charset="0"/>
                          <a:ea typeface="Calibri" pitchFamily="34" charset="-122"/>
                          <a:cs typeface="Calibri" pitchFamily="34" charset="-120"/>
                        </a:rPr>
                        <a:t>office coffee machine lease</a:t>
                      </a:r>
                      <a:endParaRPr lang="en-US" sz="1000" dirty="0">
                        <a:latin typeface="Franklin Gothic Medium" panose="020B06030201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Franklin Gothic Medium" panose="020B0603020102020204" pitchFamily="34" charset="0"/>
                          <a:ea typeface="Calibri" pitchFamily="34" charset="-122"/>
                          <a:cs typeface="Calibri" pitchFamily="34" charset="-120"/>
                        </a:rPr>
                        <a:t>B2B</a:t>
                      </a:r>
                      <a:endParaRPr lang="en-US" sz="1000" dirty="0">
                        <a:latin typeface="Franklin Gothic Medium" panose="020B06030201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Franklin Gothic Medium" panose="020B0603020102020204" pitchFamily="34" charset="0"/>
                          <a:ea typeface="Calibri" pitchFamily="34" charset="-122"/>
                          <a:cs typeface="Calibri" pitchFamily="34" charset="-120"/>
                        </a:rPr>
                        <a:t>3,200</a:t>
                      </a:r>
                      <a:endParaRPr lang="en-US" sz="1000" dirty="0">
                        <a:latin typeface="Franklin Gothic Medium" panose="020B06030201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315200" y="141732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4A3B8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SEARCH STRATEGY NOTES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7315200" y="1280169"/>
            <a:ext cx="45720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479792" y="1371609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0A00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Campaign 1 — D2C Sales</a:t>
            </a:r>
            <a:endParaRPr lang="en-US" sz="1100" dirty="0">
              <a:latin typeface="Franklin Gothic Medium" panose="020B06030201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479792" y="1719081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Target transactional intent · South India geo · 3 ad groups by persona · Performance Max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6" name="Shape 8"/>
          <p:cNvSpPr/>
          <p:nvPr/>
        </p:nvSpPr>
        <p:spPr>
          <a:xfrm>
            <a:off x="7315200" y="2514609"/>
            <a:ext cx="45720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479792" y="2606049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0A00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Campaign 2 — Brand</a:t>
            </a:r>
            <a:endParaRPr lang="en-US" sz="1100" dirty="0">
              <a:latin typeface="Franklin Gothic Medium" panose="020B06030201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479792" y="2953521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Own brand keywords + competitor conquesting · Discovery ads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7315200" y="3749049"/>
            <a:ext cx="45720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479792" y="3840489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0A00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Campaign 3 — B2B VM</a:t>
            </a:r>
            <a:endParaRPr lang="en-US" sz="1100" dirty="0">
              <a:latin typeface="Franklin Gothic Medium" panose="020B06030201020202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7479792" y="4187961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'Coffee vending machine' + 'office coffee machine' intent cluster → landing page → WhatsApp CRM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7315200" y="4983489"/>
            <a:ext cx="45720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479792" y="5074929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0A00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Monthly Forecast</a:t>
            </a:r>
            <a:endParaRPr lang="en-US" sz="1100" dirty="0">
              <a:latin typeface="Franklin Gothic Medium" panose="020B0603020102020204" pitchFamily="34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7479792" y="5422401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Search volume: ~35K total · Expected traffic: 3,500–5,000 clicks · Est. leads: 250–400/mo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365760" y="6080760"/>
            <a:ext cx="11430000" cy="411480"/>
          </a:xfrm>
          <a:prstGeom prst="rect">
            <a:avLst/>
          </a:prstGeom>
          <a:solidFill>
            <a:srgbClr val="1A0A00"/>
          </a:solidFill>
          <a:ln w="12700">
            <a:solidFill>
              <a:srgbClr val="1A0A0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48640" y="610819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ECD7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Digifyce is a Google Certified Partner with 10,000+ campaigns managed. All keyword clusters will be validated live before spend begins.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0" y="6583680"/>
            <a:ext cx="1216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Confidential @ Digifyce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C8854A"/>
          </a:solidFill>
          <a:ln w="12700">
            <a:solidFill>
              <a:srgbClr val="C8854A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044" y="777240"/>
            <a:ext cx="3657600" cy="3657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91440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0" b="1" i="0" u="none" strike="noStrike" kern="1200" cap="none" spc="0" normalizeH="0" baseline="0" noProof="0" dirty="0">
                <a:ln>
                  <a:noFill/>
                </a:ln>
                <a:solidFill>
                  <a:srgbClr val="4A2000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03</a:t>
            </a:r>
            <a:endParaRPr kumimoji="0" lang="en-US" sz="10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40080" y="320040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5ECD7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OFFLINE CAFÉ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5ECD7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BRAND POSITIONING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40080" y="47548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8854A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Concept Shoots · Influencer Strategy · Digital Brand Visibility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0" y="6583680"/>
            <a:ext cx="1216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Confidential @ Digifyce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8184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46888"/>
            <a:ext cx="54864" cy="292608"/>
          </a:xfrm>
          <a:prstGeom prst="rect">
            <a:avLst/>
          </a:prstGeom>
          <a:solidFill>
            <a:srgbClr val="C8854A"/>
          </a:solidFill>
          <a:ln w="12700">
            <a:solidFill>
              <a:srgbClr val="C885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300" normalizeH="0" baseline="0" noProof="0" dirty="0">
                <a:ln>
                  <a:noFill/>
                </a:ln>
                <a:solidFill>
                  <a:srgbClr val="C8854A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VERTICAL 01 — OFFLINE CAFÉ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A0A00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Brand Positioning &amp; Visibility Strategy — Q3 2025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11430000" cy="502920"/>
          </a:xfrm>
          <a:prstGeom prst="rect">
            <a:avLst/>
          </a:prstGeom>
          <a:solidFill>
            <a:srgbClr val="FFF3CD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63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7B5E00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⚠  Current State: 9 physical stores · Zero centralised digital identity · No concept photography · No influencer touchpoints · Brand invisible online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65760" y="2057400"/>
            <a:ext cx="370332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19456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217627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A0A00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Brand Identity &amp; Positioning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365760" y="2743200"/>
            <a:ext cx="3703320" cy="27432"/>
          </a:xfrm>
          <a:prstGeom prst="rect">
            <a:avLst/>
          </a:prstGeom>
          <a:solidFill>
            <a:srgbClr val="C8854A"/>
          </a:solidFill>
          <a:ln w="12700">
            <a:solidFill>
              <a:srgbClr val="C885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2834640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854A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Centralised brand narrative — 'From Estate to Cup' storytelling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02920" y="3611880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854A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Unified visual language across all 9 outlets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02920" y="4389120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854A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Monthly content calendar aligned to regional festivals &amp; seasons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502920" y="5166360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854A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USP communication: Own estate, 3 signature blends, authentic South Indian Kaapi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4297680" y="2057400"/>
            <a:ext cx="370332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2194560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074920" y="217627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A0A00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Concept Shoot &amp; Influencer Collab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4297680" y="2743200"/>
            <a:ext cx="3703320" cy="27432"/>
          </a:xfrm>
          <a:prstGeom prst="rect">
            <a:avLst/>
          </a:prstGeom>
          <a:solidFill>
            <a:srgbClr val="C8854A"/>
          </a:solidFill>
          <a:ln w="12700">
            <a:solidFill>
              <a:srgbClr val="C8854A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434840" y="2834640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854A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Quarterly concept photography shoot — cafés, estate, product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4434840" y="3611880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854A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Micro-influencer partnerships (10K–100K) in Coimbatore, Salem, Chennai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4434840" y="4389120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854A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Nano-influencer café visit campaigns for local outlet visibility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4434840" y="5166360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854A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Reels &amp; short-form content strategy for Instagram &amp; YouTube Shorts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23" name="Shape 19"/>
          <p:cNvSpPr/>
          <p:nvPr/>
        </p:nvSpPr>
        <p:spPr>
          <a:xfrm>
            <a:off x="8229600" y="2057400"/>
            <a:ext cx="370332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0" y="2194560"/>
            <a:ext cx="457200" cy="4572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9006840" y="217627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A0A00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Digital Visibility — Hyperlocal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26" name="Shape 21"/>
          <p:cNvSpPr/>
          <p:nvPr/>
        </p:nvSpPr>
        <p:spPr>
          <a:xfrm>
            <a:off x="8229600" y="2743200"/>
            <a:ext cx="3703320" cy="27432"/>
          </a:xfrm>
          <a:prstGeom prst="rect">
            <a:avLst/>
          </a:prstGeom>
          <a:solidFill>
            <a:srgbClr val="C8854A"/>
          </a:solidFill>
          <a:ln w="12700">
            <a:solidFill>
              <a:srgbClr val="C8854A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8366760" y="2834640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854A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Google Business Profile optimisation for all 9 outlets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28" name="Text 23"/>
          <p:cNvSpPr/>
          <p:nvPr/>
        </p:nvSpPr>
        <p:spPr>
          <a:xfrm>
            <a:off x="8366760" y="3611880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854A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Hyperlocal Meta ads targeting 5km radius of each store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29" name="Text 24"/>
          <p:cNvSpPr/>
          <p:nvPr/>
        </p:nvSpPr>
        <p:spPr>
          <a:xfrm>
            <a:off x="8366760" y="4389120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854A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WhatsApp broadcast lists for loyalty program &amp; offers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30" name="Text 25"/>
          <p:cNvSpPr/>
          <p:nvPr/>
        </p:nvSpPr>
        <p:spPr>
          <a:xfrm>
            <a:off x="8366760" y="5166360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854A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SEO: 'best coffee shop in [city]' keyword domination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31" name="Text 26"/>
          <p:cNvSpPr/>
          <p:nvPr/>
        </p:nvSpPr>
        <p:spPr>
          <a:xfrm>
            <a:off x="0" y="6583680"/>
            <a:ext cx="1216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Confidential @ Digifyce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70492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D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46888"/>
            <a:ext cx="54864" cy="292608"/>
          </a:xfrm>
          <a:prstGeom prst="rect">
            <a:avLst/>
          </a:prstGeom>
          <a:solidFill>
            <a:srgbClr val="C8854A"/>
          </a:solidFill>
          <a:ln w="12700">
            <a:solidFill>
              <a:srgbClr val="C885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8854A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EXECUTION TIMELINE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0A00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90-Day Launch Plan — What Happens Week by Week</a:t>
            </a:r>
            <a:endParaRPr lang="en-US" sz="2800" dirty="0">
              <a:latin typeface="Franklin Gothic Medium" panose="020B06030201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37033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17320"/>
            <a:ext cx="3703320" cy="411480"/>
          </a:xfrm>
          <a:prstGeom prst="rect">
            <a:avLst/>
          </a:prstGeom>
          <a:solidFill>
            <a:srgbClr val="1A0A00"/>
          </a:solidFill>
          <a:ln w="12700">
            <a:solidFill>
              <a:srgbClr val="1A0A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4475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ECD7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Week 1 — Onboarding &amp; Audit</a:t>
            </a:r>
            <a:endParaRPr lang="en-US" sz="1100" dirty="0">
              <a:latin typeface="Franklin Gothic Medium" panose="020B06030201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02920" y="192024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854A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334155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Brand audit · Website review · CRM setup begin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02920" y="246888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854A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334155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Persona finalisation · Keyword research locked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02920" y="301752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854A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334155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Ad account access · Pixel installation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297680" y="1417320"/>
            <a:ext cx="37033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97680" y="1417320"/>
            <a:ext cx="3703320" cy="411480"/>
          </a:xfrm>
          <a:prstGeom prst="rect">
            <a:avLst/>
          </a:prstGeom>
          <a:solidFill>
            <a:srgbClr val="1A0A00"/>
          </a:solidFill>
          <a:ln w="12700">
            <a:solidFill>
              <a:srgbClr val="1A0A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34840" y="144475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ECD7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Week 2 — Foundation Build</a:t>
            </a:r>
            <a:endParaRPr lang="en-US" sz="1100" dirty="0">
              <a:latin typeface="Franklin Gothic Medium" panose="020B06030201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434840" y="192024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854A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334155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2 landing pages developed + reviewed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434840" y="246888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854A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334155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CRM pipeline configured · Lead scoring rules set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434840" y="301752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854A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334155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WhatsApp automation flows built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229600" y="1417320"/>
            <a:ext cx="37033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29600" y="1417320"/>
            <a:ext cx="3703320" cy="411480"/>
          </a:xfrm>
          <a:prstGeom prst="rect">
            <a:avLst/>
          </a:prstGeom>
          <a:solidFill>
            <a:srgbClr val="1A0A00"/>
          </a:solidFill>
          <a:ln w="12700">
            <a:solidFill>
              <a:srgbClr val="1A0A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66760" y="144475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ECD7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Week 3 — First Campaigns Live</a:t>
            </a:r>
            <a:endParaRPr lang="en-US" sz="1100" dirty="0">
              <a:latin typeface="Franklin Gothic Medium" panose="020B06030201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366760" y="192024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854A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334155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D2C Meta + Google Search campaigns go live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366760" y="246888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854A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334155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B2B vending machine Google Search live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366760" y="301752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854A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334155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Email welcome sequence activated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65760" y="3840480"/>
            <a:ext cx="37033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840480"/>
            <a:ext cx="3703320" cy="411480"/>
          </a:xfrm>
          <a:prstGeom prst="rect">
            <a:avLst/>
          </a:prstGeom>
          <a:solidFill>
            <a:srgbClr val="1A0A00"/>
          </a:solidFill>
          <a:ln w="12700">
            <a:solidFill>
              <a:srgbClr val="1A0A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86791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ECD7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Week 4 — Optimise &amp; Expand</a:t>
            </a:r>
            <a:endParaRPr lang="en-US" sz="1100" dirty="0">
              <a:latin typeface="Franklin Gothic Medium" panose="020B06030201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02920" y="434340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854A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334155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Week 3 data review — GYR assessment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02920" y="489204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854A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334155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A/B testing: ad copy + landing page CTA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02920" y="544068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854A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334155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LinkedIn outreach begins (Growth &amp; Scale tiers)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297680" y="3840480"/>
            <a:ext cx="37033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297680" y="3840480"/>
            <a:ext cx="3703320" cy="411480"/>
          </a:xfrm>
          <a:prstGeom prst="rect">
            <a:avLst/>
          </a:prstGeom>
          <a:solidFill>
            <a:srgbClr val="1A0A00"/>
          </a:solidFill>
          <a:ln w="12700">
            <a:solidFill>
              <a:srgbClr val="1A0A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34840" y="386791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ECD7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Month 2 — Scale Winners</a:t>
            </a:r>
            <a:endParaRPr lang="en-US" sz="1100" dirty="0">
              <a:latin typeface="Franklin Gothic Medium" panose="020B06030201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434840" y="434340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854A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334155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Scale budget on best-performing campaigns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434840" y="489204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854A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334155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Amazon / Flipkart listings live (D2C)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434840" y="544068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854A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334155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Influencer outreach initiated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8229600" y="3840480"/>
            <a:ext cx="37033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229600" y="3840480"/>
            <a:ext cx="3703320" cy="411480"/>
          </a:xfrm>
          <a:prstGeom prst="rect">
            <a:avLst/>
          </a:prstGeom>
          <a:solidFill>
            <a:srgbClr val="1A0A00"/>
          </a:solidFill>
          <a:ln w="12700">
            <a:solidFill>
              <a:srgbClr val="1A0A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66760" y="386791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ECD7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Month 3 — Revenue Review &amp; Next Steps</a:t>
            </a:r>
            <a:endParaRPr lang="en-US" sz="1100" dirty="0">
              <a:latin typeface="Franklin Gothic Medium" panose="020B060302010202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8366760" y="434340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854A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334155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Month 3 ROI review with CEO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8366760" y="489204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854A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334155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B2B vending: target 3–5 corporate installations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8366760" y="544068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854A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334155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D2C: target ₹8–15L monthly revenue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0" y="6583680"/>
            <a:ext cx="1216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Confidential @ Digifyce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D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46888"/>
            <a:ext cx="54864" cy="292608"/>
          </a:xfrm>
          <a:prstGeom prst="rect">
            <a:avLst/>
          </a:prstGeom>
          <a:solidFill>
            <a:srgbClr val="C8854A"/>
          </a:solidFill>
          <a:ln w="12700">
            <a:solidFill>
              <a:srgbClr val="C885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8854A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PROOF OF PERFORMANCE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0A00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Live Results from Digifyce — Same Systems, Different Brands</a:t>
            </a:r>
            <a:endParaRPr lang="en-US" sz="2800" dirty="0">
              <a:latin typeface="Franklin Gothic Medium" panose="020B06030201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3749040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17320"/>
            <a:ext cx="3749040" cy="384048"/>
          </a:xfrm>
          <a:prstGeom prst="rect">
            <a:avLst/>
          </a:prstGeom>
          <a:solidFill>
            <a:srgbClr val="1A0A00"/>
          </a:solidFill>
          <a:ln w="12700">
            <a:solidFill>
              <a:srgbClr val="1A0A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447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854A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Coimbatore Educational Institution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02920" y="1874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0A00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Lead Gen + Drip Marketing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02920" y="217627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Tools: Facebook · Email · WhatsApp · Drip · Landing Pages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02920" y="262432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2000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Duration: 3 Months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65760" y="2926080"/>
            <a:ext cx="374904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3017520"/>
            <a:ext cx="1737360" cy="1115568"/>
          </a:xfrm>
          <a:prstGeom prst="rect">
            <a:avLst/>
          </a:prstGeom>
          <a:solidFill>
            <a:srgbClr val="1A0A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090672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8854A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3,87,549</a:t>
            </a:r>
            <a:endParaRPr lang="en-US" sz="2200" dirty="0">
              <a:latin typeface="Franklin Gothic Medium" panose="020B06030201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65760" y="368503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ECD7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Impressions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240280" y="3017520"/>
            <a:ext cx="1737360" cy="1115568"/>
          </a:xfrm>
          <a:prstGeom prst="rect">
            <a:avLst/>
          </a:prstGeom>
          <a:solidFill>
            <a:srgbClr val="4A2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40280" y="3090672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8854A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2,987</a:t>
            </a:r>
            <a:endParaRPr lang="en-US" sz="2200" dirty="0">
              <a:latin typeface="Franklin Gothic Medium" panose="020B06030201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240280" y="368503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ECD7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Total Leads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65760" y="4297680"/>
            <a:ext cx="1737360" cy="1115568"/>
          </a:xfrm>
          <a:prstGeom prst="rect">
            <a:avLst/>
          </a:prstGeom>
          <a:solidFill>
            <a:srgbClr val="1A0A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370832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8854A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705</a:t>
            </a:r>
            <a:endParaRPr lang="en-US" sz="2200" dirty="0">
              <a:latin typeface="Franklin Gothic Medium" panose="020B06030201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65760" y="496519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ECD7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Hot Leads (60+ score)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240280" y="4297680"/>
            <a:ext cx="1737360" cy="1115568"/>
          </a:xfrm>
          <a:prstGeom prst="rect">
            <a:avLst/>
          </a:prstGeom>
          <a:solidFill>
            <a:srgbClr val="4A2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40280" y="4370832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8854A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52%</a:t>
            </a:r>
            <a:endParaRPr lang="en-US" sz="2200" dirty="0">
              <a:latin typeface="Franklin Gothic Medium" panose="020B06030201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2240280" y="496519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ECD7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Conversion in 3 mo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297680" y="1417320"/>
            <a:ext cx="3749040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297680" y="1417320"/>
            <a:ext cx="3749040" cy="384048"/>
          </a:xfrm>
          <a:prstGeom prst="rect">
            <a:avLst/>
          </a:prstGeom>
          <a:solidFill>
            <a:srgbClr val="1A0A00"/>
          </a:solidFill>
          <a:ln w="12700">
            <a:solidFill>
              <a:srgbClr val="1A0A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34840" y="14447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854A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India's Largest Real Estate Developer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434840" y="1874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0A00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Full-Funnel Lead Generation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434840" y="217627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Tools: Facebook · Google · Email · WhatsApp · Drip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434840" y="262432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2000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Duration: 5 Months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297680" y="2926080"/>
            <a:ext cx="374904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297680" y="3017520"/>
            <a:ext cx="1737360" cy="1115568"/>
          </a:xfrm>
          <a:prstGeom prst="rect">
            <a:avLst/>
          </a:prstGeom>
          <a:solidFill>
            <a:srgbClr val="1A0A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97680" y="3090672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8854A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9,59,540</a:t>
            </a:r>
            <a:endParaRPr lang="en-US" sz="2200" dirty="0">
              <a:latin typeface="Franklin Gothic Medium" panose="020B0603020102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297680" y="368503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ECD7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Impressions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172200" y="3017520"/>
            <a:ext cx="1737360" cy="1115568"/>
          </a:xfrm>
          <a:prstGeom prst="rect">
            <a:avLst/>
          </a:prstGeom>
          <a:solidFill>
            <a:srgbClr val="4A2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72200" y="3090672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8854A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4,985</a:t>
            </a:r>
            <a:endParaRPr lang="en-US" sz="2200" dirty="0">
              <a:latin typeface="Franklin Gothic Medium" panose="020B060302010202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172200" y="368503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ECD7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Total Leads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4297680" y="4297680"/>
            <a:ext cx="1737360" cy="1115568"/>
          </a:xfrm>
          <a:prstGeom prst="rect">
            <a:avLst/>
          </a:prstGeom>
          <a:solidFill>
            <a:srgbClr val="1A0A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97680" y="4370832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8854A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1,445</a:t>
            </a:r>
            <a:endParaRPr lang="en-US" sz="2200" dirty="0">
              <a:latin typeface="Franklin Gothic Medium" panose="020B060302010202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4297680" y="496519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ECD7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Hot Leads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6172200" y="4297680"/>
            <a:ext cx="1737360" cy="1115568"/>
          </a:xfrm>
          <a:prstGeom prst="rect">
            <a:avLst/>
          </a:prstGeom>
          <a:solidFill>
            <a:srgbClr val="4A2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72200" y="4370832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8854A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84%</a:t>
            </a:r>
            <a:endParaRPr lang="en-US" sz="2200" dirty="0">
              <a:latin typeface="Franklin Gothic Medium" panose="020B0603020102020204" pitchFamily="34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6172200" y="496519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ECD7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Units Sold in 5 mo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8229600" y="1417320"/>
            <a:ext cx="3749040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8229600" y="1417320"/>
            <a:ext cx="3749040" cy="384048"/>
          </a:xfrm>
          <a:prstGeom prst="rect">
            <a:avLst/>
          </a:prstGeom>
          <a:solidFill>
            <a:srgbClr val="1A0A00"/>
          </a:solidFill>
          <a:ln w="12700">
            <a:solidFill>
              <a:srgbClr val="1A0A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366760" y="14447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854A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Singapore Real Estate Agent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8366760" y="1874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0A00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REI Webinar Method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8366760" y="217627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Tools: Google · YouTube · Meta · WhatsApp · GoHighLevel CRM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8366760" y="262432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2000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Duration: 6 Months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8229600" y="2926080"/>
            <a:ext cx="374904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229600" y="3017520"/>
            <a:ext cx="1737360" cy="1115568"/>
          </a:xfrm>
          <a:prstGeom prst="rect">
            <a:avLst/>
          </a:prstGeom>
          <a:solidFill>
            <a:srgbClr val="1A0A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229600" y="3090672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8854A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8×</a:t>
            </a:r>
            <a:endParaRPr lang="en-US" sz="2200" dirty="0">
              <a:latin typeface="Franklin Gothic Medium" panose="020B0603020102020204" pitchFamily="34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8229600" y="368503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ECD7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Close Rate Improvement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10104120" y="3017520"/>
            <a:ext cx="1737360" cy="1115568"/>
          </a:xfrm>
          <a:prstGeom prst="rect">
            <a:avLst/>
          </a:prstGeom>
          <a:solidFill>
            <a:srgbClr val="4A2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104120" y="3090672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8854A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200%</a:t>
            </a:r>
            <a:endParaRPr lang="en-US" sz="2200" dirty="0">
              <a:latin typeface="Franklin Gothic Medium" panose="020B0603020102020204" pitchFamily="34" charset="0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10104120" y="368503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ECD7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Drop in CPL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8229600" y="4297680"/>
            <a:ext cx="1737360" cy="1115568"/>
          </a:xfrm>
          <a:prstGeom prst="rect">
            <a:avLst/>
          </a:prstGeom>
          <a:solidFill>
            <a:srgbClr val="1A0A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229600" y="4370832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8854A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380%</a:t>
            </a:r>
            <a:endParaRPr lang="en-US" sz="2200" dirty="0">
              <a:latin typeface="Franklin Gothic Medium" panose="020B0603020102020204" pitchFamily="34" charset="0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8229600" y="496519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ECD7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Lead Quality Increase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10104120" y="4297680"/>
            <a:ext cx="1737360" cy="1115568"/>
          </a:xfrm>
          <a:prstGeom prst="rect">
            <a:avLst/>
          </a:prstGeom>
          <a:solidFill>
            <a:srgbClr val="4A2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104120" y="4370832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8854A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$13K</a:t>
            </a:r>
            <a:endParaRPr lang="en-US" sz="2200" dirty="0">
              <a:latin typeface="Franklin Gothic Medium" panose="020B0603020102020204" pitchFamily="34" charset="0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10104120" y="496519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ECD7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Total Spend — 198 Leads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0" y="6583680"/>
            <a:ext cx="1216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Confidential @ Digifyce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46888"/>
            <a:ext cx="54864" cy="292608"/>
          </a:xfrm>
          <a:prstGeom prst="rect">
            <a:avLst/>
          </a:prstGeom>
          <a:solidFill>
            <a:srgbClr val="C8854A"/>
          </a:solidFill>
          <a:ln w="12700">
            <a:solidFill>
              <a:srgbClr val="C885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8854A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PROOF OF PERFORMANCE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0A00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Live Results from Digifyce — Same Systems, Different Brands</a:t>
            </a:r>
            <a:endParaRPr lang="en-US" sz="2800" dirty="0">
              <a:latin typeface="Franklin Gothic Medium" panose="020B06030201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3749040" cy="384048"/>
          </a:xfrm>
          <a:prstGeom prst="rect">
            <a:avLst/>
          </a:prstGeom>
          <a:solidFill>
            <a:srgbClr val="1A0A00"/>
          </a:solidFill>
          <a:ln w="12700">
            <a:solidFill>
              <a:srgbClr val="1A0A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447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854A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FMCG – Ready to Eat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02920" y="1874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0A00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D2C Sales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02920" y="217627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Tools: Facebook · Email · WhatsApp · Drip · Google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02920" y="262432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2000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Duration: 6 Months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65760" y="2926080"/>
            <a:ext cx="374904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97680" y="1417320"/>
            <a:ext cx="3749040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297680" y="1417320"/>
            <a:ext cx="3749040" cy="384048"/>
          </a:xfrm>
          <a:prstGeom prst="rect">
            <a:avLst/>
          </a:prstGeom>
          <a:solidFill>
            <a:srgbClr val="1A0A00"/>
          </a:solidFill>
          <a:ln w="12700">
            <a:solidFill>
              <a:srgbClr val="1A0A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34840" y="14447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854A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FMCG –Health Supplements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434840" y="1874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0A00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D2C &amp; Market Places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434840" y="217627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94A3B8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Tools: Facebook · Google · Email · WhatsApp · Amazon · Flipkart · Drip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434840" y="262432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2000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Duration: 10 Months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297680" y="2926080"/>
            <a:ext cx="374904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229600" y="1417320"/>
            <a:ext cx="3749040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8229600" y="1417320"/>
            <a:ext cx="3749040" cy="384048"/>
          </a:xfrm>
          <a:prstGeom prst="rect">
            <a:avLst/>
          </a:prstGeom>
          <a:solidFill>
            <a:srgbClr val="1A0A00"/>
          </a:solidFill>
          <a:ln w="12700">
            <a:solidFill>
              <a:srgbClr val="1A0A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366760" y="14447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854A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FMCG – Ready to Cook 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8229600" y="2926080"/>
            <a:ext cx="374904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229600" y="3017520"/>
            <a:ext cx="1737360" cy="1115568"/>
          </a:xfrm>
          <a:prstGeom prst="rect">
            <a:avLst/>
          </a:prstGeom>
          <a:solidFill>
            <a:srgbClr val="1A0A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229600" y="3090672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8854A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8×</a:t>
            </a:r>
            <a:endParaRPr lang="en-US" sz="2200" dirty="0">
              <a:latin typeface="Franklin Gothic Medium" panose="020B0603020102020204" pitchFamily="34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8229600" y="368503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ECD7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Close Rate Improvement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10104120" y="3017520"/>
            <a:ext cx="1737360" cy="1115568"/>
          </a:xfrm>
          <a:prstGeom prst="rect">
            <a:avLst/>
          </a:prstGeom>
          <a:solidFill>
            <a:srgbClr val="4A2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104120" y="3090672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8854A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200%</a:t>
            </a:r>
            <a:endParaRPr lang="en-US" sz="2200" dirty="0">
              <a:latin typeface="Franklin Gothic Medium" panose="020B0603020102020204" pitchFamily="34" charset="0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10104120" y="368503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ECD7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Drop in CPL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8229600" y="4297680"/>
            <a:ext cx="1737360" cy="1115568"/>
          </a:xfrm>
          <a:prstGeom prst="rect">
            <a:avLst/>
          </a:prstGeom>
          <a:solidFill>
            <a:srgbClr val="1A0A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229600" y="4370832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8854A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380%</a:t>
            </a:r>
            <a:endParaRPr lang="en-US" sz="2200" dirty="0">
              <a:latin typeface="Franklin Gothic Medium" panose="020B0603020102020204" pitchFamily="34" charset="0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8229600" y="496519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ECD7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Lead Quality Increase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10104120" y="4297680"/>
            <a:ext cx="1737360" cy="1115568"/>
          </a:xfrm>
          <a:prstGeom prst="rect">
            <a:avLst/>
          </a:prstGeom>
          <a:solidFill>
            <a:srgbClr val="4A2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104120" y="4370832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8854A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$13K</a:t>
            </a:r>
            <a:endParaRPr lang="en-US" sz="2200" dirty="0">
              <a:latin typeface="Franklin Gothic Medium" panose="020B0603020102020204" pitchFamily="34" charset="0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10104120" y="496519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ECD7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Total Spend — 198 Leads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0" y="6583680"/>
            <a:ext cx="1216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Confidential @ Digifyce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4CDDD93D-2E61-474C-8E6D-2EFBA6F6FC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34" y="3062348"/>
            <a:ext cx="4203646" cy="2654935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8B0BD1CE-C5B6-DF4D-A2CB-B9CC92F774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1133" y="3179880"/>
            <a:ext cx="3714845" cy="2350008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BC606079-AAEE-EC4F-B789-FDA360D498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3054096"/>
            <a:ext cx="3767335" cy="2403981"/>
          </a:xfrm>
          <a:prstGeom prst="rect">
            <a:avLst/>
          </a:prstGeom>
        </p:spPr>
      </p:pic>
      <p:sp>
        <p:nvSpPr>
          <p:cNvPr id="69" name="Text 25">
            <a:extLst>
              <a:ext uri="{FF2B5EF4-FFF2-40B4-BE49-F238E27FC236}">
                <a16:creationId xmlns:a16="http://schemas.microsoft.com/office/drawing/2014/main" id="{BD7EF671-DA36-5E47-84F8-26AA9323092D}"/>
              </a:ext>
            </a:extLst>
          </p:cNvPr>
          <p:cNvSpPr/>
          <p:nvPr/>
        </p:nvSpPr>
        <p:spPr>
          <a:xfrm>
            <a:off x="8366760" y="189395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0A00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D2C &amp; Market Places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70" name="Text 26">
            <a:extLst>
              <a:ext uri="{FF2B5EF4-FFF2-40B4-BE49-F238E27FC236}">
                <a16:creationId xmlns:a16="http://schemas.microsoft.com/office/drawing/2014/main" id="{2C871C41-FBD4-2B4B-8CA3-5775808A8FF7}"/>
              </a:ext>
            </a:extLst>
          </p:cNvPr>
          <p:cNvSpPr/>
          <p:nvPr/>
        </p:nvSpPr>
        <p:spPr>
          <a:xfrm>
            <a:off x="8366760" y="219570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94A3B8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Tools: Facebook · Google · Email · WhatsApp · Amazon · Flipkart · Drip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71" name="Text 27">
            <a:extLst>
              <a:ext uri="{FF2B5EF4-FFF2-40B4-BE49-F238E27FC236}">
                <a16:creationId xmlns:a16="http://schemas.microsoft.com/office/drawing/2014/main" id="{55488D54-02B4-5548-8DF1-8EE699837479}"/>
              </a:ext>
            </a:extLst>
          </p:cNvPr>
          <p:cNvSpPr/>
          <p:nvPr/>
        </p:nvSpPr>
        <p:spPr>
          <a:xfrm>
            <a:off x="8366760" y="264375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2000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Duration: 10 Months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86171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0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C8854A"/>
          </a:solidFill>
          <a:ln w="12700">
            <a:solidFill>
              <a:srgbClr val="C8854A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5433" y="1540764"/>
            <a:ext cx="2286000" cy="2286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873252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Kaapi Stop has the product.</a:t>
            </a:r>
            <a:endParaRPr lang="en-US" sz="2800" dirty="0">
              <a:latin typeface="Franklin Gothic Medium" panose="020B06030201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731520" y="1495044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8854A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Digifyce brings the market.</a:t>
            </a:r>
            <a:endParaRPr lang="en-US" sz="2800" dirty="0">
              <a:latin typeface="Franklin Gothic Medium" panose="020B060302010202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731520" y="2171700"/>
            <a:ext cx="2743200" cy="45720"/>
          </a:xfrm>
          <a:prstGeom prst="rect">
            <a:avLst/>
          </a:prstGeom>
          <a:solidFill>
            <a:srgbClr val="C8854A"/>
          </a:solidFill>
          <a:ln w="12700">
            <a:solidFill>
              <a:srgbClr val="C885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2318004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ECD7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The South India coffee market is growing at 27% CAGR. The B2B vending opportunity is untapped.</a:t>
            </a:r>
            <a:endParaRPr lang="en-US" sz="1300" dirty="0">
              <a:latin typeface="Franklin Gothic Medium" panose="020B0603020102020204" pitchFamily="34" charset="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F5ECD7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Every day without a digital system is a day your competitors fill that gap.</a:t>
            </a:r>
            <a:endParaRPr lang="en-US" sz="1300" dirty="0">
              <a:latin typeface="Franklin Gothic Medium" panose="020B06030201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31520" y="315925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8854A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NEXT STEPS — WHAT HAPPENS THIS WEEK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31520" y="3543300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ECD7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01  Agree on starting vertical and package - we focus, not scatter</a:t>
            </a:r>
            <a:endParaRPr lang="en-US" sz="1200" dirty="0">
              <a:latin typeface="Franklin Gothic Medium" panose="020B06030201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31520" y="392734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ECD7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02  Onboarding call - share brand assets, ad accounts, and current data</a:t>
            </a:r>
            <a:endParaRPr lang="en-US" sz="1200" dirty="0">
              <a:latin typeface="Franklin Gothic Medium" panose="020B06030201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31520" y="4311396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ECD7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03  First campaign live within 7 days of engagement confirmation</a:t>
            </a:r>
            <a:endParaRPr lang="en-US" sz="1200" dirty="0">
              <a:latin typeface="Franklin Gothic Medium" panose="020B0603020102020204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731520" y="4695444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ECD7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04  Week 3 data review - real numbers, real adjustments</a:t>
            </a:r>
            <a:endParaRPr lang="en-US" sz="1200" dirty="0">
              <a:latin typeface="Franklin Gothic Medium" panose="020B0603020102020204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731520" y="5806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Ready to start? Let's get to work.</a:t>
            </a:r>
            <a:endParaRPr lang="en-US" sz="1600" dirty="0">
              <a:latin typeface="Franklin Gothic Medium" panose="020B06030201020202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73152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Franklin Gothic Medium" panose="020B0603020102020204" pitchFamily="34" charset="0"/>
                <a:ea typeface="Calibri" pitchFamily="34" charset="-122"/>
                <a:cs typeface="Calibri" pitchFamily="34" charset="-120"/>
              </a:rPr>
              <a:t>www.digifyce.com  ·  ragav@digifyce.com  ·  +91 90259 89708  ·  Confidential — for Kaapi Stop internal use only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2553</Words>
  <Application>Microsoft Office PowerPoint</Application>
  <PresentationFormat>Widescreen</PresentationFormat>
  <Paragraphs>541</Paragraphs>
  <Slides>20</Slides>
  <Notes>19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Kaapi Stop × Digifyce — Growth Pitch 2025</dc:title>
  <dc:subject>PptxGenJS Presentation</dc:subject>
  <dc:creator>PptxGenJS</dc:creator>
  <cp:lastModifiedBy>Ragavendra Kumar</cp:lastModifiedBy>
  <cp:revision>8</cp:revision>
  <dcterms:created xsi:type="dcterms:W3CDTF">2026-05-14T07:14:24Z</dcterms:created>
  <dcterms:modified xsi:type="dcterms:W3CDTF">2026-06-30T11:14:55Z</dcterms:modified>
</cp:coreProperties>
</file>