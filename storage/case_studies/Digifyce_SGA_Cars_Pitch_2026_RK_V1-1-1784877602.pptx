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6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86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539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12161520" cy="36576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097280"/>
            <a:ext cx="5943600" cy="4389120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75520" y="228600"/>
            <a:ext cx="2011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0" y="228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Franklin Gothic Medium" panose="020B0603020102020204" pitchFamily="34" charset="0"/>
              </a:rPr>
              <a:t>CONFIDENTIAL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DIGIFYCE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Digital Growth Agency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FROM LEADS TO</a:t>
            </a:r>
            <a:endParaRPr lang="en-US" sz="44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SHOWROOM VISITS</a:t>
            </a:r>
            <a:endParaRPr lang="en-US" sz="44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A Full-Funnel Growth Blueprint for</a:t>
            </a:r>
            <a:endParaRPr 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SGA Cars — Coimbatore's Premier</a:t>
            </a:r>
            <a:endParaRPr lang="en-US" sz="1800" dirty="0">
              <a:latin typeface="Franklin Gothic Medium" panose="020B06030201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Multi-Brand Dealership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457200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754880"/>
            <a:ext cx="1188720" cy="347472"/>
          </a:xfrm>
          <a:prstGeom prst="rect">
            <a:avLst/>
          </a:prstGeom>
          <a:solidFill>
            <a:srgbClr val="006DB6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754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ŠKODA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691640" y="4754880"/>
            <a:ext cx="1188720" cy="347472"/>
          </a:xfrm>
          <a:prstGeom prst="rect">
            <a:avLst/>
          </a:prstGeom>
          <a:solidFill>
            <a:srgbClr val="00518C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91640" y="4754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TATA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017520" y="4754880"/>
            <a:ext cx="1188720" cy="347472"/>
          </a:xfrm>
          <a:prstGeom prst="rect">
            <a:avLst/>
          </a:prstGeom>
          <a:solidFill>
            <a:srgbClr val="BA0020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017520" y="4754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JEEP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43400" y="4754880"/>
            <a:ext cx="1188720" cy="347472"/>
          </a:xfrm>
          <a:prstGeom prst="rect">
            <a:avLst/>
          </a:prstGeom>
          <a:solidFill>
            <a:srgbClr val="8B0000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43400" y="4754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CITROËN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Presented by Digifyce  |  May 2026  |  Coimbatore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D7EBEF-C66F-CC44-A864-8EBBB2956FB7}"/>
              </a:ext>
            </a:extLst>
          </p:cNvPr>
          <p:cNvPicPr/>
          <p:nvPr/>
        </p:nvPicPr>
        <p:blipFill>
          <a:blip r:embed="rId3"/>
          <a:srcRect l="26595" t="22340" r="23404" b="21277"/>
          <a:stretch>
            <a:fillRect/>
          </a:stretch>
        </p:blipFill>
        <p:spPr>
          <a:xfrm>
            <a:off x="7839549" y="2481146"/>
            <a:ext cx="2624384" cy="2958187"/>
          </a:xfrm>
          <a:prstGeom prst="rect">
            <a:avLst/>
          </a:prstGeom>
          <a:ln>
            <a:noFill/>
          </a:ln>
        </p:spPr>
      </p:pic>
      <p:sp>
        <p:nvSpPr>
          <p:cNvPr id="27" name="Text 11">
            <a:extLst>
              <a:ext uri="{FF2B5EF4-FFF2-40B4-BE49-F238E27FC236}">
                <a16:creationId xmlns:a16="http://schemas.microsoft.com/office/drawing/2014/main" id="{71B4EEA4-FF4B-B04E-AB8A-2B16937B60BE}"/>
              </a:ext>
            </a:extLst>
          </p:cNvPr>
          <p:cNvSpPr/>
          <p:nvPr/>
        </p:nvSpPr>
        <p:spPr>
          <a:xfrm>
            <a:off x="7040880" y="20802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latin typeface="Franklin Gothic Medium" panose="020B0603020102020204" pitchFamily="34" charset="0"/>
              </a:rPr>
              <a:t>PRESENTED BY</a:t>
            </a:r>
            <a:endParaRPr lang="en-US" sz="44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THE FUNNEL: BEFORE  vs  AFTER DIGIFYCE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5394960" cy="589788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53949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4980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❌  CURRENT STATE — SGA CARS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937760" cy="47548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AWARENESS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627632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Generic Ads — All Brands Same Look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⚠ No persona. No story. Just offer.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98648" y="2194560"/>
            <a:ext cx="54864" cy="32004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560320"/>
            <a:ext cx="4206240" cy="47548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6060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LEADS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2688" y="281635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₹150–200 Cost Per Lead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⚠ High CPL, low intent audience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98648" y="3383280"/>
            <a:ext cx="54864" cy="32004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749040"/>
            <a:ext cx="3474720" cy="47548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79476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QUALIFICATION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98448" y="4005072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Manual Telecalling — Next Day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2793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⚠ Lead turns cold overnight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898648" y="4572000"/>
            <a:ext cx="54864" cy="32004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54480" y="4937760"/>
            <a:ext cx="2743200" cy="475488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498348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WALK-IN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64208" y="51937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~5% Conversion Rate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54681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⚠ Most MQLs never reach showroom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6080760"/>
            <a:ext cx="4846320" cy="438912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08076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Result: ~33 Walk-ins per ₹1L Ad Spend  |  5% Closure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23560" y="3246120"/>
            <a:ext cx="914400" cy="9144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A0E1A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VS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37960" y="749808"/>
            <a:ext cx="5394960" cy="5897880"/>
          </a:xfrm>
          <a:prstGeom prst="rect">
            <a:avLst/>
          </a:prstGeom>
          <a:solidFill>
            <a:srgbClr val="0A1A0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749808"/>
            <a:ext cx="539496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74980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✅  DIGIFYCE APPROACH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66560" y="1371600"/>
            <a:ext cx="4937760" cy="47548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141732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AWARENESS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76288" y="1627632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Persona-Led Content — TOF Strategy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66560" y="19019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✓ Brand story, EMI calc, educational reels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08008" y="2194560"/>
            <a:ext cx="54864" cy="3200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560320"/>
            <a:ext cx="4206240" cy="47548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42048" y="26060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LEADS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42048" y="281635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₹75–100 Cost Per Lead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66560" y="30906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✓ Right audience = 2× lead volume, same budget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208008" y="3383280"/>
            <a:ext cx="54864" cy="3200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3749040"/>
            <a:ext cx="3474720" cy="475488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379476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QUALIFICATION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607808" y="4005072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Zingbot WhatsApp Bot — &lt; 2 Minutes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766560" y="42793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✓ 24×7 auto-scoring, lead stays warm instantly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208008" y="4572000"/>
            <a:ext cx="54864" cy="3200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4937760"/>
            <a:ext cx="2743200" cy="47548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498348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WALK-IN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973568" y="51937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Target 15–18% Conversion Rate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766560" y="54681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✓ Sales team only touches hot MQLs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12280" y="6080760"/>
            <a:ext cx="4846320" cy="43891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608076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Result: 150+ Walk-ins per ₹1L Ad Spend  |  Target 15–18% Closure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365760" y="6661737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ranklin Gothic Medium" panose="020B0603020102020204" pitchFamily="34" charset="0"/>
              </a:rPr>
              <a:t>Digifyce  |  SGA Cars Growth Proposal  | 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941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  <a:latin typeface="Franklin Gothic Medium" panose="020B0603020102020204" pitchFamily="34" charset="0"/>
              </a:rPr>
              <a:t>AD AUDIT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What We Found in Your Meta Ad Library</a:t>
            </a: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669280" cy="1965960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01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Generic Creatives</a:t>
            </a:r>
            <a:endParaRPr lang="en-US" sz="15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Static images, plain offers. No storytelling. No visual differentiation between Škoda, Tata, Jeep, or Citroën — they all look the same.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669280" cy="196596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417320"/>
            <a:ext cx="6400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02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4088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Zero Persona Targeting</a:t>
            </a:r>
            <a:endParaRPr lang="en-US" sz="15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One ad message for all audiences. A young first-time buyer for Tata Kylaq and a Jeep Compass adventure-seeker need completely different conversations.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5669280" cy="1965960"/>
          </a:xfrm>
          <a:prstGeom prst="rect">
            <a:avLst/>
          </a:prstGeom>
          <a:solidFill>
            <a:srgbClr val="1E2A3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6400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03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No Funnel Strategy</a:t>
            </a:r>
            <a:endParaRPr lang="en-US" sz="15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Every ad goes straight for the lead. No awareness content. No consideration layer.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Cold traffic is asked to submit contact details immediately.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3657600"/>
            <a:ext cx="5669280" cy="196596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657600"/>
            <a:ext cx="6400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04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4088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Asset Poverty</a:t>
            </a:r>
            <a:endParaRPr lang="en-US" sz="15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46520" y="425196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Algorithm changes on Meta &amp; Google reward volume and variety. Minimal video, minimal formats. This means higher CPL and lower reach efficiency.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Source: Meta Ads Library — SGA Cars &amp; SGA Motors active campaigns, May 2026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Franklin Gothic Medium" panose="020B0603020102020204" pitchFamily="34" charset="0"/>
              </a:rPr>
              <a:t>BRAND PERSONAS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One Size Fits None — Right Message, Right Person</a:t>
            </a:r>
            <a:endParaRPr lang="en-US" sz="24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669280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1D6DB5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669280" cy="457200"/>
          </a:xfrm>
          <a:prstGeom prst="rect">
            <a:avLst/>
          </a:prstGeom>
          <a:solidFill>
            <a:srgbClr val="1D6DB5"/>
          </a:solidFill>
          <a:ln w="12700">
            <a:solidFill>
              <a:srgbClr val="1D6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ŠKODA  ·  "The Connoisseur"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32–50 yrs | Upper-mid income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PAIN POINT: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4592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Wants European engineering without the German price tag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HOOK: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2404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Precision-Engineered. Beautifully Understated.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MODELS: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25880" y="2752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Kushaq · Slavia · Kodiaq · Kylaq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5394960" cy="36576"/>
          </a:xfrm>
          <a:prstGeom prst="rect">
            <a:avLst/>
          </a:prstGeom>
          <a:solidFill>
            <a:srgbClr val="1D6DB5">
              <a:alpha val="50000"/>
            </a:srgbClr>
          </a:solidFill>
          <a:ln w="12700">
            <a:solidFill>
              <a:srgbClr val="1D6D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Franklin Gothic Medium" panose="020B0603020102020204" pitchFamily="34" charset="0"/>
              </a:rPr>
              <a:t>→ Funnel messaging built around this persona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1234440"/>
            <a:ext cx="5669280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518C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234440"/>
            <a:ext cx="5669280" cy="457200"/>
          </a:xfrm>
          <a:prstGeom prst="rect">
            <a:avLst/>
          </a:prstGeom>
          <a:solidFill>
            <a:srgbClr val="00518C"/>
          </a:solidFill>
          <a:ln w="12700">
            <a:solidFill>
              <a:srgbClr val="0051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TATA  ·  "The Smart Upgrader"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1764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26–42 yrs | Middle-income | EV-curious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Franklin Gothic Medium" panose="020B0603020102020204" pitchFamily="34" charset="0"/>
              </a:rPr>
              <a:t>PAIN POINT: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8952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Rising fuel costs, wants to go electric but fears range anxiety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2404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HOOK: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78040" y="2404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Drive Smart. Save More. Go Electric.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2752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MODELS: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69480" y="2752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Nexon EV · Punch EV · Curvv EV · Harrier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0" y="3154680"/>
            <a:ext cx="5394960" cy="36576"/>
          </a:xfrm>
          <a:prstGeom prst="rect">
            <a:avLst/>
          </a:prstGeom>
          <a:solidFill>
            <a:srgbClr val="00518C">
              <a:alpha val="50000"/>
            </a:srgbClr>
          </a:solidFill>
          <a:ln w="12700">
            <a:solidFill>
              <a:srgbClr val="0051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246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Franklin Gothic Medium" panose="020B0603020102020204" pitchFamily="34" charset="0"/>
              </a:rPr>
              <a:t>→ Funnel messaging built around this persona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5669280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78350F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749040"/>
            <a:ext cx="5669280" cy="45720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JEEP  ·  "The Weekend Adventurer"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30–48 yrs | High income | 2nd car buyer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PAIN POINT: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64592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Daily life is routine. Weekends should be legendary.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HOOK: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34440" y="4919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Born to Be Driven. Everywhere.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5266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MODELS: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25880" y="5266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Compass · Meridian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5669280"/>
            <a:ext cx="5394960" cy="36576"/>
          </a:xfrm>
          <a:prstGeom prst="rect">
            <a:avLst/>
          </a:prstGeom>
          <a:solidFill>
            <a:srgbClr val="78350F">
              <a:alpha val="50000"/>
            </a:srgbClr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760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Franklin Gothic Medium" panose="020B0603020102020204" pitchFamily="34" charset="0"/>
              </a:rPr>
              <a:t>→ Funnel messaging built around this persona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63640" y="3749040"/>
            <a:ext cx="5669280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4B5563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3749040"/>
            <a:ext cx="5669280" cy="4572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CITROËN  ·  "The Urban Minimalist"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0080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24–38 yrs | Young professional | Style-first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00800" y="4572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PAIN POINT: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8952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Every car looks the same. Wants to stand out without screaming.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00800" y="4919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HOOK: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178040" y="4919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Effortlessly French. Unapologetically You.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400800" y="5266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MODELS: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269480" y="5266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C3 · C3 Aircross · Basalt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400800" y="5669280"/>
            <a:ext cx="5394960" cy="36576"/>
          </a:xfrm>
          <a:prstGeom prst="rect">
            <a:avLst/>
          </a:prstGeom>
          <a:solidFill>
            <a:srgbClr val="4B5563">
              <a:alpha val="50000"/>
            </a:srgbClr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5760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Franklin Gothic Medium" panose="020B0603020102020204" pitchFamily="34" charset="0"/>
              </a:rPr>
              <a:t>→ Funnel messaging built around this persona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6576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Digifyce  |  SGA Cars Growth Proposal  |  2026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THE SOLUTION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Blue Ocean Full-Funnel Framework</a:t>
            </a: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6576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TOP OF FUNNEL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BUILD AWARENESS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3657600" cy="3383280"/>
          </a:xfrm>
          <a:prstGeom prst="rect">
            <a:avLst/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01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Educational Content (</a:t>
            </a:r>
            <a:r>
              <a:rPr lang="en-US" sz="1050" dirty="0" err="1">
                <a:solidFill>
                  <a:srgbClr val="F1F5F9"/>
                </a:solidFill>
                <a:latin typeface="Franklin Gothic Medium" panose="020B0603020102020204" pitchFamily="34" charset="0"/>
              </a:rPr>
              <a:t>Eg.</a:t>
            </a: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 Why EV?)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04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Brand Story Videos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07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EMI Calculator Tool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107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Comparison Guides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01168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136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Google Display / YouTube Pre-roll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3383280" cy="5029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72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Goal: 10x Reach</a:t>
            </a:r>
            <a:endParaRPr lang="en-US" sz="10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without spending more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51960" y="1280160"/>
            <a:ext cx="36576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519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MIDDLE OF FUNNEL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5196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CAPTURE INTENT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51960" y="1783080"/>
            <a:ext cx="3657600" cy="3383280"/>
          </a:xfrm>
          <a:prstGeom prst="rect">
            <a:avLst/>
          </a:prstGeom>
          <a:solidFill>
            <a:srgbClr val="1E2A3A"/>
          </a:solidFill>
          <a:ln w="1016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192024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901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Retargeting warm audiences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89120" y="242316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404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Persona-specific ad creatives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89120" y="292608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907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Test Drive booking forms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0" y="342900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4107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WhatsApp Click-to-Chat ads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89120" y="393192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9136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Offer-led landing pages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89120" y="4572000"/>
            <a:ext cx="3383280" cy="502920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4572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Goal: CPL ₹75–100</a:t>
            </a:r>
            <a:endParaRPr lang="en-US" sz="10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vs current ₹150–200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83880" y="1280160"/>
            <a:ext cx="36576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183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BOTTOM OF FUNNEL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18388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QUALIFY &amp; CONVERT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83880" y="1783080"/>
            <a:ext cx="3657600" cy="3383280"/>
          </a:xfrm>
          <a:prstGeom prst="rect">
            <a:avLst/>
          </a:prstGeom>
          <a:solidFill>
            <a:srgbClr val="1E2A3A"/>
          </a:solidFill>
          <a:ln w="1016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21040" y="192024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1901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WhatsApp Bot (Zingbot)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21040" y="242316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2404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Instant lead scoring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21040" y="292608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2907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24×7 auto-qualification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321040" y="342900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34107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CRM auto-push (warm leads)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321040" y="393192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0" y="39136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Sales team gets hot MQLs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321040" y="4572000"/>
            <a:ext cx="3383280" cy="50292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4572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Goal: 3× Walk-in</a:t>
            </a:r>
            <a:endParaRPr lang="en-US" sz="10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Conversion Rate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977640" y="3154680"/>
            <a:ext cx="274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3154680"/>
            <a:ext cx="274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Powered by: Meta Ads · Google Ads · WhatsApp API (Zingbot) · CRM Integration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TECHNOLOGY LAYER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Automated Lead Qualification — 24×7, Zero Delay</a:t>
            </a:r>
            <a:endParaRPr lang="en-US" sz="24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0" cy="822960"/>
          </a:xfrm>
          <a:prstGeom prst="rect">
            <a:avLst/>
          </a:prstGeom>
          <a:solidFill>
            <a:srgbClr val="3B82F6">
              <a:alpha val="8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AD CLICK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Meta / Google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182880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463040"/>
            <a:ext cx="2011680" cy="822960"/>
          </a:xfrm>
          <a:prstGeom prst="rect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LANDING PAGE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Persona-specific offer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63040"/>
            <a:ext cx="2011680" cy="822960"/>
          </a:xfrm>
          <a:prstGeom prst="rect">
            <a:avLst/>
          </a:prstGeom>
          <a:solidFill>
            <a:srgbClr val="25D366">
              <a:alpha val="80000"/>
            </a:srgbClr>
          </a:solidFill>
          <a:ln w="19050">
            <a:solidFill>
              <a:srgbClr val="25D36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WHATSAPP BOT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Zingbot — 24×7 Active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463040"/>
            <a:ext cx="201168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LEAD SCORING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Budget · Timeline · Model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0" y="182880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1463040"/>
            <a:ext cx="2011680" cy="822960"/>
          </a:xfrm>
          <a:prstGeom prst="rect">
            <a:avLst/>
          </a:prstGeom>
          <a:solidFill>
            <a:srgbClr val="EF4444">
              <a:alpha val="80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0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CRM PUSH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Hot MQL — Instant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2514600"/>
            <a:ext cx="5303520" cy="4023360"/>
          </a:xfrm>
          <a:prstGeom prst="rect">
            <a:avLst/>
          </a:prstGeom>
          <a:solidFill>
            <a:srgbClr val="0E1F12"/>
          </a:solidFill>
          <a:ln w="19050">
            <a:solidFill>
              <a:srgbClr val="25D36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6060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D366"/>
                </a:solidFill>
                <a:latin typeface="Franklin Gothic Medium" panose="020B0603020102020204" pitchFamily="34" charset="0"/>
              </a:rPr>
              <a:t>💬 WhatsApp Qualification Flow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3063240"/>
            <a:ext cx="2560320" cy="384048"/>
          </a:xfrm>
          <a:prstGeom prst="rect">
            <a:avLst/>
          </a:prstGeom>
          <a:solidFill>
            <a:srgbClr val="1A3320"/>
          </a:solidFill>
          <a:ln w="12700">
            <a:solidFill>
              <a:srgbClr val="1A33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09981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Hi! 👋 Thank you for your interest in SGA Cars. Which brand are you exploring today?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108960" y="3538728"/>
            <a:ext cx="2560320" cy="384048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3575304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Tata Nexon EV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4014216"/>
            <a:ext cx="2560320" cy="384048"/>
          </a:xfrm>
          <a:prstGeom prst="rect">
            <a:avLst/>
          </a:prstGeom>
          <a:solidFill>
            <a:srgbClr val="1A3320"/>
          </a:solidFill>
          <a:ln w="12700">
            <a:solidFill>
              <a:srgbClr val="1A33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405079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Great choice! 🚗 What's your budget range? Under ₹12L / ₹12–18L / Above ₹18L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108960" y="4489704"/>
            <a:ext cx="2560320" cy="384048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452628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₹12–18L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920" y="4965192"/>
            <a:ext cx="2560320" cy="384048"/>
          </a:xfrm>
          <a:prstGeom prst="rect">
            <a:avLst/>
          </a:prstGeom>
          <a:solidFill>
            <a:srgbClr val="1A3320"/>
          </a:solidFill>
          <a:ln w="12700">
            <a:solidFill>
              <a:srgbClr val="1A33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500176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Perfect! Are you planning within 30 days or 1–3 months? I can schedule a test drive TODAY 🎯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108960" y="5440680"/>
            <a:ext cx="2560320" cy="384048"/>
          </a:xfrm>
          <a:prstGeom prst="rect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82112" y="547725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Within 30 days!</a:t>
            </a:r>
            <a:endParaRPr lang="en-US" sz="85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02920" y="62636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5D366"/>
                </a:solidFill>
                <a:latin typeface="Franklin Gothic Medium" panose="020B0603020102020204" pitchFamily="34" charset="0"/>
              </a:rPr>
              <a:t>→ Lead scored as HOT MQL and pushed to CRM automatically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35040" y="2514600"/>
            <a:ext cx="5852160" cy="914400"/>
          </a:xfrm>
          <a:prstGeom prst="rect">
            <a:avLst/>
          </a:prstGeom>
          <a:solidFill>
            <a:srgbClr val="1E2A3A"/>
          </a:solidFill>
          <a:ln w="635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72200" y="25877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Zero Wait Time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72200" y="29718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Bot responds in seconds — not the next business day when the lead is cold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5852160" cy="914400"/>
          </a:xfrm>
          <a:prstGeom prst="rect">
            <a:avLst/>
          </a:prstGeom>
          <a:solidFill>
            <a:srgbClr val="1E2A3A"/>
          </a:solidFill>
          <a:ln w="635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72200" y="36393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Smart Scoring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72200" y="40233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Budget, timeline, model preference captured before sales team contacts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35040" y="4617720"/>
            <a:ext cx="5852160" cy="914400"/>
          </a:xfrm>
          <a:prstGeom prst="rect">
            <a:avLst/>
          </a:prstGeom>
          <a:solidFill>
            <a:srgbClr val="1E2A3A"/>
          </a:solidFill>
          <a:ln w="635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72200" y="46908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CRM-Ready Leads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172200" y="50749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Only warm, qualified MQLs reach the sales desk — no cold calling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035040" y="5669280"/>
            <a:ext cx="5852160" cy="914400"/>
          </a:xfrm>
          <a:prstGeom prst="rect">
            <a:avLst/>
          </a:prstGeom>
          <a:solidFill>
            <a:srgbClr val="1E2A3A"/>
          </a:solidFill>
          <a:ln w="635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172200" y="57424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 24×7 Active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172200" y="61264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Night enquiries, Sunday enquiries — all captured and qualified instantly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6576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Powered by Zingbot.io WhatsApp API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THE MATH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Same Budget. Double the Leads. Better Quality.</a:t>
            </a: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3035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BEFORE DIGIFYCE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Cost Per Lead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66160" y="2029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₹150 – ₹200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5303520" cy="530352"/>
          </a:xfrm>
          <a:prstGeom prst="rect">
            <a:avLst/>
          </a:prstGeom>
          <a:solidFill>
            <a:srgbClr val="162032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Lead Quality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2624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Cold / Unqualified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Qualification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66160" y="32186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Manual Telecalling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5303520" cy="530352"/>
          </a:xfrm>
          <a:prstGeom prst="rect">
            <a:avLst/>
          </a:prstGeom>
          <a:solidFill>
            <a:srgbClr val="162032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13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Response Time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66160" y="38130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Next Business Day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Conversion Rate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66160" y="4407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~5%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5303520" cy="530352"/>
          </a:xfrm>
          <a:prstGeom prst="rect">
            <a:avLst/>
          </a:prstGeom>
          <a:solidFill>
            <a:srgbClr val="162032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001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Monthly Leads (₹1L budget)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66160" y="5001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500 – 666 leads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548640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596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Walk-ins from Leads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66160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~33 walk-ins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AFTER DIGIFYCE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192024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Cost Per Lead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01200" y="2029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₹75 – ₹100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2514600"/>
            <a:ext cx="5303520" cy="530352"/>
          </a:xfrm>
          <a:prstGeom prst="rect">
            <a:avLst/>
          </a:prstGeom>
          <a:solidFill>
            <a:srgbClr val="162032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Lead Quality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601200" y="2624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Warm / Pre-qualified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0800" y="310896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Qualification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01200" y="32186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Zingbot 24×7 Auto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00800" y="3703320"/>
            <a:ext cx="5303520" cy="530352"/>
          </a:xfrm>
          <a:prstGeom prst="rect">
            <a:avLst/>
          </a:prstGeom>
          <a:solidFill>
            <a:srgbClr val="162032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813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Response Time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601200" y="38130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&lt; 2 Minutes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00800" y="429768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Conversion Rate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601200" y="44074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Target 15–18%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400800" y="4892040"/>
            <a:ext cx="5303520" cy="530352"/>
          </a:xfrm>
          <a:prstGeom prst="rect">
            <a:avLst/>
          </a:prstGeom>
          <a:solidFill>
            <a:srgbClr val="162032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5001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Monthly Leads (₹1L budget)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601200" y="5001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1,000 – 1,333 leads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00800" y="5486400"/>
            <a:ext cx="5303520" cy="530352"/>
          </a:xfrm>
          <a:prstGeom prst="rect">
            <a:avLst/>
          </a:prstGeom>
          <a:solidFill>
            <a:srgbClr val="1E2A3A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5596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Walk-ins from Leads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601200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~150+ walk-ins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623560" y="3108960"/>
            <a:ext cx="914400" cy="9144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Franklin Gothic Medium" panose="020B0603020102020204" pitchFamily="34" charset="0"/>
              </a:rPr>
              <a:t>VS</a:t>
            </a:r>
            <a:endParaRPr lang="en-US" sz="1800" dirty="0">
              <a:latin typeface="Franklin Gothic Medium" panose="020B06030201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6576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Digifyce  |  SGA Cars Growth Proposal  |  2026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Franklin Gothic Medium" panose="020B0603020102020204" pitchFamily="34" charset="0"/>
              </a:rPr>
              <a:t>CREATIVE ASSETS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Content is the Currency. Volume Wins the Algorithm.</a:t>
            </a:r>
            <a:endParaRPr lang="en-US" sz="24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9184" y="1234440"/>
            <a:ext cx="5029200" cy="521208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Franklin Gothic Medium" panose="020B0603020102020204" pitchFamily="34" charset="0"/>
              </a:rPr>
              <a:t>Why More Assets?</a:t>
            </a:r>
            <a:endParaRPr 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560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1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2396" y="17647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Meta &amp; Google algorithms reward advertisers with MORE creative variations  your CPL drops as assets increase.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2560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2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7477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Different formats reach different attention spans: reels for discovery, carousels for comparison, stories for urgency.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2560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3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37719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Persona-matched creatives (EV buyer ≠ SUV adventurer) see 3× higher CTR than generic ads.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4983480"/>
            <a:ext cx="256032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4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2396" y="47960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Video ads generate 5× more engagement and are 60% cheaper in CPM on Meta in 2025.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0" y="1325880"/>
            <a:ext cx="306324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325880"/>
            <a:ext cx="3063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3716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SHORT VIDEOS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6072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Reels · Stories · YouTube Shorts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6072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  <a:latin typeface="Franklin Gothic Medium" panose="020B0603020102020204" pitchFamily="34" charset="0"/>
              </a:rPr>
              <a:t>📋 4 per brand/month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06840" y="1325880"/>
            <a:ext cx="306324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06840" y="1325880"/>
            <a:ext cx="30632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13716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STATIC IMAGERY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9828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Square · Portrait · Banner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9828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B82F6"/>
                </a:solidFill>
                <a:latin typeface="Franklin Gothic Medium" panose="020B0603020102020204" pitchFamily="34" charset="0"/>
              </a:rPr>
              <a:t>📋 8 per brand/month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0" y="3154680"/>
            <a:ext cx="306324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0" y="3154680"/>
            <a:ext cx="306324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2004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CAROUSEL ADS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60720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Model comparisons · Feature tours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760720" y="4023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5CF6"/>
                </a:solidFill>
                <a:latin typeface="Franklin Gothic Medium" panose="020B0603020102020204" pitchFamily="34" charset="0"/>
              </a:rPr>
              <a:t>📋 2 per brand/month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006840" y="3154680"/>
            <a:ext cx="306324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06840" y="3154680"/>
            <a:ext cx="30632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32004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EDUCATIONAL CONTENT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098280" y="3593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EMI guides · EV range charts · How-To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098280" y="4023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0B981"/>
                </a:solidFill>
                <a:latin typeface="Franklin Gothic Medium" panose="020B0603020102020204" pitchFamily="34" charset="0"/>
              </a:rPr>
              <a:t>📋 Downloadables + Infographics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669280" y="4983480"/>
            <a:ext cx="306324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69280" y="4983480"/>
            <a:ext cx="3063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5029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TESTIMONIAL VIDEOS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60720" y="54223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Owner stories · Delivery moments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760720" y="5852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📋 2 per brand/month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006840" y="4983480"/>
            <a:ext cx="306324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06840" y="4983480"/>
            <a:ext cx="3063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5029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OFFER CREATIVES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098280" y="54223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Festival · Seasonal · Bank Offers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098280" y="5852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Franklin Gothic Medium" panose="020B0603020102020204" pitchFamily="34" charset="0"/>
              </a:rPr>
              <a:t>📋 On-demand, responsive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6576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Digifyce  |  SGA Cars Growth Proposal  |  2026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ROADMAP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90-Day Execution Plan — From Setup to Scale</a:t>
            </a:r>
            <a:endParaRPr lang="en-US" sz="24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36576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PHASE 1  |  Days 1 – 30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Foundation &amp; Audit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3657600" cy="4389120"/>
          </a:xfrm>
          <a:prstGeom prst="rect">
            <a:avLst/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1168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933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Persona research &amp; finalization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267004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65176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Ad account audit &amp; restructure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328416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31012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Creative asset production (Round 1)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98678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96849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Zingbot WhatsApp setup &amp; flows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64515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6268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CRM integration &amp; lead tagging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530352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28523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Landing pages per brand/persona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51960" y="1371600"/>
            <a:ext cx="36576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5196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PHASE 2  |  Days 31 – 60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5196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Launch &amp; Optimize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51960" y="1874520"/>
            <a:ext cx="3657600" cy="4389120"/>
          </a:xfrm>
          <a:prstGeom prst="rect">
            <a:avLst/>
          </a:prstGeom>
          <a:solidFill>
            <a:srgbClr val="1E2A3A"/>
          </a:solidFill>
          <a:ln w="1016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201168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19933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Full-funnel campaign launch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434840" y="2670048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265176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A/B testing creatives &amp; audiences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34840" y="3328416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31012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Lead flow QA — bot to CRM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34840" y="398678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396849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Weekly performance reviews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34840" y="4645152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46268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CPL optimization to target ₹75–100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434840" y="530352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528523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Content calendar execution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83880" y="1371600"/>
            <a:ext cx="36576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1838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PHASE 3  |  Days 61 – 90</a:t>
            </a:r>
            <a:endParaRPr lang="en-US" sz="900" dirty="0">
              <a:latin typeface="Franklin Gothic Medium" panose="020B06030201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18388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Scale &amp; Report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83880" y="1874520"/>
            <a:ext cx="3657600" cy="4389120"/>
          </a:xfrm>
          <a:prstGeom prst="rect">
            <a:avLst/>
          </a:prstGeom>
          <a:solidFill>
            <a:srgbClr val="1E2A3A"/>
          </a:solidFill>
          <a:ln w="1016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366760" y="20116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59368" y="19933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Winning creatives scaled up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66760" y="267004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59368" y="265176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Persona campaigns refined by data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66760" y="332841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59368" y="331012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Lookalike audiences from walk-ins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366760" y="398678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59368" y="396849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Conversion rate report vs baseline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366760" y="464515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59368" y="46268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Month 3 ROI dashboard delivery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366760" y="53035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59368" y="528523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Phase 4 planning &amp; budget recommendation</a:t>
            </a:r>
            <a:endParaRPr lang="en-US" sz="1050" dirty="0">
              <a:latin typeface="Franklin Gothic Medium" panose="020B06030201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20040" y="6400800"/>
            <a:ext cx="11521440" cy="182880"/>
          </a:xfrm>
          <a:prstGeom prst="rect">
            <a:avLst/>
          </a:prstGeom>
          <a:solidFill>
            <a:srgbClr val="1E2A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6400800"/>
            <a:ext cx="38404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60520" y="6400800"/>
            <a:ext cx="384048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6400800"/>
            <a:ext cx="38404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WHY DIGIFYCE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We Don't Just Run Ads.</a:t>
            </a:r>
            <a:endParaRPr lang="en-US" sz="2600" dirty="0">
              <a:latin typeface="Franklin Gothic Medium" panose="020B0603020102020204" pitchFamily="34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We Engineer Growth Systems.</a:t>
            </a: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3749040" cy="210312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Persona-First Strategy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Every campaign starts with understanding the buyer — not the algorithm.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749040" cy="210312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57800" y="1920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Creative Excellence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High-quality, high-volume assets built for Coimbatore's car buyers.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66760" y="1691640"/>
            <a:ext cx="3749040" cy="210312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964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81160" y="1920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AI-Powered Qualification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49640" y="24688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Zingbot WhatsApp automation — leads never go cold again.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4069080"/>
            <a:ext cx="3749040" cy="210312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251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3444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Data-Driven Decisions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Weekly dashboards, A/B tests, and CPL targets you can hold us to.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43400" y="4069080"/>
            <a:ext cx="3749040" cy="210312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4251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End-to-End Integration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26280" y="4846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From ad to CRM to showroom — one seamless, auditable system.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66760" y="4069080"/>
            <a:ext cx="3749040" cy="2103120"/>
          </a:xfrm>
          <a:prstGeom prst="rect">
            <a:avLst/>
          </a:prstGeom>
          <a:solidFill>
            <a:srgbClr val="1E2A3A"/>
          </a:solidFill>
          <a:ln w="63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9640" y="4251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>
              <a:latin typeface="Franklin Gothic Medium" panose="020B06030201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28116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Automotive Domain Depth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49640" y="48463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We understand the dealership model, seasonality, and car buyer psychology.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Franklin Gothic Medium" panose="020B0603020102020204" pitchFamily="34" charset="0"/>
              </a:rPr>
              <a:t>Digifyce  |  SGA Cars Growth Proposal  |  2026</a:t>
            </a:r>
            <a:endParaRPr lang="en-US" sz="8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0972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DIGIFYCE</a:t>
            </a:r>
            <a:endParaRPr lang="en-US" sz="1400" dirty="0">
              <a:latin typeface="Franklin Gothic Medium" panose="020B06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9418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Let's Build the</a:t>
            </a:r>
            <a:endParaRPr lang="en-US" sz="40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Growth Engine</a:t>
            </a:r>
            <a:endParaRPr lang="en-US" sz="4000" dirty="0">
              <a:latin typeface="Franklin Gothic Medium" panose="020B0603020102020204" pitchFamily="34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SGA Cars Deserves.</a:t>
            </a:r>
            <a:endParaRPr lang="en-US" sz="4000" dirty="0">
              <a:latin typeface="Franklin Gothic Medium" panose="020B0603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3108960" cy="210312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749040"/>
            <a:ext cx="310896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STEP 1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4206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Proposal Review Call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4709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30-min walkthrough with your leadership team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3749040"/>
            <a:ext cx="3108960" cy="2103120"/>
          </a:xfrm>
          <a:prstGeom prst="rect">
            <a:avLst/>
          </a:prstGeom>
          <a:solidFill>
            <a:srgbClr val="1E2A3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3749040"/>
            <a:ext cx="31089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STEP 2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26280" y="4206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Brand Persona Workshop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6280" y="4709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1 session to lock in buyer personas per brand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63840" y="3749040"/>
            <a:ext cx="3108960" cy="210312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162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0" y="3749040"/>
            <a:ext cx="3108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STEP 3</a:t>
            </a:r>
            <a:endParaRPr lang="en-US" sz="1100" dirty="0">
              <a:latin typeface="Franklin Gothic Medium" panose="020B06030201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01000" y="4206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Franklin Gothic Medium" panose="020B0603020102020204" pitchFamily="34" charset="0"/>
              </a:rPr>
              <a:t>Campaign Kickoff</a:t>
            </a:r>
            <a:endParaRPr lang="en-US" sz="1300" dirty="0">
              <a:latin typeface="Franklin Gothic Medium" panose="020B0603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01000" y="4709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Franklin Gothic Medium" panose="020B0603020102020204" pitchFamily="34" charset="0"/>
              </a:rPr>
              <a:t>Phase 1 launches within 7 days of sign-off</a:t>
            </a:r>
            <a:endParaRPr lang="en-US" sz="1000" dirty="0">
              <a:latin typeface="Franklin Gothic Medium" panose="020B06030201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0" y="626364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Franklin Gothic Medium" panose="020B0603020102020204" pitchFamily="34" charset="0"/>
              </a:rPr>
              <a:t> Contact Digifyce Today  |  digifyce.com  |  Coimbatore</a:t>
            </a:r>
            <a:endParaRPr lang="en-US" sz="1200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1483</Words>
  <Application>Microsoft Macintosh PowerPoint</Application>
  <PresentationFormat>Widescreen</PresentationFormat>
  <Paragraphs>290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Franklin Gothic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Ragavendra Kumar</cp:lastModifiedBy>
  <cp:revision>3</cp:revision>
  <dcterms:created xsi:type="dcterms:W3CDTF">2026-05-29T05:42:09Z</dcterms:created>
  <dcterms:modified xsi:type="dcterms:W3CDTF">2026-05-29T05:58:24Z</dcterms:modified>
</cp:coreProperties>
</file>